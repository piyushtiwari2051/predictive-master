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29184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/>
          <a:lstStyle/>
          <a:p>
            <a:pPr>
              <a:spcAft>
                <a:spcPts val="3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   Piyush Tiwari        	Mr. Basudeo Singh Roohani</a:t>
            </a: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   2301430100162		Assistant Professor</a:t>
            </a: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2926080" cy="13716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wrap="square"/>
          <a:lstStyle/>
          <a:p>
            <a:pPr algn="ctr" defTabSz="449580">
              <a:spcBef>
                <a:spcPts val="550"/>
              </a:spcBef>
              <a:spcAft>
                <a:spcPts val="30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 b="1">
                <a:solidFill>
                  <a:srgbClr val="0F172A"/>
                </a:solidFill>
                <a:latin typeface="Calibri"/>
              </a:defRPr>
            </a:pPr>
            <a: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Mr. Basudeo Singh Roohani</a:t>
            </a:r>
          </a:p>
          <a:p>
            <a:pPr>
              <a:spcAft>
                <a:spcPts val="300"/>
              </a:spcAft>
              <a:defRPr sz="1200" b="0">
                <a:solidFill>
                  <a:srgbClr val="334155"/>
                </a:solidFill>
                <a:latin typeface="Calibri"/>
              </a:defRPr>
            </a:pPr>
            <a:r>
              <a:t>Ms. Swati Singh</a:t>
            </a:r>
          </a:p>
          <a:p>
            <a:pPr>
              <a:spcAft>
                <a:spcPts val="300"/>
              </a:spcAft>
              <a:defRPr sz="1100" b="0">
                <a:solidFill>
                  <a:srgbClr val="334155"/>
                </a:solidFill>
                <a:latin typeface="Calibri"/>
              </a:defRPr>
            </a:pPr>
            <a:r>
              <a:t>(Internship Coordinators)</a:t>
            </a: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>
              <a:defRPr sz="1900" b="1">
                <a:solidFill>
                  <a:srgbClr val="0F172A"/>
                </a:solidFill>
                <a:latin typeface="Calibri"/>
              </a:defRPr>
            </a:pPr>
            <a:r>
              <a:t>On Predictive Maintenance for Jet Engines Using Industrial IoT &amp;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84048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1. Introduction &amp; IIoT Scope: </a:t>
            </a:r>
            <a:r>
              <a:rPr sz="1600" b="0">
                <a:solidFill>
                  <a:srgbClr val="334155"/>
                </a:solidFill>
                <a:latin typeface="Calibri"/>
              </a:rPr>
              <a:t>Industrial IoT domain, aviation PHM sensors &amp; project goals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2. Problem Statement: </a:t>
            </a:r>
            <a:r>
              <a:rPr sz="1600" b="0">
                <a:solidFill>
                  <a:srgbClr val="334155"/>
                </a:solidFill>
                <a:latin typeface="Calibri"/>
              </a:rPr>
              <a:t>Challenges in IIoT engine sensor streams &amp; cost limitations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3. Requirement Analysis: </a:t>
            </a:r>
            <a:r>
              <a:rPr sz="1600" b="0">
                <a:solidFill>
                  <a:srgbClr val="334155"/>
                </a:solidFill>
                <a:latin typeface="Calibri"/>
              </a:rPr>
              <a:t>IIoT sensor hardware &amp; Python software stack (Scikit-Learn, SciPy)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4. IIoT Pipeline Methodology: </a:t>
            </a:r>
            <a:r>
              <a:rPr sz="1600" b="0">
                <a:solidFill>
                  <a:srgbClr val="334155"/>
                </a:solidFill>
                <a:latin typeface="Calibri"/>
              </a:rPr>
              <a:t>End-to-end 21-sensor IIoT telemetry ingestion &amp; data flow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5. Sensor Preprocessing: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IIoT statistics &amp; correlation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188720"/>
            <a:ext cx="384048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6. Dataset &amp; Feature Details: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21 IIoT sensor dataset (20,631 cycles)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7. Tri-Model AI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Random Forest, 30d Classifier &amp; Neural MLP Net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8. IIoT Terminal Diagnostic: </a:t>
            </a:r>
            <a:r>
              <a:rPr sz="1600" b="0">
                <a:solidFill>
                  <a:srgbClr val="334155"/>
                </a:solidFill>
                <a:latin typeface="Calibri"/>
              </a:rPr>
              <a:t>Native Python CLI app (predict.py) &amp; real-time gating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9. Results &amp; Performance Analysis: </a:t>
            </a:r>
            <a:r>
              <a:rPr sz="1600" b="0">
                <a:solidFill>
                  <a:srgbClr val="334155"/>
                </a:solidFill>
                <a:latin typeface="Calibri"/>
              </a:rPr>
              <a:t>AUC-ROC (98.45%), RMSE (33.39), &amp; per-model table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10. Conclusion &amp; References: </a:t>
            </a:r>
            <a:r>
              <a:rPr sz="1600" b="0">
                <a:solidFill>
                  <a:srgbClr val="334155"/>
                </a:solidFill>
                <a:latin typeface="Calibri"/>
              </a:rPr>
              <a:t>Summary of achievements, edge IIoT scope &amp;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Domain of Work: </a:t>
            </a:r>
            <a:r>
              <a:rPr sz="1800" b="0">
                <a:solidFill>
                  <a:srgbClr val="334155"/>
                </a:solidFill>
                <a:latin typeface="Calibri"/>
              </a:rPr>
              <a:t>Industrial IoT (IIoT), Reliability Engineering &amp; Aviation Prognostics Health Management.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Industrial Context: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Commercial Aircraft Turbofan Engine Sensor Telemetry &amp; Fleet Operations.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Core Operational Shift: </a:t>
            </a:r>
            <a:r>
              <a:rPr sz="1800" b="0">
                <a:solidFill>
                  <a:srgbClr val="334155"/>
                </a:solidFill>
                <a:latin typeface="Calibri"/>
              </a:rPr>
              <a:t>Transitioning from static time-servicing to IIoT predictive maintenance.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Primary Objective: </a:t>
            </a:r>
            <a:r>
              <a:rPr sz="1800" b="0">
                <a:solidFill>
                  <a:srgbClr val="334155"/>
                </a:solidFill>
                <a:latin typeface="Calibri"/>
              </a:rPr>
              <a:t>Utilize 21 IIoT sensor channels to forecast Remaining Useful Life (RUL) before failure.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Supervision &amp; Mentorship: </a:t>
            </a:r>
            <a:r>
              <a:rPr sz="1800" b="0">
                <a:solidFill>
                  <a:srgbClr val="334155"/>
                </a:solidFill>
                <a:latin typeface="Calibri"/>
              </a:rPr>
              <a:t>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turbofan breakdowns cause expensive flight delays and severe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Static Maintenance Inefficiency: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Replaces functional IIoT turbine parts prematurely or misses breakdown.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IIoT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continuous sensor streams exhibit noisy non-linear thermal degradation.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Multi-Model Solution: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Regression for RUL, Binary 30d Alerts, and Multi-Class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Real-Time IIoT Constraint: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fast sub-30ms inference latency for immediate flight line dispatch.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IIoT Hardware Requirements: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Intel Core i5/i7 Processor, 16GB RAM, SSD Storage &amp; IIoT Data Buffers.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Programming Language: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 (Core IIoT predictive logic, data wrangling &amp; serialization).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Machine Learning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Scikit-Learn 1.3+ (Random Forest, SVM, MLP Neural Classifier).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 &amp; Signal Libraries: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Pandas, NumPy, SciPy for 5-cycle rolling window IIoT aggregations.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Visualization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Matplotlib, Seaborn for publication-grade metric evaluation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657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1 IIoT Ingestion: </a:t>
            </a:r>
            <a:r>
              <a:rPr sz="1500" b="0">
                <a:solidFill>
                  <a:srgbClr val="334155"/>
                </a:solidFill>
                <a:latin typeface="Calibri"/>
              </a:rPr>
              <a:t>NASA C-MAPSS telemetry dataset with 21 sensors &amp; 3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2 Signal Processing: </a:t>
            </a:r>
            <a:r>
              <a:rPr sz="1500" b="0">
                <a:solidFill>
                  <a:srgbClr val="334155"/>
                </a:solidFill>
                <a:latin typeface="Calibri"/>
              </a:rPr>
              <a:t>5-cycle rolling mean &amp; standard deviation aggregations.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3 Filter: </a:t>
            </a:r>
            <a:r>
              <a:rPr sz="1500" b="0">
                <a:solidFill>
                  <a:srgbClr val="334155"/>
                </a:solidFill>
                <a:latin typeface="Calibri"/>
              </a:rPr>
              <a:t>Eliminates redundant sensor pairs with correlation r &gt; 0.80.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4 AI Inference: </a:t>
            </a:r>
            <a:r>
              <a:rPr sz="1500" b="0">
                <a:solidFill>
                  <a:srgbClr val="334155"/>
                </a:solidFill>
                <a:latin typeface="Calibri"/>
              </a:rPr>
              <a:t>Tri-model engine: RUL Regressor, Binary 30d Classifier &amp; Neural MLP.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5 Actionable Report: </a:t>
            </a:r>
            <a:r>
              <a:rPr sz="1500" b="0">
                <a:solidFill>
                  <a:srgbClr val="334155"/>
                </a:solidFill>
                <a:latin typeface="Calibri"/>
              </a:rPr>
              <a:t>Computes health score, cost optimization &amp; IIoT maintenance dispatch.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Rolling Window Aggregations: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Computes 5-cycle rolling mean (av) and rolling std (sd) per IIoT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Signal Noise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Smooths high-frequency IIoT sensor noise to expose true degradation physics.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Multicollinearity Filtering: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Eliminates highly correlated sensor pairs like (s14, s9) with r &gt; 0.80.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Scale &amp; Position Normalization: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StandardScaler normalization ensures robustness across operating settings.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Compact Feature Dimension: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Expands raw IIoT telemetry data into a structured 45-element feature vector.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IIoT Data Provider: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Center of Excellence C-MAPSS Turbofan Sensor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Training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Testing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Target Classification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failure warning window (w1 = 30) and 15-cycle urgent window (w0 = 15).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values, numeric IIoT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RUL Regression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Regressor predicting exact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Binary 30-Cycle Warning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Multi-Class Neural MLP: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Multi-Tier Hazard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Softmax Risk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Neural net produces normalized probability distributions over risk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IIoT Command-Line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 (Evaluates any engine from fleet 1-100).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Diagnostic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Risk Rating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 (Healthy), YELLOW (Warning), and RED (Critical)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Actionable IIoT Recommendation: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Operational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Warning Window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Sub-30ms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Ensures smooth live diagnostic reporting without latency or delay.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Failure Warning AUC-ROC: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(0.9845) AUC-ROC score on test evaluation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Multi-Class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diagnostic computation time under 30ms operating on test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Per-Class Evaluation Methodology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Feature Engineering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Cost Matrix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Neural Network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Maintenance 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Efficiently queues engines based on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Successful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a complete Industrial IoT predictive health management pipeline.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Predictive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IIoT 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Successfully integrated interactive predict.py CLI diagnostic tool.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Native Python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clean 100% Python pipeline &amp; serialized model artifacts.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Fleet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Deep Time-Series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Edge IIoT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model to TensorFlow Lite (TFLite) for deployment on avionics microcontrollers.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Cloud IIoT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REST/MQTT endpoints for real-time IIoT stream data ingestion.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from single-mode steady flights to multi-profile flight regimes.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Mirror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Incorporate synthetic degradation data augmentation for long-tail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NASA Ames Prognostics Center of Excellence - </a:t>
            </a:r>
            <a:r>
              <a:rPr sz="1800" b="0">
                <a:solidFill>
                  <a:srgbClr val="334155"/>
                </a:solidFill>
                <a:latin typeface="Calibri"/>
              </a:rPr>
              <a:t>C-MAPSS Jet Engine Degradation Dataset,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Saxena, A., et al., </a:t>
            </a:r>
            <a:r>
              <a:rPr sz="1800" b="0">
                <a:solidFill>
                  <a:srgbClr val="334155"/>
                </a:solidFill>
                <a:latin typeface="Calibri"/>
              </a:rPr>
              <a:t>'Damage Propagation Modeling for Aircraft Engine Simulation', IEEE, 2008.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Springboard Data Science Career Track - </a:t>
            </a:r>
            <a:r>
              <a:rPr sz="1800" b="0">
                <a:solidFill>
                  <a:srgbClr val="334155"/>
                </a:solidFill>
                <a:latin typeface="Calibri"/>
              </a:rPr>
              <a:t>Bootcamp Curriculum &amp; Mentorship, 2026.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4. Scikit-Learn Open Source Library - </a:t>
            </a:r>
            <a:r>
              <a:rPr sz="1800" b="0">
                <a:solidFill>
                  <a:srgbClr val="334155"/>
                </a:solidFill>
                <a:latin typeface="Calibri"/>
              </a:rPr>
              <a:t>Machine Learning &amp; Neural Network Documentation, 2026.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5. Google Keras 3.3 &amp; TensorFlow 2.17 - </a:t>
            </a:r>
            <a:r>
              <a:rPr sz="1800" b="0">
                <a:solidFill>
                  <a:srgbClr val="334155"/>
                </a:solidFill>
                <a:latin typeface="Calibri"/>
              </a:rPr>
              <a:t>Official Documentation and API Reference, 2026.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6. Microsoft Azure Machine Learning - </a:t>
            </a:r>
            <a:r>
              <a:rPr sz="1800" b="0">
                <a:solidFill>
                  <a:srgbClr val="334155"/>
                </a:solidFill>
                <a:latin typeface="Calibri"/>
              </a:rPr>
              <a:t>Predictive Maintenance Simulation Templates,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2301430100162 | 7th Sem, CSE-1 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