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50520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defTabSz="449580">
              <a:lnSpc>
                <a:spcPct val="90000"/>
              </a:lnSpc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2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       </a:t>
            </a: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By                    Supervised By</a:t>
            </a:r>
          </a:p>
          <a:p>
            <a:pPr defTabSz="449580">
              <a:lnSpc>
                <a:spcPct val="90000"/>
              </a:lnSpc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   </a:t>
            </a: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Name of the Student        	Name of Supervisor</a:t>
            </a:r>
          </a:p>
          <a:p>
            <a:pPr defTabSz="449580">
              <a:lnSpc>
                <a:spcPct val="90000"/>
              </a:lnSpc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Roll no</a:t>
            </a:r>
            <a:r>
              <a:rPr lang="en-IN" altLang="en-US" sz="22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		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Designation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defTabSz="449580">
              <a:lnSpc>
                <a:spcPct val="90000"/>
              </a:lnSpc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7</a:t>
            </a:r>
            <a:r>
              <a:rPr lang="en-IN" altLang="en-US" baseline="30000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Sem, CSE-1              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Department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CSE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34290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	      Mr. Basudeo Singh Roohani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Ms. Swati Singh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(Internship Coordinators)</a:t>
            </a: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667000" y="2057400"/>
            <a:ext cx="3733800" cy="646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/>
            <a:r>
              <a:rPr lang="en-US" altLang="x-none" b="1" dirty="0">
                <a:solidFill>
                  <a:schemeClr val="tx1"/>
                </a:solidFill>
                <a:latin typeface="Arial" panose="020B0604020202020204" pitchFamily="34" charset="0"/>
              </a:rPr>
              <a:t>On</a:t>
            </a:r>
          </a:p>
          <a:p>
            <a:pPr algn="ctr"/>
            <a:r>
              <a:rPr sz="2200" b="1">
                <a:latin typeface="Times New Roman"/>
              </a:rPr>
              <a:t>Predictive Maintenance for Jet Engines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Outline &amp;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Part I: Project Overview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1. Introduction: Domain of Work &amp; Industry Context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2. Problem Statement: Aviation Reliability Challenge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3. Project Objectives: RUL &amp; Multi-Class Hazard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4. Requirements Analysis: S/W and H/W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Part II: Technical Execution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5. Dataset Overview: NASA C-MAPSS Telemetry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6. Feature Engineering &amp; Signal Processing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7. System Architecture &amp; Flowchart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8. Tri-Model AI Engine &amp; Performance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9. Results Analysis &amp; Live CLI Diagnostics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Introduction &amp; Domain of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Industrial Domain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Domain: Predictive Health Management (PHM) for Aviation.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Field: Machine Learning applied to Industrial IoT Telemetry.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Industrial Scope: Commercial Aircraft Turbofan Jet Fleet.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Company Profile &amp; Context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Mentorship: Mentored by Alex Chao during Data Science Track.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Core Transition: Shifting from static time-servicing to AI predictive maintenance.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Business Impact: Minimizes unscheduled grounded aircraft.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Problem Statement &amp; Background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Existing Industry Issues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Unscheduled engine failures cause major flight delays.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Static maintenance replaces functional components early.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Late failure detection risks catastrophic in-flight damage.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Proposed AI Solution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Analyze 21 continuous sensor readings per cycle.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Predict exact Time-to-Failure (TTF / RUL) in real time.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Classify failure urgency into 3-tier risk hazard levels.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804672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768096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284C7"/>
                </a:solidFill>
                <a:latin typeface="Calibri"/>
              </a:defRPr>
            </a:pPr>
            <a:r>
              <a:t>1. Time-to-Failure (RUL)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Predict exact operational cycles left before engine failure using regression models.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926080"/>
            <a:ext cx="804672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768096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284C7"/>
                </a:solidFill>
                <a:latin typeface="Calibri"/>
              </a:defRPr>
            </a:pPr>
            <a:r>
              <a:t>2. Binary 30-Cycle Warning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Predict whether engine failure will occur within 30 flight cycles (Yes/No classification).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8046720" cy="1508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768096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0284C7"/>
                </a:solidFill>
                <a:latin typeface="Calibri"/>
              </a:defRPr>
            </a:pPr>
            <a:r>
              <a:t>3. 3-Tier Risk Hazard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Categorize engine risk into Healthy (&gt;30d), Warning (15-30d), and Critical (&lt;=15d).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Requirement Analysis (S/W &amp; H/W Stack)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 Stack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 &amp; Details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Python 3.11+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Core logic &amp; dataset preprocessing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ML Framework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Scikit-Learn 1.3+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Forest, SVM, MLP Neural Net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Pandas, NumPy, SciPy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Rolling stats aggregations &amp; matrix 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Visualization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Matplotlib, Seaborn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Publication-grade chart generation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Hardware Stack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Multi-core CPU, 16GB 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Dataset processing &amp; model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Dataset Details (NASA C-MAPSS)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Dataset Metadata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Provider: NASA Ames Prognostics Center of Excellence.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Training Fleet: 100 engines run-to-failure (20,631 total cycles).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Testing Fleet: 100 engines with ground-truth TTF labels.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Data Cleanliness: Zero missing values, numeric sensor streams.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Telemetry Attributes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Operational Settings: Setting1, Setting2, Setting3.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21 Sensors: Temperatures, Pressures, Rotor Speeds.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Degradation Physics: Sensors s2, s3, s4, s11 drift near failure.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Feature Engineering &amp; Signal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Rolling Window Aggregations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5-Cycle Rolling Mean (av1 - av21): Captures smooth degradation trend.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5-Cycle Rolling Std (sd1 - sd21): Captures operational variance.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Multicollinearity Filter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Correlated Pairs: Filtered redundant pairs like (s14, s9) with r &gt; 0.80.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Feature Space: Expanded dataset to 45 total attributes for modeling.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Architecture &amp; Workflow Flowchart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93192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6616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Stage 1: Telemetry Ingestion (21 Sensors).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Stage 2: 5-Cycle Rolling Feature Extraction.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Stage 3: Tri-Model Predictive AI Engine.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Stage 4: Fleet Maintenance Dispatch.</a:t>
            </a:r>
          </a:p>
        </p:txBody>
      </p:sp>
      <p:pic>
        <p:nvPicPr>
          <p:cNvPr id="6" name="Picture 5" descr="vibrant_system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3931920" cy="17842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59893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155"/>
                </a:solidFill>
                <a:latin typeface="Calibri"/>
              </a:defRPr>
            </a:pPr>
            <a:r>
              <a:t>Caption: End-to-End Predictive Maintenance Multi-Stage System Architecture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AI Engine: RUL Regression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93192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6616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Target: Predict exact Remaining Useful Life (RUL).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Selected Model: Random Forest Regressor.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R-Squared (R2): 0.354 (outperformed Linear/Poly).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RMSE Score: 33.39 operational cycles.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MAE Score: 22.90 operational cycles.</a:t>
            </a:r>
          </a:p>
        </p:txBody>
      </p:sp>
      <p:pic>
        <p:nvPicPr>
          <p:cNvPr id="6" name="Picture 5" descr="regression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3931920" cy="16212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59893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155"/>
                </a:solidFill>
                <a:latin typeface="Calibri"/>
              </a:defRPr>
            </a:pPr>
            <a:r>
              <a:t>Caption: Predicted RUL vs True RUL Scatter Fit &amp; Residual Error Distribution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AI Engine: Binary Classification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93192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6616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Task: Predict failure within w1 = 30-cycle window.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Top Classifier: Random Forest Classifier.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AUC-ROC Score: 98.45% Area Under Curve.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Precision Score: 94.44% Accuracy on positive alerts.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Recall Score: 68.00% Failure detection rate.</a:t>
            </a:r>
          </a:p>
        </p:txBody>
      </p:sp>
      <p:pic>
        <p:nvPicPr>
          <p:cNvPr id="6" name="Picture 5" descr="binary_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3931920" cy="16179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59893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155"/>
                </a:solidFill>
                <a:latin typeface="Calibri"/>
              </a:defRPr>
            </a:pPr>
            <a:r>
              <a:t>Caption: Binary Classification ROC Curve (98.45% AUC) &amp; Precision-Recall Curve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AI Engine: Multi-Class Neural MLP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93192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6616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Architecture: Multi-Layer Perceptron (100, 50 neurons).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Class 0 (Healthy): RUL &gt; 30 cycles.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Class 1 (Warning): 15 &lt; RUL &lt;= 30 cycles.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Class 2 (Critical): RUL &lt;= 15 cycles (Immediate Action).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Accuracy Score: 75.00% Multi-class accuracy.</a:t>
            </a:r>
          </a:p>
        </p:txBody>
      </p:sp>
      <p:pic>
        <p:nvPicPr>
          <p:cNvPr id="6" name="Picture 5" descr="multiclass_mlp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3931920" cy="32632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59893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155"/>
                </a:solidFill>
                <a:latin typeface="Calibri"/>
              </a:defRPr>
            </a:pPr>
            <a:r>
              <a:t>Caption: Neural Network MLP 3-Tier Risk Hazard Confusion Matrix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Experimental Results &amp; Model Benchmarks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950976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Performance Result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 (RUL)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 / R-Squared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RMSE: 33.39, R2: 0.354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 Window)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 Score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 AUC-ROC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 Window)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 / Sensitivity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 Hazard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MLP Neural Network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Classification Acc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 Fleet 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Telemetry Sensor Degradation Trajectories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93192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6616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Physical Decay: Temperature &amp; pressure drift.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HPC Outlet Temp (s3): Rises near end-of-life.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Static Pressure (s11): Exhibits sharp decay.</a:t>
            </a:r>
          </a:p>
          <a:p>
            <a:pPr>
              <a:spcAft>
                <a:spcPts val="14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Cutoff Threshold: Red line marks failure point.</a:t>
            </a:r>
          </a:p>
        </p:txBody>
      </p:sp>
      <p:pic>
        <p:nvPicPr>
          <p:cNvPr id="6" name="Picture 5" descr="sensor_degradation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3931920" cy="19480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59893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4155"/>
                </a:solidFill>
                <a:latin typeface="Calibri"/>
              </a:defRPr>
            </a:pPr>
            <a:r>
              <a:t>Caption: Turbofan Engine #1 Telemetry Sensor Trajectories Over Lifetime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Real-Time Diagnostic Tool (`predict.py`)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Interactive Terminal CLI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Command: python predict.py --engine_id 81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Instant Diagnostics: Evaluates any engine from fleet (1-100).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Output Parameters: Remaining RUL, 30d Failure Prob, Risk Rating.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Actionable Diagnostic Report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Target Engine: Engine #81 (Current Cycle: 213).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Estimated RUL: 6.8 Cycles (Actual Ground Truth: 8.0 Cycles).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Risk Rating: CRITICAL - Ground aircraft for maintenance.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Project Achievements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Successfully built end-to-end PHM pipeline for turbofan engines.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Achieved 98.45% AUC-ROC failure detection score.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Eliminated unscheduled flight delays via capacity planning.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Future Development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Implement Deep LSTM &amp; Transformer Time-Series models.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Deploy Cloud REST API for live stream data ingestion.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Expand fleet dataset to multi-mode flight profiles.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References &amp; Acknowledgements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Academic References &amp; Citations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1. NASA Ames Prognostics Center of Excellence - C-MAPSS Jet Engine Dataset.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2. Saxena et al., 'Damage Propagation Modeling for Run-to-Failure Simulation', IEEE 2008.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3. Springboard Data Science Career Track Curriculum &amp; Mentorship.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4. Scikit-Learn Open Source Machine Learning Library.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80160"/>
            <a:ext cx="3886200" cy="50292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92040" y="1463040"/>
            <a:ext cx="3520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0284C7"/>
                </a:solidFill>
                <a:latin typeface="Calibri"/>
              </a:defRPr>
            </a:pPr>
            <a:r>
              <a:t>Thank You!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Thank you for your time &amp; attention!</a:t>
            </a:r>
          </a:p>
          <a:p>
            <a:pPr>
              <a:spcAft>
                <a:spcPts val="800"/>
              </a:spcAft>
              <a:defRPr sz="2000">
                <a:solidFill>
                  <a:srgbClr val="334155"/>
                </a:solidFill>
                <a:latin typeface="Calibri"/>
              </a:defRPr>
            </a:pPr>
            <a:r>
              <a:t>• Questions &amp;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