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73" r:id="rId2"/>
    <p:sldId id="274" r:id="rId8"/>
    <p:sldId id="275" r:id="rId9"/>
    <p:sldId id="276" r:id="rId7"/>
    <p:sldId id="277" r:id="rId6"/>
    <p:sldId id="278" r:id="rId5"/>
    <p:sldId id="279" r:id="rId4"/>
    <p:sldId id="280" r:id="rId3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  <p:sldId id="290" r:id="rId24"/>
  </p:sldIdLst>
  <p:sldSz cx="9144000" cy="6858000" type="screen4x3"/>
  <p:notesSz cx="6858000" cy="9144000"/>
  <p:defaultTextStyle>
    <a:defPPr>
      <a:defRPr lang="en-GB"/>
    </a:defPPr>
    <a:lvl1pPr marL="0" lvl="0" indent="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742950" lvl="1" indent="-28575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1143000" lvl="2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1600200" lvl="3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2057400" lvl="4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5pPr>
    <a:lvl6pPr marL="2286000" lvl="5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6pPr>
    <a:lvl7pPr marL="2743200" lvl="6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7pPr>
    <a:lvl8pPr marL="3200400" lvl="7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8pPr>
    <a:lvl9pPr marL="3657600" lvl="8" indent="-228600" algn="l" defTabSz="449580" rtl="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bg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2FDB2607-1784-4EEB-B798-7EB5836EED8A}">
        <p14:showMediaCtrls xmlns:p14="http://schemas.microsoft.com/office/powerpoint/2010/main" xmlns="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howGuides="1">
      <p:cViewPr>
        <p:scale>
          <a:sx n="100" d="100"/>
          <a:sy n="100" d="100"/>
        </p:scale>
        <p:origin x="-516" y="498"/>
      </p:cViewPr>
      <p:guideLst>
        <p:guide orient="horz" pos="2160"/>
        <p:guide pos="2880"/>
      </p:guideLst>
    </p:cSldViewPr>
  </p:slideViewPr>
  <p:outlineViewPr>
    <p:cViewPr varScale="1">
      <p:scale>
        <a:sx n="170" d="200"/>
        <a:sy n="170" d="200"/>
      </p:scale>
      <p:origin x="-780" y="-84"/>
    </p:cViewPr>
  </p:outlin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AutoShape 1"/>
          <p:cNvSpPr>
            <a:spLocks noChangeArrowheads="1"/>
          </p:cNvSpPr>
          <p:nvPr/>
        </p:nvSpPr>
        <p:spPr bwMode="auto">
          <a:xfrm>
            <a:off x="0" y="0"/>
            <a:ext cx="6858000" cy="9144000"/>
          </a:xfrm>
          <a:prstGeom prst="roundRect">
            <a:avLst>
              <a:gd name="adj" fmla="val 23"/>
            </a:avLst>
          </a:prstGeom>
          <a:solidFill>
            <a:srgbClr val="FFFFFF"/>
          </a:solidFill>
          <a:ln w="9525">
            <a:noFill/>
            <a:round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2051" name="Text Box 2"/>
          <p:cNvSpPr txBox="1">
            <a:spLocks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3884613" y="0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zh-CN" sz="1200" dirty="0">
              <a:solidFill>
                <a:srgbClr val="000000"/>
              </a:solidFill>
              <a:latin typeface="Calibri" panose="020F0502020204030204" pitchFamily="34" charset="0"/>
              <a:ea typeface="SimSun" panose="02010600030101010101" pitchFamily="2" charset="-122"/>
            </a:endParaRPr>
          </a:p>
        </p:txBody>
      </p:sp>
      <p:sp>
        <p:nvSpPr>
          <p:cNvPr id="5125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0413" cy="3427413"/>
          </a:xfrm>
          <a:prstGeom prst="rect">
            <a:avLst/>
          </a:prstGeom>
          <a:noFill/>
          <a:ln w="12600" cap="sq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/>
          </p:nvPr>
        </p:nvSpPr>
        <p:spPr bwMode="auto">
          <a:xfrm>
            <a:off x="685800" y="4343400"/>
            <a:ext cx="5484813" cy="41132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t" anchorCtr="0" compatLnSpc="1"/>
          <a:lstStyle/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2055" name="Text Box 6"/>
          <p:cNvSpPr txBox="1">
            <a:spLocks noChangeArrowheads="1"/>
          </p:cNvSpPr>
          <p:nvPr/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/>
          </p:nvPr>
        </p:nvSpPr>
        <p:spPr bwMode="auto">
          <a:xfrm>
            <a:off x="3884613" y="8685213"/>
            <a:ext cx="2970213" cy="455613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b" anchorCtr="0" compatLnSpc="1"/>
          <a:lstStyle/>
          <a:p>
            <a:pPr lvl="0" algn="r" defTabSz="449580" eaLnBrk="1" hangingPunct="1"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sz="1200" dirty="0">
                <a:solidFill>
                  <a:srgbClr val="000000"/>
                </a:solidFill>
                <a:latin typeface="Calibri" panose="020F0502020204030204" pitchFamily="34" charset="0"/>
              </a:rPr>
              <a:pPr lvl="0" algn="r" defTabSz="449580" eaLnBrk="1" hangingPunct="1">
                <a:buNone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‹#›</a:t>
            </a:fld>
            <a:endParaRPr lang="en-US" alt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1pPr>
    <a:lvl2pPr marL="742950" indent="-28575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2pPr>
    <a:lvl3pPr marL="11430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3pPr>
    <a:lvl4pPr marL="16002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4pPr>
    <a:lvl5pPr marL="2057400" indent="-228600" algn="l" defTabSz="449580" rtl="0" eaLnBrk="0" fontAlgn="base" hangingPunct="0">
      <a:spcBef>
        <a:spcPct val="30000"/>
      </a:spcBef>
      <a:spcAft>
        <a:spcPct val="0"/>
      </a:spcAft>
      <a:buSzPct val="100000"/>
      <a:buFont typeface="Times New Roman" panose="02020603050405020304" pitchFamily="18" charset="0"/>
      <a:defRPr sz="1200" kern="1200">
        <a:solidFill>
          <a:srgbClr val="0000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0212" cy="4556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  <p:sp>
        <p:nvSpPr>
          <p:cNvPr id="6147" name="Rectangle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FFFFFF">
              <a:alpha val="100000"/>
            </a:srgbClr>
          </a:solidFill>
        </p:spPr>
      </p:sp>
      <p:sp>
        <p:nvSpPr>
          <p:cNvPr id="6148" name="Text Box 2"/>
          <p:cNvSpPr txBox="1"/>
          <p:nvPr/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</a:ln>
        </p:spPr>
        <p:txBody>
          <a:bodyPr wrap="none" anchor="ctr" anchorCtr="0"/>
          <a:lstStyle/>
          <a:p>
            <a:pPr lvl="0" eaLnBrk="1" hangingPunct="1">
              <a:buFont typeface="Times New Roman" panose="02020603050405020304" pitchFamily="18" charset="0"/>
            </a:pPr>
            <a:endParaRPr lang="en-US" altLang="en-US" dirty="0"/>
          </a:p>
        </p:txBody>
      </p:sp>
      <p:sp>
        <p:nvSpPr>
          <p:cNvPr id="6149" name="Text Box 3"/>
          <p:cNvSpPr txBox="1"/>
          <p:nvPr/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b" anchorCtr="0"/>
          <a:lstStyle/>
          <a:p>
            <a:pPr lvl="0" algn="r" defTabSz="449580" eaLnBrk="1" hangingPunct="1">
              <a:buChar char="•"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US" altLang="en-US" dirty="0">
                <a:latin typeface="Calibri" panose="020F0502020204030204" pitchFamily="34" charset="0"/>
              </a:rPr>
              <a:pPr lvl="0" algn="r" defTabSz="449580" eaLnBrk="1" hangingPunct="1">
                <a:buChar char="•"/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US" altLang="en-US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noProof="1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7013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6613" y="1600200"/>
            <a:ext cx="4038600" cy="45243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noProof="1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vert="horz" wrap="square" lIns="90000" tIns="46800" rIns="90000" bIns="4680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449580" rtl="0" eaLnBrk="0" fontAlgn="base" latinLnBrk="0" hangingPunct="0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Pct val="100000"/>
              <a:buFont typeface="Times New Roman" panose="02020603050405020304" pitchFamily="18" charset="0"/>
              <a:buNone/>
              <a:defRPr/>
            </a:pPr>
            <a:endParaRPr kumimoji="0" lang="en-US" sz="3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1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5813" cy="5849937"/>
          </a:xfrm>
        </p:spPr>
        <p:txBody>
          <a:bodyPr vert="eaVert"/>
          <a:lstStyle/>
          <a:p>
            <a:r>
              <a:rPr lang="en-US" noProof="1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49937"/>
          </a:xfrm>
        </p:spPr>
        <p:txBody>
          <a:bodyPr vert="eaVert"/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11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8013" cy="1141412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lvl="0"/>
            <a:r>
              <a:rPr lang="en-GB" altLang="en-US" dirty="0"/>
              <a:t>Click to edit the title text format</a:t>
            </a:r>
          </a:p>
        </p:txBody>
      </p:sp>
      <p:sp>
        <p:nvSpPr>
          <p:cNvPr id="1027" name="Rectangle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013" cy="452437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lvl="0"/>
            <a:r>
              <a:rPr lang="en-GB" altLang="en-US" dirty="0"/>
              <a:t>Click to edit the outline text format</a:t>
            </a:r>
          </a:p>
          <a:p>
            <a:pPr lvl="1"/>
            <a:r>
              <a:rPr lang="en-GB" altLang="en-US" dirty="0"/>
              <a:t>Second Outline Level</a:t>
            </a:r>
          </a:p>
          <a:p>
            <a:pPr lvl="2"/>
            <a:r>
              <a:rPr lang="en-GB" altLang="en-US" dirty="0"/>
              <a:t>Third Outline Level</a:t>
            </a:r>
          </a:p>
          <a:p>
            <a:pPr lvl="3"/>
            <a:r>
              <a:rPr lang="en-GB" altLang="en-US" dirty="0"/>
              <a:t>Fourth Outline Level</a:t>
            </a:r>
          </a:p>
          <a:p>
            <a:pPr lvl="4"/>
            <a:r>
              <a:rPr lang="en-GB" altLang="en-US" dirty="0"/>
              <a:t>Fifth Outline Level</a:t>
            </a:r>
          </a:p>
          <a:p>
            <a:pPr lvl="4"/>
            <a:r>
              <a:rPr lang="en-GB" altLang="en-US" dirty="0"/>
              <a:t>Sixth Outline Level</a:t>
            </a:r>
          </a:p>
          <a:p>
            <a:pPr lvl="4"/>
            <a:r>
              <a:rPr lang="en-GB" altLang="en-US" dirty="0"/>
              <a:t>Seventh Outline Level</a:t>
            </a:r>
          </a:p>
        </p:txBody>
      </p:sp>
      <p:sp>
        <p:nvSpPr>
          <p:cNvPr id="2" name="Rectangle 3"/>
          <p:cNvSpPr>
            <a:spLocks noGrp="1" noChangeArrowheads="1"/>
          </p:cNvSpPr>
          <p:nvPr>
            <p:ph type="dt"/>
          </p:nvPr>
        </p:nvSpPr>
        <p:spPr bwMode="auto">
          <a:xfrm>
            <a:off x="457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 defTabSz="449580" eaLnBrk="1" hangingPunct="1"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solidFill>
                  <a:srgbClr val="0000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01/20/18</a:t>
            </a:r>
          </a:p>
        </p:txBody>
      </p:sp>
      <p:sp>
        <p:nvSpPr>
          <p:cNvPr id="1029" name="Text Box 4"/>
          <p:cNvSpPr txBox="1">
            <a:spLocks noChangeArrowheads="1"/>
          </p:cNvSpPr>
          <p:nvPr/>
        </p:nvSpPr>
        <p:spPr bwMode="auto">
          <a:xfrm>
            <a:off x="3124200" y="6356350"/>
            <a:ext cx="2895600" cy="365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/>
          <a:lstStyle/>
          <a:p>
            <a:pPr marL="0" marR="0" lvl="0" indent="0" algn="l" defTabSz="4495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Times New Roman" panose="02020603050405020304" pitchFamily="18" charset="0"/>
              <a:buNone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Noto Sans CJK SC Regular" charset="0"/>
              <a:cs typeface="Arial" panose="020B0604020202020204" pitchFamily="34" charset="0"/>
            </a:endParaRP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/>
          </p:nvPr>
        </p:nvSpPr>
        <p:spPr bwMode="auto">
          <a:xfrm>
            <a:off x="6553200" y="6356350"/>
            <a:ext cx="2132013" cy="363538"/>
          </a:xfrm>
          <a:prstGeom prst="rect">
            <a:avLst/>
          </a:prstGeom>
          <a:noFill/>
          <a:ln w="9525" cap="flat">
            <a:noFill/>
            <a:round/>
          </a:ln>
          <a:effectLst/>
        </p:spPr>
        <p:txBody>
          <a:bodyPr vert="horz" wrap="square" lIns="90000" tIns="46800" rIns="90000" bIns="46800" numCol="1" anchor="ctr" anchorCtr="0" compatLnSpc="1"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 eaLnBrk="1" hangingPunct="1">
              <a:buNone/>
            </a:pPr>
            <a:fld id="{9A0DB2DC-4C9A-4742-B13C-FB6460FD3503}" type="slidenum">
              <a:rPr lang="en-IN" altLang="en-US" dirty="0">
                <a:latin typeface="Arial" panose="020B0604020202020204" pitchFamily="34" charset="0"/>
              </a:rPr>
              <a:pPr lvl="0" eaLnBrk="1" hangingPunct="1">
                <a:buNone/>
              </a:pPr>
              <a:t>‹#›</a:t>
            </a:fld>
            <a:endParaRPr lang="en-IN" altLang="en-US" dirty="0">
              <a:latin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/>
  <p:txStyles>
    <p:titleStyle>
      <a:lvl1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+mj-lt"/>
          <a:ea typeface="+mj-ea"/>
          <a:cs typeface="+mj-cs"/>
        </a:defRPr>
      </a:lvl1pPr>
      <a:lvl2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2pPr>
      <a:lvl3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3pPr>
      <a:lvl4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4pPr>
      <a:lvl5pPr algn="ctr" defTabSz="449580" rtl="0" eaLnBrk="0" fontAlgn="base" hangingPunct="0">
        <a:spcBef>
          <a:spcPct val="0"/>
        </a:spcBef>
        <a:spcAft>
          <a:spcPct val="0"/>
        </a:spcAft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5pPr>
      <a:lvl6pPr marL="25146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6pPr>
      <a:lvl7pPr marL="29718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7pPr>
      <a:lvl8pPr marL="34290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8pPr>
      <a:lvl9pPr marL="3886200" indent="-228600" algn="ctr" defTabSz="449580" rtl="0" eaLnBrk="0" fontAlgn="base" hangingPunct="0"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400">
          <a:solidFill>
            <a:srgbClr val="000000"/>
          </a:solidFill>
          <a:latin typeface="Calibri" panose="020F0502020204030204" pitchFamily="34" charset="0"/>
          <a:ea typeface="Noto Sans CJK SC Regular" charset="0"/>
          <a:cs typeface="Noto Sans CJK SC Regular" charset="0"/>
        </a:defRPr>
      </a:lvl9pPr>
    </p:titleStyle>
    <p:bodyStyle>
      <a:lvl1pPr marL="342900" indent="-342900" algn="l" defTabSz="449580" rtl="0" eaLnBrk="0" fontAlgn="base" hangingPunct="0">
        <a:spcBef>
          <a:spcPts val="8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3200">
          <a:solidFill>
            <a:srgbClr val="000000"/>
          </a:solidFill>
          <a:latin typeface="+mn-lt"/>
          <a:ea typeface="+mn-ea"/>
          <a:cs typeface="+mn-cs"/>
        </a:defRPr>
      </a:lvl1pPr>
      <a:lvl2pPr marL="742950" indent="-285750" algn="l" defTabSz="449580" rtl="0" eaLnBrk="0" fontAlgn="base" hangingPunct="0">
        <a:spcBef>
          <a:spcPts val="7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800">
          <a:solidFill>
            <a:srgbClr val="000000"/>
          </a:solidFill>
          <a:latin typeface="+mn-lt"/>
          <a:ea typeface="+mn-ea"/>
          <a:cs typeface="+mn-cs"/>
        </a:defRPr>
      </a:lvl2pPr>
      <a:lvl3pPr marL="1143000" indent="-228600" algn="l" defTabSz="449580" rtl="0" eaLnBrk="0" fontAlgn="base" hangingPunct="0">
        <a:spcBef>
          <a:spcPts val="600"/>
        </a:spcBef>
        <a:spcAft>
          <a:spcPct val="0"/>
        </a:spcAft>
        <a:buSzPct val="100000"/>
        <a:buFont typeface="Times New Roman" panose="02020603050405020304" pitchFamily="18" charset="0"/>
        <a:buChar char="•"/>
        <a:defRPr sz="2400">
          <a:solidFill>
            <a:srgbClr val="000000"/>
          </a:solidFill>
          <a:latin typeface="+mn-lt"/>
          <a:ea typeface="+mn-ea"/>
          <a:cs typeface="+mn-cs"/>
        </a:defRPr>
      </a:lvl3pPr>
      <a:lvl4pPr marL="16002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–"/>
        <a:defRPr sz="2000">
          <a:solidFill>
            <a:srgbClr val="000000"/>
          </a:solidFill>
          <a:latin typeface="+mn-lt"/>
          <a:ea typeface="+mn-ea"/>
          <a:cs typeface="+mn-cs"/>
        </a:defRPr>
      </a:lvl4pPr>
      <a:lvl5pPr marL="2057400" indent="-228600" algn="l" defTabSz="449580" rtl="0" eaLnBrk="0" fontAlgn="base" hangingPunct="0">
        <a:spcBef>
          <a:spcPts val="500"/>
        </a:spcBef>
        <a:spcAft>
          <a:spcPct val="0"/>
        </a:spcAft>
        <a:buSzPct val="100000"/>
        <a:buFont typeface="Times New Roman" panose="02020603050405020304" pitchFamily="18" charset="0"/>
        <a:buChar char="»"/>
        <a:defRPr sz="2000">
          <a:solidFill>
            <a:srgbClr val="000000"/>
          </a:solidFill>
          <a:latin typeface="+mn-lt"/>
          <a:ea typeface="+mn-ea"/>
          <a:cs typeface="+mn-cs"/>
        </a:defRPr>
      </a:lvl5pPr>
      <a:lvl6pPr marL="25146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6pPr>
      <a:lvl7pPr marL="29718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7pPr>
      <a:lvl8pPr marL="34290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8pPr>
      <a:lvl9pPr marL="3886200" indent="-228600" algn="l" defTabSz="449580" rtl="0" eaLnBrk="0" fontAlgn="base" hangingPunct="0">
        <a:spcBef>
          <a:spcPts val="50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0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1"/>
          <p:cNvSpPr txBox="1"/>
          <p:nvPr/>
        </p:nvSpPr>
        <p:spPr>
          <a:xfrm>
            <a:off x="228600" y="304800"/>
            <a:ext cx="8610600" cy="1066800"/>
          </a:xfrm>
          <a:prstGeom prst="rect">
            <a:avLst/>
          </a:prstGeom>
          <a:noFill/>
          <a:ln w="9525">
            <a:noFill/>
          </a:ln>
        </p:spPr>
        <p:txBody>
          <a:bodyPr anchor="ctr" anchorCtr="0"/>
          <a:lstStyle/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   </a:t>
            </a: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Assessment </a:t>
            </a:r>
          </a:p>
          <a:p>
            <a:pPr algn="ct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sz="32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(Summer Internship</a:t>
            </a:r>
            <a:r>
              <a:rPr lang="en-IN" altLang="en-US" sz="3200" b="1" dirty="0">
                <a:solidFill>
                  <a:srgbClr val="000000"/>
                </a:solidFill>
                <a:latin typeface="Calibri" panose="020F0502020204030204" pitchFamily="34" charset="0"/>
              </a:rPr>
              <a:t>)</a:t>
            </a:r>
          </a:p>
        </p:txBody>
      </p:sp>
      <p:sp>
        <p:nvSpPr>
          <p:cNvPr id="2051" name="Text Box 2"/>
          <p:cNvSpPr txBox="1"/>
          <p:nvPr/>
        </p:nvSpPr>
        <p:spPr>
          <a:xfrm>
            <a:off x="3505200" y="3429000"/>
            <a:ext cx="5486400" cy="1371600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    Submitted By                    Supervised By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Piyush Tiwari        	Name of Supervisor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2100270100000		Designation</a:t>
            </a:r>
          </a:p>
          <a:p>
            <a:pPr>
              <a:defRPr sz="1400">
                <a:solidFill>
                  <a:srgbClr val="0F172A"/>
                </a:solidFill>
                <a:latin typeface="Calibri"/>
              </a:defRPr>
            </a:pPr>
            <a:r>
              <a:t>   7th Sem, CSE-1                     Department: CSE</a:t>
            </a:r>
          </a:p>
        </p:txBody>
      </p:sp>
      <p:sp>
        <p:nvSpPr>
          <p:cNvPr id="2052" name="Text Box 3"/>
          <p:cNvSpPr txBox="1"/>
          <p:nvPr/>
        </p:nvSpPr>
        <p:spPr>
          <a:xfrm>
            <a:off x="228600" y="3429000"/>
            <a:ext cx="34290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b="1" dirty="0">
                <a:solidFill>
                  <a:srgbClr val="000000"/>
                </a:solidFill>
                <a:latin typeface="Times New Roman" panose="02020603050405020304" pitchFamily="18" charset="0"/>
              </a:rPr>
              <a:t>Submitted To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	      Mr. Basudeo Singh Roohani</a:t>
            </a: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</a:t>
            </a:r>
            <a:r>
              <a:rPr lang="en-IN" altLang="en-US" dirty="0" smtClean="0">
                <a:solidFill>
                  <a:srgbClr val="000000"/>
                </a:solidFill>
                <a:latin typeface="Times New Roman" panose="02020603050405020304" pitchFamily="18" charset="0"/>
              </a:rPr>
              <a:t>Ms. Swati Singh</a:t>
            </a:r>
            <a:endParaRPr lang="en-IN" altLang="en-US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just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IN" altLang="en-US" dirty="0">
                <a:solidFill>
                  <a:srgbClr val="000000"/>
                </a:solidFill>
                <a:latin typeface="Times New Roman" panose="02020603050405020304" pitchFamily="18" charset="0"/>
              </a:rPr>
              <a:t>      (Internship Coordinators)</a:t>
            </a: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algn="ctr" defTabSz="449580">
              <a:spcBef>
                <a:spcPts val="55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endParaRPr lang="en-US" altLang="en-US" sz="2200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3" name="Text Box 4"/>
          <p:cNvSpPr txBox="1"/>
          <p:nvPr/>
        </p:nvSpPr>
        <p:spPr>
          <a:xfrm>
            <a:off x="609600" y="5334000"/>
            <a:ext cx="7772400" cy="1295400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/>
          <a:lstStyle/>
          <a:p>
            <a:pPr algn="ctr" defTabSz="449580">
              <a:lnSpc>
                <a:spcPct val="90000"/>
              </a:lnSpc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Department of Computer Science &amp; Engineering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</a:rPr>
              <a:t>IMS Engineering College, Ghaziabad, India</a:t>
            </a:r>
          </a:p>
          <a:p>
            <a:pPr algn="ctr" defTabSz="449580">
              <a:lnSpc>
                <a:spcPct val="90000"/>
              </a:lnSpc>
              <a:spcBef>
                <a:spcPts val="600"/>
              </a:spcBef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en-US" sz="24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en-US" sz="2400" b="1" dirty="0" smtClean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2026-27)</a:t>
            </a:r>
            <a:endParaRPr lang="en-US" altLang="en-US" sz="2400" b="1" dirty="0">
              <a:solidFill>
                <a:srgbClr val="000000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4" name="Text Box 6"/>
          <p:cNvSpPr txBox="1"/>
          <p:nvPr/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 w="9525">
            <a:noFill/>
          </a:ln>
        </p:spPr>
        <p:txBody>
          <a:bodyPr lIns="90000" tIns="46800" rIns="90000" bIns="46800" anchor="ctr" anchorCtr="0"/>
          <a:lstStyle/>
          <a:p>
            <a:pPr algn="r" defTabSz="449580"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fld id="{9A0DB2DC-4C9A-4742-B13C-FB6460FD3503}" type="slidenum">
              <a:rPr lang="en-IN" altLang="en-US" sz="1200" dirty="0">
                <a:solidFill>
                  <a:srgbClr val="898989"/>
                </a:solidFill>
                <a:latin typeface="Arial" panose="020B0604020202020204" pitchFamily="34" charset="0"/>
              </a:rPr>
              <a:pPr algn="r" defTabSz="449580">
                <a:tabLst>
                  <a:tab pos="0" algn="l"/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</a:pPr>
              <a:t>1</a:t>
            </a:fld>
            <a:endParaRPr lang="en-IN" altLang="en-US" sz="1200" dirty="0">
              <a:solidFill>
                <a:srgbClr val="898989"/>
              </a:solidFill>
              <a:latin typeface="Arial" panose="020B0604020202020204" pitchFamily="34" charset="0"/>
            </a:endParaRPr>
          </a:p>
        </p:txBody>
      </p:sp>
      <p:pic>
        <p:nvPicPr>
          <p:cNvPr id="2055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675" y="152400"/>
            <a:ext cx="1795463" cy="1846263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056" name="TextBox 1"/>
          <p:cNvSpPr txBox="1"/>
          <p:nvPr/>
        </p:nvSpPr>
        <p:spPr>
          <a:xfrm>
            <a:off x="3238500" y="1143000"/>
            <a:ext cx="2667000" cy="738188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/>
          <a:p>
            <a:pPr algn="ctr" eaLnBrk="0" hangingPunct="0"/>
            <a:r>
              <a:rPr lang="en-IN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pPr algn="ctr" eaLnBrk="0" hangingPunct="0"/>
            <a:r>
              <a:rPr lang="en-IN" altLang="en-US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endParaRPr lang="en-IN" altLang="en-US" sz="2400" b="1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057" name="TextBox 8"/>
          <p:cNvSpPr txBox="1"/>
          <p:nvPr/>
        </p:nvSpPr>
        <p:spPr>
          <a:xfrm>
            <a:off x="2286000" y="1691640"/>
            <a:ext cx="4389120" cy="822960"/>
          </a:xfrm>
          <a:prstGeom prst="rect">
            <a:avLst/>
          </a:prstGeom>
          <a:noFill/>
          <a:ln w="9525">
            <a:noFill/>
          </a:ln>
        </p:spPr>
        <p:txBody>
          <a:bodyPr wrap="square" tIns="0" bIns="0" lIns="0" rIns="0">
            <a:spAutoFit/>
          </a:bodyPr>
          <a:lstStyle/>
          <a:p>
            <a:pPr algn="ctr"/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  <a:p>
            <a:pPr algn="ctr">
              <a:defRPr sz="2200" b="1">
                <a:solidFill>
                  <a:srgbClr val="FF0000"/>
                </a:solidFill>
                <a:latin typeface="Calibri"/>
              </a:defRPr>
            </a:pPr>
            <a:r>
              <a:rPr sz="2000" b="1">
                <a:solidFill>
                  <a:srgbClr val="0F172A"/>
                </a:solidFill>
                <a:latin typeface="Calibri"/>
              </a:rPr>
              <a:t>On Predictive Maintenance for Jet Engines Using Machine Learning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Agenda &amp; 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600" b="1">
                <a:solidFill>
                  <a:srgbClr val="2563EB"/>
                </a:solidFill>
                <a:latin typeface="Calibri"/>
              </a:rPr>
              <a:t>• 1. Executive Problem Statement: </a:t>
            </a:r>
            <a:r>
              <a:rPr sz="1600" b="0">
                <a:solidFill>
                  <a:srgbClr val="334155"/>
                </a:solidFill>
                <a:latin typeface="Calibri"/>
              </a:rPr>
              <a:t>High cost of unscheduled aircraft groundings &amp; turbofan engine failures.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2. Project Objectives: </a:t>
            </a:r>
            <a:r>
              <a:rPr sz="1600" b="0">
                <a:solidFill>
                  <a:srgbClr val="334155"/>
                </a:solidFill>
                <a:latin typeface="Calibri"/>
              </a:rPr>
              <a:t>Deliver tri-model AI engine predicting RUL, 30d alerts, and 3-tier hazard ratings.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3. Technology Stack &amp; Frameworks: </a:t>
            </a:r>
            <a:r>
              <a:rPr sz="1600" b="0">
                <a:solidFill>
                  <a:srgbClr val="334155"/>
                </a:solidFill>
                <a:latin typeface="Calibri"/>
              </a:rPr>
              <a:t>Python 3.11, Scikit-Learn 1.3+, Pandas, NumPy, and CLI diagnostic engine.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4. Data Methodology &amp; Flowchart: </a:t>
            </a:r>
            <a:r>
              <a:rPr sz="1600" b="0">
                <a:solidFill>
                  <a:srgbClr val="334155"/>
                </a:solidFill>
                <a:latin typeface="Calibri"/>
              </a:rPr>
              <a:t>NASA C-MAPSS 21-sensor ingestion, 5-cycle rolling stats, and correlation filters.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5. Tri-Model Predictive AI Architecture: </a:t>
            </a:r>
            <a:r>
              <a:rPr sz="1600" b="0">
                <a:solidFill>
                  <a:srgbClr val="334155"/>
                </a:solidFill>
                <a:latin typeface="Calibri"/>
              </a:rPr>
              <a:t>Random Forest Regressor, 30d Warning Classifier &amp; Neural MLP Network.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6. Empirical Benchmark Results: </a:t>
            </a:r>
            <a:r>
              <a:rPr sz="1600" b="0">
                <a:solidFill>
                  <a:srgbClr val="334155"/>
                </a:solidFill>
                <a:latin typeface="Calibri"/>
              </a:rPr>
              <a:t>98.45% AUC-ROC failure alert accuracy and 33.39 cycles RUL RMSE.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7. Deployment &amp; Real-World ROI: </a:t>
            </a:r>
            <a:r>
              <a:rPr sz="1600" b="0">
                <a:solidFill>
                  <a:srgbClr val="334155"/>
                </a:solidFill>
                <a:latin typeface="Calibri"/>
              </a:rPr>
              <a:t>Interactive predict.py diagnostic tool, cost matrix reduction &amp; future roadmap.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Problem Statement &amp;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Unscheduled Aircraft Groundings: </a:t>
            </a:r>
            <a:r>
              <a:rPr sz="1800" b="0">
                <a:solidFill>
                  <a:srgbClr val="334155"/>
                </a:solidFill>
                <a:latin typeface="Calibri"/>
              </a:rPr>
              <a:t>Sudden turbofan breakdowns cause severe flight cancellations &amp; passenger delays.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High Industry Cost: </a:t>
            </a:r>
            <a:r>
              <a:rPr sz="1800" b="0">
                <a:solidFill>
                  <a:srgbClr val="334155"/>
                </a:solidFill>
                <a:latin typeface="Calibri"/>
              </a:rPr>
              <a:t>A single unplanned engine diversion costs airline operators upwards of $250,000.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Traditional Servicing Flaws: </a:t>
            </a:r>
            <a:r>
              <a:rPr sz="1800" b="0">
                <a:solidFill>
                  <a:srgbClr val="334155"/>
                </a:solidFill>
                <a:latin typeface="Calibri"/>
              </a:rPr>
              <a:t>Fixed-interval maintenance replaces healthy parts early or misses catastrophic failure.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Complex Sensor Telemetry: </a:t>
            </a:r>
            <a:r>
              <a:rPr sz="1800" b="0">
                <a:solidFill>
                  <a:srgbClr val="334155"/>
                </a:solidFill>
                <a:latin typeface="Calibri"/>
              </a:rPr>
              <a:t>21 continuous sensor streams exhibit non-linear degradation and high signal noise.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Prognostic Solution Need: </a:t>
            </a:r>
            <a:r>
              <a:rPr sz="1800" b="0">
                <a:solidFill>
                  <a:srgbClr val="334155"/>
                </a:solidFill>
                <a:latin typeface="Calibri"/>
              </a:rPr>
              <a:t>Requires real-time AI to forecast exact Remaining Useful Life (RUL) cycles.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Project 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RUL Regression Forecasting: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Train ML models to predict exact operational cycles remaining before breakdown.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30-Day Failure Warning Alert: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 &gt;95% precision on binary classification warnings for 30-cycle windows.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3-Tier Hazard Risk Net: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Neural MLP classifying fleet health into Healthy, Warning, and Critical.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Sub-30ms Real-Time Inference: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Build lightweight CLI runner (predict.py) for instantaneous field diagnostics.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Fleet Cost Optimization: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Provide actionable decision tools to eliminate unscheduled engine overhauls.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Existing System vs. AI Predictive Maintenance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Traditional Static Servicing: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Relies on fixed flight-hour intervals regardless of actual engine health.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Reactive Break-Fix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Triggers maintenance only after catastrophic engine failure occurs in flight.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AI Predictive Maintenance (Proposed):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Continuously monitors 21 telemetry streams to forecast RUL.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Proactive Hazard Scheduling: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Schedules minor $15,000 preventive maintenance before major breakdown.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Key Operational Advantage: </a:t>
            </a:r>
            <a:r>
              <a:rPr sz="1800" b="0">
                <a:solidFill>
                  <a:srgbClr val="334155"/>
                </a:solidFill>
                <a:latin typeface="Calibri"/>
              </a:rPr>
              <a:t>Eliminates $250k emergency diversions and extends overall fleet engine lifespan.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System Methodology &amp; Data 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3657600" cy="4754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• Stage 1 Ingestion: </a:t>
            </a:r>
            <a:r>
              <a:rPr sz="1500" b="0">
                <a:solidFill>
                  <a:srgbClr val="334155"/>
                </a:solidFill>
                <a:latin typeface="Calibri"/>
              </a:rPr>
              <a:t>NASA C-MAPSS telemetry dataset with 21 sensors &amp; 3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• Stage 2 Preprocessing: </a:t>
            </a:r>
            <a:r>
              <a:rPr sz="1500" b="0">
                <a:solidFill>
                  <a:srgbClr val="334155"/>
                </a:solidFill>
                <a:latin typeface="Calibri"/>
              </a:rPr>
              <a:t>5-cycle rolling mean &amp; standard deviation aggregations.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• Stage 3 Filter: </a:t>
            </a:r>
            <a:r>
              <a:rPr sz="1500" b="0">
                <a:solidFill>
                  <a:srgbClr val="334155"/>
                </a:solidFill>
                <a:latin typeface="Calibri"/>
              </a:rPr>
              <a:t>Eliminates redundant sensor pairs with correlation r &gt; 0.80.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• Stage 4 AI Inference: </a:t>
            </a:r>
            <a:r>
              <a:rPr sz="1500" b="0">
                <a:solidFill>
                  <a:srgbClr val="334155"/>
                </a:solidFill>
                <a:latin typeface="Calibri"/>
              </a:rPr>
              <a:t>Tri-model engine: RUL Regressor, Binary 30d Classifier &amp; Neural MLP.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563EB"/>
                </a:solidFill>
                <a:latin typeface="Calibri"/>
              </a:rPr>
              <a:t>• Stage 5 Actionable Report: </a:t>
            </a:r>
            <a:r>
              <a:rPr sz="1500" b="0">
                <a:solidFill>
                  <a:srgbClr val="334155"/>
                </a:solidFill>
                <a:latin typeface="Calibri"/>
              </a:rPr>
              <a:t>Computes health score, cost optimization &amp; fleet maintenance schedule.</a:t>
            </a:r>
          </a:p>
        </p:txBody>
      </p:sp>
      <p:pic>
        <p:nvPicPr>
          <p:cNvPr id="5" name="Picture 4" descr="vertical_flowchar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005840"/>
            <a:ext cx="43891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Technology Stack &amp; Layer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286000"/>
                <a:gridCol w="2468880"/>
                <a:gridCol w="1645920"/>
              </a:tblGrid>
              <a:tr h="653142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Layer Component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 / Library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Function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Version / Spec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Programming Language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Engine logic, wrangling, predictive algorithms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Python 3.11+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Machine Learning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Scikit-Learn framework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Forest, SVM, MLP Neural Net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v1.3.2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Wrangling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 &amp; NumPy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5-cycle rolling aggregations &amp; matrix 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Pandas 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Signal Analytics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SciPy Signal Package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Noise reduction &amp; correlation matrix filter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SciPy 1.11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CLI Diagnostic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Argparse &amp; Pickle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Serialized model execution runner (predict.py)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Standard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Visualization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Matplotlib &amp; Seaborn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Publication-grade metrics, ROC/PR curves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v3.8.0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Dataset &amp; Feature Engineering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Dataset Provider: </a:t>
            </a:r>
            <a:r>
              <a:rPr sz="1800" b="0">
                <a:solidFill>
                  <a:srgbClr val="334155"/>
                </a:solidFill>
                <a:latin typeface="Calibri"/>
              </a:rPr>
              <a:t>NASA Ames Prognostics Center of Excellence C-MAPSS Turbofan Dataset.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Training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turbofan engines run-to-failure containing 20,631 operational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Testing Fleet Size: </a:t>
            </a:r>
            <a:r>
              <a:rPr sz="1800" b="0">
                <a:solidFill>
                  <a:srgbClr val="334155"/>
                </a:solidFill>
                <a:latin typeface="Calibri"/>
              </a:rPr>
              <a:t>100 engines with ground-truth Remaining Useful Life (TTF) validation labels.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Target Classification Windows: </a:t>
            </a:r>
            <a:r>
              <a:rPr sz="1800" b="0">
                <a:solidFill>
                  <a:srgbClr val="334155"/>
                </a:solidFill>
                <a:latin typeface="Calibri"/>
              </a:rPr>
              <a:t>30-cycle failure warning window (w1 = 30) and 15-cycle urgent window (w0 = 15).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Dataset Quality: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Zero missing values, numeric sensor streams, preprocessed clean target series.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Tri-Model Predictive AI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1. RUL Regression Model: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Regressor predicting exact cycles remaining before failure.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2. Binary 30-Cycle Warning Classifier: </a:t>
            </a:r>
            <a:r>
              <a:rPr sz="1800" b="0">
                <a:solidFill>
                  <a:srgbClr val="334155"/>
                </a:solidFill>
                <a:latin typeface="Calibri"/>
              </a:rPr>
              <a:t>Random Forest Classifier predicting 30d failure window.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3. Multi-Class Neural MLP: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(100, 50 hidden neurons) for 3-tier hazard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Multi-Tier Hazard Classes: </a:t>
            </a:r>
            <a:r>
              <a:rPr sz="1800" b="0">
                <a:solidFill>
                  <a:srgbClr val="334155"/>
                </a:solidFill>
                <a:latin typeface="Calibri"/>
              </a:rPr>
              <a:t>Healthy (&gt;30 cycles), Warning (15-30 cycles), Critical (&lt;=15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Softmax Risk Output: </a:t>
            </a:r>
            <a:r>
              <a:rPr sz="1800" b="0">
                <a:solidFill>
                  <a:srgbClr val="334155"/>
                </a:solidFill>
                <a:latin typeface="Calibri"/>
              </a:rPr>
              <a:t>Neural net produces normalized probability distributions over risk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Interactive Terminal Diagnostic Engine (predict.py)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Command-Line Diagnostic Tool: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using Python argparse &amp; serialized model pickle files.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Execution Command: </a:t>
            </a:r>
            <a:r>
              <a:rPr sz="1800" b="0">
                <a:solidFill>
                  <a:srgbClr val="334155"/>
                </a:solidFill>
                <a:latin typeface="Calibri"/>
              </a:rPr>
              <a:t>python predict.py --engine_id 81 (Evaluates any engine from fleet 1-100).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Diagnostic Output Parameters: </a:t>
            </a:r>
            <a:r>
              <a:rPr sz="1800" b="0">
                <a:solidFill>
                  <a:srgbClr val="334155"/>
                </a:solidFill>
                <a:latin typeface="Calibri"/>
              </a:rPr>
              <a:t>Estimated Remaining RUL, 30-cycle failure probability, risk rating.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Risk Rating Formatting: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Displays GREEN (Healthy), YELLOW (Warning), and RED (Critical)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Actionable Maintenance Recommendation: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Instructs fleet managers to ground aircraft or schedule service.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Fleet Hazard Gating &amp; Alert Dispatch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Operational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Categorizes engine hazard state into 3 distinct operational buckets.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Healthy State (Green):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&gt; 30 cycles; engine remains in normal operational flight status.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Warning Window (Yellow): </a:t>
            </a:r>
            <a:r>
              <a:rPr sz="1800" b="0">
                <a:solidFill>
                  <a:srgbClr val="334155"/>
                </a:solidFill>
                <a:latin typeface="Calibri"/>
              </a:rPr>
              <a:t>15 &lt; RUL &lt;= 30 cycles; schedule preventive maintenance within 5 cycles.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Critical Action (Red): </a:t>
            </a:r>
            <a:r>
              <a:rPr sz="1800" b="0">
                <a:solidFill>
                  <a:srgbClr val="334155"/>
                </a:solidFill>
                <a:latin typeface="Calibri"/>
              </a:rPr>
              <a:t>RUL &lt;= 15 cycles; ground aircraft for immediate engine overhaul within 24h.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Sub-30ms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Ensures smooth live diagnostic reporting without latency or delay.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Empirical Results &amp; Model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Binary Failure Warning AUC-ROC: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(0.9845) AUC-ROC score on test evaluation set.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Binary Alert Precision: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94.44% Precision on positive failure window warnings.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RUL Regression RMSE: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33.39 cycles Root Mean Squared Error (MAE: 22.90 cycles).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Multi-Class Neural MLP Accuracy: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75.00% exact multi-class categorization accuracy.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Inference Latency: </a:t>
            </a:r>
            <a:r>
              <a:rPr sz="1800" b="0">
                <a:solidFill>
                  <a:srgbClr val="334155"/>
                </a:solidFill>
                <a:latin typeface="Calibri"/>
              </a:rPr>
              <a:t>Average diagnostic computation time under 30ms operating on test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Per-Model Benchmark Evaluation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334155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80467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/>
                <a:gridCol w="1609344"/>
                <a:gridCol w="1609344"/>
                <a:gridCol w="1609344"/>
                <a:gridCol w="1609344"/>
              </a:tblGrid>
              <a:tr h="33059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Paradigm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Algorithm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33.39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RUL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Polynomial Reg (d=2)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36.12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Benchmark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38.20 Cycles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Regression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/ Ridge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39.15 Cycles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AUC-ROC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98.45%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(Gaussian)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Recall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Linear SVC (Features)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89.00%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High 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Binary (30d)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Support Vector (RBF)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Zero FP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Neural Network MLP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Best Hazard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Random Forest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Tree Ensemble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059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 MC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64.00%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Multi-Class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Naive Bayes MC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58.00%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Bayesian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669280"/>
            <a:ext cx="8046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334155"/>
                </a:solidFill>
                <a:latin typeface="Calibri"/>
              </a:defRPr>
            </a:pPr>
            <a:r>
              <a:t>Table 1: Per-Class Precision, Recall, F1-Score, and Support Sample Counts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Observations &amp; Result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Feature Engineering Impact: </a:t>
            </a:r>
            <a:r>
              <a:rPr sz="1800" b="0">
                <a:solidFill>
                  <a:srgbClr val="334155"/>
                </a:solidFill>
                <a:latin typeface="Calibri"/>
              </a:rPr>
              <a:t>5-cycle rolling statistics (av, sd) significantly outperform raw sensors.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Optimal Thresholding: </a:t>
            </a:r>
            <a:r>
              <a:rPr sz="1800" b="0">
                <a:solidFill>
                  <a:srgbClr val="334155"/>
                </a:solidFill>
                <a:latin typeface="Calibri"/>
              </a:rPr>
              <a:t>Operating Random Forest at tau = 0.17 yields 100% precision &amp; 68% recall.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Cost Matrix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Prevents $250,000+ catastrophic in-flight failures via planned $15,000 repairs.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Neural Network Stability: </a:t>
            </a:r>
            <a:r>
              <a:rPr sz="1800" b="0">
                <a:solidFill>
                  <a:srgbClr val="334155"/>
                </a:solidFill>
                <a:latin typeface="Calibri"/>
              </a:rPr>
              <a:t>Multi-layer Perceptron provides high accuracy on critical hazard windows.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Maintenance Capacity Dispatch: </a:t>
            </a:r>
            <a:r>
              <a:rPr sz="1800" b="0">
                <a:solidFill>
                  <a:srgbClr val="334155"/>
                </a:solidFill>
                <a:latin typeface="Calibri"/>
              </a:rPr>
              <a:t>Efficiently queues engines based on RUL urgency rank.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Conclusion &amp; Project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Successful System Delivery: </a:t>
            </a:r>
            <a:r>
              <a:rPr sz="1800" b="0">
                <a:solidFill>
                  <a:srgbClr val="334155"/>
                </a:solidFill>
                <a:latin typeface="Calibri"/>
              </a:rPr>
              <a:t>Built a complete predictive health management pipeline for jet engines.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High Predictive Performance: </a:t>
            </a:r>
            <a:r>
              <a:rPr sz="1800" b="0">
                <a:solidFill>
                  <a:srgbClr val="334155"/>
                </a:solidFill>
                <a:latin typeface="Calibri"/>
              </a:rPr>
              <a:t>Achieved 98.45% AUC-ROC failure detection and 33.39 cycles RUL RMSE.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Sign-to-Speech &amp; CLI Integration: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Successfully integrated interactive predict.py CLI diagnostic tool.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Native Python Implementation: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Developed clean 100% Python pipeline &amp; serialized model artifacts.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Fleet Cost Minimization: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Optimizes maintenance capacity allocation and eliminates flight delays.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Future Scope &amp; Strategic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  <a:r>
              <a:rPr sz="1800" b="1">
                <a:solidFill>
                  <a:srgbClr val="2563EB"/>
                </a:solidFill>
                <a:latin typeface="Calibri"/>
              </a:rPr>
              <a:t>• Deep Time-Series Architecture: </a:t>
            </a:r>
            <a:r>
              <a:rPr sz="1800" b="0">
                <a:solidFill>
                  <a:srgbClr val="334155"/>
                </a:solidFill>
                <a:latin typeface="Calibri"/>
              </a:rPr>
              <a:t>Integrate Recurrent LSTM and Transformer networks for temporal dynamics.</a:t>
            </a: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0F172A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Sentence-Level Flight Profiles: </a:t>
            </a:r>
            <a:r>
              <a:rPr sz="1800" b="0">
                <a:solidFill>
                  <a:srgbClr val="334155"/>
                </a:solidFill>
                <a:latin typeface="Calibri"/>
              </a:rPr>
              <a:t>Extend from single-mode steady flights to multi-profile flight regimes.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Mobile &amp; Edge Deployment: </a:t>
            </a:r>
            <a:r>
              <a:rPr sz="1800" b="0">
                <a:solidFill>
                  <a:srgbClr val="334155"/>
                </a:solidFill>
                <a:latin typeface="Calibri"/>
              </a:rPr>
              <a:t>Export model to TensorFlow Lite (TFLite) for deployment on avionics hardware.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Cloud Streaming API: </a:t>
            </a:r>
            <a:r>
              <a:rPr sz="1800" b="0">
                <a:solidFill>
                  <a:srgbClr val="334155"/>
                </a:solidFill>
                <a:latin typeface="Calibri"/>
              </a:rPr>
              <a:t>Deploy REST API endpoints for real-time IoT stream data ingestion.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Calibri"/>
              </a:rPr>
              <a:t>• Dataset Mirror Augmentation: </a:t>
            </a:r>
            <a:r>
              <a:rPr sz="1800" b="0">
                <a:solidFill>
                  <a:srgbClr val="334155"/>
                </a:solidFill>
                <a:latin typeface="Calibri"/>
              </a:rPr>
              <a:t>Incorporate synthetic degradation data augmentation for long-tail failures.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0F172A"/>
                </a:solidFill>
                <a:latin typeface="Calibri"/>
              </a:defRPr>
            </a:pPr>
            <a:r>
              <a:t>References &amp;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21792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4748B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8046720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  <a:r>
              <a:rPr sz="1600" b="1">
                <a:solidFill>
                  <a:srgbClr val="2563EB"/>
                </a:solidFill>
                <a:latin typeface="Calibri"/>
              </a:rPr>
              <a:t>• 1. NASA Ames Prognostics Center of Excellence - </a:t>
            </a:r>
            <a:r>
              <a:rPr sz="1600" b="0">
                <a:solidFill>
                  <a:srgbClr val="334155"/>
                </a:solidFill>
                <a:latin typeface="Calibri"/>
              </a:rPr>
              <a:t>C-MAPSS Jet Engine Degradation Dataset, 2024.</a:t>
            </a: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0">
                <a:solidFill>
                  <a:srgbClr val="334155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2. Saxena, A., et al., </a:t>
            </a:r>
            <a:r>
              <a:rPr sz="1600" b="0">
                <a:solidFill>
                  <a:srgbClr val="334155"/>
                </a:solidFill>
                <a:latin typeface="Calibri"/>
              </a:rPr>
              <a:t>'Damage Propagation Modeling for Aircraft Engine Simulation', IEEE, 2008.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3. Springboard Data Science Career Track - </a:t>
            </a:r>
            <a:r>
              <a:rPr sz="1600" b="0">
                <a:solidFill>
                  <a:srgbClr val="334155"/>
                </a:solidFill>
                <a:latin typeface="Calibri"/>
              </a:rPr>
              <a:t>Bootcamp Curriculum &amp; Mentorship,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4. Scikit-Learn Open Source Library - </a:t>
            </a:r>
            <a:r>
              <a:rPr sz="1600" b="0">
                <a:solidFill>
                  <a:srgbClr val="334155"/>
                </a:solidFill>
                <a:latin typeface="Calibri"/>
              </a:rPr>
              <a:t>Machine Learning &amp; Neural Network Documentation,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5. Google Keras 3.3 &amp; TensorFlow 2.17 - </a:t>
            </a:r>
            <a:r>
              <a:rPr sz="1600" b="0">
                <a:solidFill>
                  <a:srgbClr val="334155"/>
                </a:solidFill>
                <a:latin typeface="Calibri"/>
              </a:rPr>
              <a:t>Official Documentation and API Reference, 2026.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Calibri"/>
              </a:rPr>
              <a:t>• 6. Microsoft Azure Machine Learning - </a:t>
            </a:r>
            <a:r>
              <a:rPr sz="1600" b="0">
                <a:solidFill>
                  <a:srgbClr val="334155"/>
                </a:solidFill>
                <a:latin typeface="Calibri"/>
              </a:rPr>
              <a:t>Predictive Maintenance Simulation Templates, 2026.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371600"/>
            <a:ext cx="8046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defRPr sz="2800" b="1">
                <a:solidFill>
                  <a:srgbClr val="0D6EFD"/>
                </a:solidFill>
                <a:latin typeface="Calibri"/>
              </a:defRPr>
            </a:pPr>
            <a:r>
              <a:t>Questions &amp; Discussion</a:t>
            </a:r>
          </a:p>
          <a:p>
            <a:br/>
            <a:pPr algn="ctr">
              <a:defRPr sz="2000" b="0">
                <a:solidFill>
                  <a:srgbClr val="334155"/>
                </a:solidFill>
                <a:latin typeface="Calibri"/>
              </a:defRPr>
            </a:pPr>
            <a:r>
              <a:t>Presented By: Piyush Tiwari</a:t>
            </a:r>
            <a:br/>
            <a:r>
              <a:t>Roll No: 2100270100000 | 7th Sem, CSE-1</a:t>
            </a:r>
            <a:br/>
            <a:r>
              <a:t>IMS Engineering College, Ghaziabad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Calibri"/>
        <a:ea typeface="Noto Sans CJK SC Regular"/>
        <a:cs typeface="Noto Sans CJK SC Regular"/>
      </a:majorFont>
      <a:minorFont>
        <a:latin typeface="Calibri"/>
        <a:ea typeface="Noto Sans CJK SC Regular"/>
        <a:cs typeface="Noto Sans CJK SC Regula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44958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panose="02020603050405020304" pitchFamily="18" charset="0"/>
          <a:buNone/>
          <a:defRPr kumimoji="0" lang="en-GB" sz="18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407</Words>
  <Application>WPS Presentation</Application>
  <PresentationFormat>On-screen Show (4:3)</PresentationFormat>
  <Paragraphs>64</Paragraphs>
  <Slides>8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Slide 1</vt:lpstr>
      <vt:lpstr>Slide 2</vt:lpstr>
      <vt:lpstr>Objectives</vt:lpstr>
      <vt:lpstr>Methodology</vt:lpstr>
      <vt:lpstr>Results &amp; Analysis</vt:lpstr>
      <vt:lpstr>Conclusion &amp; Future Work</vt:lpstr>
      <vt:lpstr>Thank You</vt:lpstr>
      <vt:lpstr>Recommended Font Sizes for Internship PPTs Presentation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Performance Evaluation of Routing Protocol  Under Security Attacks</dc:title>
  <dc:creator>SAINATH</dc:creator>
  <cp:lastModifiedBy>Faculty</cp:lastModifiedBy>
  <cp:revision>368</cp:revision>
  <dcterms:created xsi:type="dcterms:W3CDTF">2012-05-24T06:22:00Z</dcterms:created>
  <dcterms:modified xsi:type="dcterms:W3CDTF">2026-07-14T09:29:41Z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FC636E2E2A264E20A1776DCA2C0207AF_13</vt:lpwstr>
  </property>
  <property fmtid="{D5CDD505-2E9C-101B-9397-08002B2CF9AE}" pid="3" name="KSOProductBuildVer">
    <vt:lpwstr>1033-12.2.0.22222</vt:lpwstr>
  </property>
</Properties>
</file>