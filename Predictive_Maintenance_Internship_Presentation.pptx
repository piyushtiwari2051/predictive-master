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73" r:id="rId2"/>
    <p:sldId id="274" r:id="rId8"/>
    <p:sldId id="275" r:id="rId9"/>
    <p:sldId id="276" r:id="rId7"/>
    <p:sldId id="277" r:id="rId6"/>
    <p:sldId id="278" r:id="rId5"/>
    <p:sldId id="279" r:id="rId4"/>
    <p:sldId id="280" r:id="rId3"/>
    <p:sldId id="281" r:id="rId15"/>
    <p:sldId id="282" r:id="rId16"/>
    <p:sldId id="283" r:id="rId17"/>
    <p:sldId id="284" r:id="rId18"/>
    <p:sldId id="285" r:id="rId19"/>
    <p:sldId id="286" r:id="rId20"/>
    <p:sldId id="287" r:id="rId21"/>
    <p:sldId id="288" r:id="rId22"/>
    <p:sldId id="289" r:id="rId23"/>
    <p:sldId id="290" r:id="rId24"/>
  </p:sldIdLst>
  <p:sldSz cx="9144000" cy="6858000" type="screen4x3"/>
  <p:notesSz cx="6858000" cy="9144000"/>
  <p:defaultTextStyle>
    <a:defPPr>
      <a:defRPr lang="en-GB"/>
    </a:defPPr>
    <a:lvl1pPr marL="0" lvl="0" indent="0" algn="l" defTabSz="44958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bg1"/>
        </a:solidFill>
        <a:latin typeface="Arial" panose="020B0604020202020204" pitchFamily="34" charset="0"/>
        <a:ea typeface="+mn-ea"/>
        <a:cs typeface="+mn-cs"/>
      </a:defRPr>
    </a:lvl1pPr>
    <a:lvl2pPr marL="742950" lvl="1" indent="-285750" algn="l" defTabSz="44958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bg1"/>
        </a:solidFill>
        <a:latin typeface="Arial" panose="020B0604020202020204" pitchFamily="34" charset="0"/>
        <a:ea typeface="+mn-ea"/>
        <a:cs typeface="+mn-cs"/>
      </a:defRPr>
    </a:lvl2pPr>
    <a:lvl3pPr marL="1143000" lvl="2" indent="-228600" algn="l" defTabSz="44958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bg1"/>
        </a:solidFill>
        <a:latin typeface="Arial" panose="020B0604020202020204" pitchFamily="34" charset="0"/>
        <a:ea typeface="+mn-ea"/>
        <a:cs typeface="+mn-cs"/>
      </a:defRPr>
    </a:lvl3pPr>
    <a:lvl4pPr marL="1600200" lvl="3" indent="-228600" algn="l" defTabSz="44958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bg1"/>
        </a:solidFill>
        <a:latin typeface="Arial" panose="020B0604020202020204" pitchFamily="34" charset="0"/>
        <a:ea typeface="+mn-ea"/>
        <a:cs typeface="+mn-cs"/>
      </a:defRPr>
    </a:lvl4pPr>
    <a:lvl5pPr marL="2057400" lvl="4" indent="-228600" algn="l" defTabSz="44958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bg1"/>
        </a:solidFill>
        <a:latin typeface="Arial" panose="020B0604020202020204" pitchFamily="34" charset="0"/>
        <a:ea typeface="+mn-ea"/>
        <a:cs typeface="+mn-cs"/>
      </a:defRPr>
    </a:lvl5pPr>
    <a:lvl6pPr marL="2286000" lvl="5" indent="-228600" algn="l" defTabSz="44958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bg1"/>
        </a:solidFill>
        <a:latin typeface="Arial" panose="020B0604020202020204" pitchFamily="34" charset="0"/>
        <a:ea typeface="+mn-ea"/>
        <a:cs typeface="+mn-cs"/>
      </a:defRPr>
    </a:lvl6pPr>
    <a:lvl7pPr marL="2743200" lvl="6" indent="-228600" algn="l" defTabSz="44958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bg1"/>
        </a:solidFill>
        <a:latin typeface="Arial" panose="020B0604020202020204" pitchFamily="34" charset="0"/>
        <a:ea typeface="+mn-ea"/>
        <a:cs typeface="+mn-cs"/>
      </a:defRPr>
    </a:lvl7pPr>
    <a:lvl8pPr marL="3200400" lvl="7" indent="-228600" algn="l" defTabSz="44958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bg1"/>
        </a:solidFill>
        <a:latin typeface="Arial" panose="020B0604020202020204" pitchFamily="34" charset="0"/>
        <a:ea typeface="+mn-ea"/>
        <a:cs typeface="+mn-cs"/>
      </a:defRPr>
    </a:lvl8pPr>
    <a:lvl9pPr marL="3657600" lvl="8" indent="-228600" algn="l" defTabSz="44958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bg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2FDB2607-1784-4EEB-B798-7EB5836EED8A}">
        <p14:showMediaCtrls xmlns:p14="http://schemas.microsoft.com/office/powerpoint/2010/main" xmlns="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howGuides="1">
      <p:cViewPr>
        <p:scale>
          <a:sx n="100" d="100"/>
          <a:sy n="100" d="100"/>
        </p:scale>
        <p:origin x="-516" y="498"/>
      </p:cViewPr>
      <p:guideLst>
        <p:guide orient="horz" pos="2160"/>
        <p:guide pos="2880"/>
      </p:guideLst>
    </p:cSldViewPr>
  </p:slideViewPr>
  <p:outlineViewPr>
    <p:cViewPr varScale="1">
      <p:scale>
        <a:sx n="170" d="200"/>
        <a:sy n="170" d="200"/>
      </p:scale>
      <p:origin x="-780" y="-84"/>
    </p:cViewPr>
  </p:outlin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8.xml"/><Relationship Id="rId4" Type="http://schemas.openxmlformats.org/officeDocument/2006/relationships/slide" Target="slides/slide7.xml"/><Relationship Id="rId5" Type="http://schemas.openxmlformats.org/officeDocument/2006/relationships/slide" Target="slides/slide6.xml"/><Relationship Id="rId6" Type="http://schemas.openxmlformats.org/officeDocument/2006/relationships/slide" Target="slides/slide5.xml"/><Relationship Id="rId7" Type="http://schemas.openxmlformats.org/officeDocument/2006/relationships/slide" Target="slides/slide4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AutoShape 1"/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  <a:round/>
          </a:ln>
        </p:spPr>
        <p:txBody>
          <a:bodyPr wrap="none" anchor="ctr"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Times New Roman" panose="02020603050405020304" pitchFamily="18" charset="0"/>
              <a:buNone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Noto Sans CJK SC Regular" charset="0"/>
              <a:cs typeface="Arial" panose="020B0604020202020204" pitchFamily="34" charset="0"/>
            </a:endParaRPr>
          </a:p>
        </p:txBody>
      </p:sp>
      <p:sp>
        <p:nvSpPr>
          <p:cNvPr id="2051" name="Text Box 2"/>
          <p:cNvSpPr txBox="1"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Times New Roman" panose="02020603050405020304" pitchFamily="18" charset="0"/>
              <a:buNone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Noto Sans CJK SC Regular" charset="0"/>
              <a:cs typeface="Arial" panose="020B0604020202020204" pitchFamily="34" charset="0"/>
            </a:endParaRP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/>
          </p:nvPr>
        </p:nvSpPr>
        <p:spPr bwMode="auto">
          <a:xfrm>
            <a:off x="3884613" y="0"/>
            <a:ext cx="2970213" cy="455613"/>
          </a:xfrm>
          <a:prstGeom prst="rect">
            <a:avLst/>
          </a:prstGeom>
          <a:noFill/>
          <a:ln w="9525" cap="flat">
            <a:noFill/>
            <a:round/>
          </a:ln>
          <a:effectLst/>
        </p:spPr>
        <p:txBody>
          <a:bodyPr vert="horz" wrap="square" lIns="90000" tIns="46800" rIns="90000" bIns="46800" numCol="1" anchor="t" anchorCtr="0" compatLnSpc="1"/>
          <a:lstStyle/>
          <a:p>
            <a:pPr lvl="0" algn="r" defTabSz="449580" eaLnBrk="1" hangingPunct="1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altLang="zh-CN" sz="1200" dirty="0">
              <a:solidFill>
                <a:srgbClr val="000000"/>
              </a:solidFill>
              <a:latin typeface="Calibri" panose="020F0502020204030204" pitchFamily="34" charset="0"/>
              <a:ea typeface="SimSun" panose="02010600030101010101" pitchFamily="2" charset="-122"/>
            </a:endParaRPr>
          </a:p>
        </p:txBody>
      </p:sp>
      <p:sp>
        <p:nvSpPr>
          <p:cNvPr id="5125" name="Rectangle 4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0413" cy="3427413"/>
          </a:xfrm>
          <a:prstGeom prst="rect">
            <a:avLst/>
          </a:prstGeom>
          <a:noFill/>
          <a:ln w="12600" cap="sq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3077" name="Rectangle 5"/>
          <p:cNvSpPr>
            <a:spLocks noGrp="1" noChangeArrowheads="1"/>
          </p:cNvSpPr>
          <p:nvPr>
            <p:ph type="body"/>
          </p:nvPr>
        </p:nvSpPr>
        <p:spPr bwMode="auto">
          <a:xfrm>
            <a:off x="685800" y="4343400"/>
            <a:ext cx="5484813" cy="4113213"/>
          </a:xfrm>
          <a:prstGeom prst="rect">
            <a:avLst/>
          </a:prstGeom>
          <a:noFill/>
          <a:ln w="9525" cap="flat">
            <a:noFill/>
            <a:round/>
          </a:ln>
          <a:effectLst/>
        </p:spPr>
        <p:txBody>
          <a:bodyPr vert="horz" wrap="square" lIns="90000" tIns="46800" rIns="90000" bIns="46800" numCol="1" anchor="t" anchorCtr="0" compatLnSpc="1"/>
          <a:lstStyle/>
          <a:p>
            <a:pPr marL="0" marR="0" lvl="0" indent="0" algn="l" defTabSz="44958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Pct val="100000"/>
              <a:buFont typeface="Times New Roman" panose="02020603050405020304" pitchFamily="18" charset="0"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055" name="Text Box 6"/>
          <p:cNvSpPr txBox="1">
            <a:spLocks noChangeArrowheads="1"/>
          </p:cNvSpPr>
          <p:nvPr/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Times New Roman" panose="02020603050405020304" pitchFamily="18" charset="0"/>
              <a:buNone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Noto Sans CJK SC Regular" charset="0"/>
              <a:cs typeface="Arial" panose="020B0604020202020204" pitchFamily="34" charset="0"/>
            </a:endParaRPr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/>
          </p:nvPr>
        </p:nvSpPr>
        <p:spPr bwMode="auto">
          <a:xfrm>
            <a:off x="3884613" y="8685213"/>
            <a:ext cx="2970213" cy="455613"/>
          </a:xfrm>
          <a:prstGeom prst="rect">
            <a:avLst/>
          </a:prstGeom>
          <a:noFill/>
          <a:ln w="9525" cap="flat">
            <a:noFill/>
            <a:round/>
          </a:ln>
          <a:effectLst/>
        </p:spPr>
        <p:txBody>
          <a:bodyPr vert="horz" wrap="square" lIns="90000" tIns="46800" rIns="90000" bIns="46800" numCol="1" anchor="b" anchorCtr="0" compatLnSpc="1"/>
          <a:lstStyle/>
          <a:p>
            <a:pPr lvl="0" algn="r" defTabSz="449580" eaLnBrk="1" hangingPunct="1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A0DB2DC-4C9A-4742-B13C-FB6460FD3503}" type="slidenum">
              <a:rPr lang="en-US" altLang="en-US" sz="1200" dirty="0">
                <a:solidFill>
                  <a:srgbClr val="000000"/>
                </a:solidFill>
                <a:latin typeface="Calibri" panose="020F0502020204030204" pitchFamily="34" charset="0"/>
              </a:rPr>
              <a:pPr lvl="0" algn="r" defTabSz="449580" eaLnBrk="1" hangingPunct="1"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t>‹#›</a:t>
            </a:fld>
            <a:endParaRPr lang="en-US" altLang="en-US" sz="120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defTabSz="449580" rtl="0" eaLnBrk="0" fontAlgn="base" hangingPunct="0">
      <a:spcBef>
        <a:spcPct val="30000"/>
      </a:spcBef>
      <a:spcAft>
        <a:spcPct val="0"/>
      </a:spcAft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1pPr>
    <a:lvl2pPr marL="742950" indent="-285750" algn="l" defTabSz="449580" rtl="0" eaLnBrk="0" fontAlgn="base" hangingPunct="0">
      <a:spcBef>
        <a:spcPct val="30000"/>
      </a:spcBef>
      <a:spcAft>
        <a:spcPct val="0"/>
      </a:spcAft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2pPr>
    <a:lvl3pPr marL="1143000" indent="-228600" algn="l" defTabSz="449580" rtl="0" eaLnBrk="0" fontAlgn="base" hangingPunct="0">
      <a:spcBef>
        <a:spcPct val="30000"/>
      </a:spcBef>
      <a:spcAft>
        <a:spcPct val="0"/>
      </a:spcAft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3pPr>
    <a:lvl4pPr marL="1600200" indent="-228600" algn="l" defTabSz="449580" rtl="0" eaLnBrk="0" fontAlgn="base" hangingPunct="0">
      <a:spcBef>
        <a:spcPct val="30000"/>
      </a:spcBef>
      <a:spcAft>
        <a:spcPct val="0"/>
      </a:spcAft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4pPr>
    <a:lvl5pPr marL="2057400" indent="-228600" algn="l" defTabSz="449580" rtl="0" eaLnBrk="0" fontAlgn="base" hangingPunct="0">
      <a:spcBef>
        <a:spcPct val="30000"/>
      </a:spcBef>
      <a:spcAft>
        <a:spcPct val="0"/>
      </a:spcAft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0212" cy="455612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b" anchorCtr="0"/>
          <a:lstStyle/>
          <a:p>
            <a:pPr lvl="0" algn="r" defTabSz="449580" eaLnBrk="1" hangingPunct="1"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A0DB2DC-4C9A-4742-B13C-FB6460FD3503}" type="slidenum">
              <a:rPr lang="en-US" altLang="en-US" dirty="0">
                <a:latin typeface="Calibri" panose="020F0502020204030204" pitchFamily="34" charset="0"/>
              </a:rPr>
              <a:pPr lvl="0" algn="r" defTabSz="449580" eaLnBrk="1" hangingPunct="1"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t>1</a:t>
            </a:fld>
            <a:endParaRPr lang="en-US" altLang="en-US" dirty="0">
              <a:latin typeface="Calibri" panose="020F0502020204030204" pitchFamily="34" charset="0"/>
            </a:endParaRPr>
          </a:p>
        </p:txBody>
      </p:sp>
      <p:sp>
        <p:nvSpPr>
          <p:cNvPr id="6147" name="Rectangle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>
              <a:alpha val="100000"/>
            </a:srgbClr>
          </a:solidFill>
        </p:spPr>
      </p:sp>
      <p:sp>
        <p:nvSpPr>
          <p:cNvPr id="6148" name="Text Box 2"/>
          <p:cNvSpPr txBox="1"/>
          <p:nvPr/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/>
          <a:p>
            <a:pPr lvl="0" eaLnBrk="1" hangingPunct="1">
              <a:buFont typeface="Times New Roman" panose="02020603050405020304" pitchFamily="18" charset="0"/>
            </a:pPr>
            <a:endParaRPr lang="en-US" altLang="en-US" dirty="0"/>
          </a:p>
        </p:txBody>
      </p:sp>
      <p:sp>
        <p:nvSpPr>
          <p:cNvPr id="6149" name="Text Box 3"/>
          <p:cNvSpPr txBox="1"/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b" anchorCtr="0"/>
          <a:lstStyle/>
          <a:p>
            <a:pPr lvl="0" algn="r" defTabSz="449580" eaLnBrk="1" hangingPunct="1"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A0DB2DC-4C9A-4742-B13C-FB6460FD3503}" type="slidenum">
              <a:rPr lang="en-US" altLang="en-US" dirty="0">
                <a:latin typeface="Calibri" panose="020F0502020204030204" pitchFamily="34" charset="0"/>
              </a:rPr>
              <a:pPr lvl="0" algn="r" defTabSz="449580" eaLnBrk="1" hangingPunct="1"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t>1</a:t>
            </a:fld>
            <a:endParaRPr lang="en-US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noProof="1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01/20/18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IN" altLang="en-US" dirty="0">
                <a:latin typeface="Arial" panose="020B0604020202020204" pitchFamily="34" charset="0"/>
              </a:rPr>
              <a:pPr lvl="0" eaLnBrk="1" hangingPunct="1">
                <a:buNone/>
              </a:pPr>
              <a:t>‹#›</a:t>
            </a:fld>
            <a:endParaRPr lang="en-I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01/20/18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IN" altLang="en-US" dirty="0">
                <a:latin typeface="Arial" panose="020B0604020202020204" pitchFamily="34" charset="0"/>
              </a:rPr>
              <a:pPr lvl="0" eaLnBrk="1" hangingPunct="1">
                <a:buNone/>
              </a:pPr>
              <a:t>‹#›</a:t>
            </a:fld>
            <a:endParaRPr lang="en-I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noProof="1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01/20/18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IN" altLang="en-US" dirty="0">
                <a:latin typeface="Arial" panose="020B0604020202020204" pitchFamily="34" charset="0"/>
              </a:rPr>
              <a:pPr lvl="0" eaLnBrk="1" hangingPunct="1">
                <a:buNone/>
              </a:pPr>
              <a:t>‹#›</a:t>
            </a:fld>
            <a:endParaRPr lang="en-I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7013" cy="45243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6613" y="1600200"/>
            <a:ext cx="4038600" cy="45243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01/20/18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IN" altLang="en-US" dirty="0">
                <a:latin typeface="Arial" panose="020B0604020202020204" pitchFamily="34" charset="0"/>
              </a:rPr>
              <a:pPr lvl="0" eaLnBrk="1" hangingPunct="1">
                <a:buNone/>
              </a:pPr>
              <a:t>‹#›</a:t>
            </a:fld>
            <a:endParaRPr lang="en-I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noProof="1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01/20/18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IN" altLang="en-US" dirty="0">
                <a:latin typeface="Arial" panose="020B0604020202020204" pitchFamily="34" charset="0"/>
              </a:rPr>
              <a:pPr lvl="0" eaLnBrk="1" hangingPunct="1">
                <a:buNone/>
              </a:pPr>
              <a:t>‹#›</a:t>
            </a:fld>
            <a:endParaRPr lang="en-I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01/20/18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IN" altLang="en-US" dirty="0">
                <a:latin typeface="Arial" panose="020B0604020202020204" pitchFamily="34" charset="0"/>
              </a:rPr>
              <a:pPr lvl="0" eaLnBrk="1" hangingPunct="1">
                <a:buNone/>
              </a:pPr>
              <a:t>‹#›</a:t>
            </a:fld>
            <a:endParaRPr lang="en-I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01/20/18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IN" altLang="en-US" dirty="0">
                <a:latin typeface="Arial" panose="020B0604020202020204" pitchFamily="34" charset="0"/>
              </a:rPr>
              <a:pPr lvl="0" eaLnBrk="1" hangingPunct="1">
                <a:buNone/>
              </a:pPr>
              <a:t>‹#›</a:t>
            </a:fld>
            <a:endParaRPr lang="en-I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noProof="1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01/20/18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IN" altLang="en-US" dirty="0">
                <a:latin typeface="Arial" panose="020B0604020202020204" pitchFamily="34" charset="0"/>
              </a:rPr>
              <a:pPr lvl="0" eaLnBrk="1" hangingPunct="1">
                <a:buNone/>
              </a:pPr>
              <a:t>‹#›</a:t>
            </a:fld>
            <a:endParaRPr lang="en-I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noProof="1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0000" tIns="46800" rIns="90000" bIns="4680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449580" rtl="0" eaLnBrk="0" fontAlgn="base" latinLnBrk="0" hangingPunct="0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Tx/>
              <a:buSzPct val="100000"/>
              <a:buFont typeface="Times New Roman" panose="02020603050405020304" pitchFamily="18" charset="0"/>
              <a:buNone/>
              <a:defRPr/>
            </a:pPr>
            <a:endParaRPr kumimoji="0" lang="en-US" sz="3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01/20/18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IN" altLang="en-US" dirty="0">
                <a:latin typeface="Arial" panose="020B0604020202020204" pitchFamily="34" charset="0"/>
              </a:rPr>
              <a:pPr lvl="0" eaLnBrk="1" hangingPunct="1">
                <a:buNone/>
              </a:pPr>
              <a:t>‹#›</a:t>
            </a:fld>
            <a:endParaRPr lang="en-I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01/20/18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IN" altLang="en-US" dirty="0">
                <a:latin typeface="Arial" panose="020B0604020202020204" pitchFamily="34" charset="0"/>
              </a:rPr>
              <a:pPr lvl="0" eaLnBrk="1" hangingPunct="1">
                <a:buNone/>
              </a:pPr>
              <a:t>‹#›</a:t>
            </a:fld>
            <a:endParaRPr lang="en-I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5813" cy="5849937"/>
          </a:xfrm>
        </p:spPr>
        <p:txBody>
          <a:bodyPr vert="eaVert"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49937"/>
          </a:xfrm>
        </p:spPr>
        <p:txBody>
          <a:bodyPr vert="eaVert"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01/20/18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IN" altLang="en-US" dirty="0">
                <a:latin typeface="Arial" panose="020B0604020202020204" pitchFamily="34" charset="0"/>
              </a:rPr>
              <a:pPr lvl="0" eaLnBrk="1" hangingPunct="1">
                <a:buNone/>
              </a:pPr>
              <a:t>‹#›</a:t>
            </a:fld>
            <a:endParaRPr lang="en-I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01/20/18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IN" altLang="en-US" dirty="0">
                <a:latin typeface="Arial" panose="020B0604020202020204" pitchFamily="34" charset="0"/>
              </a:rPr>
              <a:pPr lvl="0" eaLnBrk="1" hangingPunct="1">
                <a:buNone/>
              </a:pPr>
              <a:t>‹#›</a:t>
            </a:fld>
            <a:endParaRPr lang="en-I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8013" cy="1141412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ctr" anchorCtr="0"/>
          <a:lstStyle/>
          <a:p>
            <a:pPr lvl="0"/>
            <a:r>
              <a:rPr lang="en-GB" altLang="en-US" dirty="0"/>
              <a:t>Click to edit the title text format</a:t>
            </a:r>
          </a:p>
        </p:txBody>
      </p:sp>
      <p:sp>
        <p:nvSpPr>
          <p:cNvPr id="1027" name="Rectangle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013" cy="4524375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/>
          <a:lstStyle/>
          <a:p>
            <a:pPr lvl="0"/>
            <a:r>
              <a:rPr lang="en-GB" altLang="en-US" dirty="0"/>
              <a:t>Click to edit the outline text format</a:t>
            </a:r>
          </a:p>
          <a:p>
            <a:pPr lvl="1"/>
            <a:r>
              <a:rPr lang="en-GB" altLang="en-US" dirty="0"/>
              <a:t>Second Outline Level</a:t>
            </a:r>
          </a:p>
          <a:p>
            <a:pPr lvl="2"/>
            <a:r>
              <a:rPr lang="en-GB" altLang="en-US" dirty="0"/>
              <a:t>Third Outline Level</a:t>
            </a:r>
          </a:p>
          <a:p>
            <a:pPr lvl="3"/>
            <a:r>
              <a:rPr lang="en-GB" altLang="en-US" dirty="0"/>
              <a:t>Fourth Outline Level</a:t>
            </a:r>
          </a:p>
          <a:p>
            <a:pPr lvl="4"/>
            <a:r>
              <a:rPr lang="en-GB" altLang="en-US" dirty="0"/>
              <a:t>Fifth Outline Level</a:t>
            </a:r>
          </a:p>
          <a:p>
            <a:pPr lvl="4"/>
            <a:r>
              <a:rPr lang="en-GB" altLang="en-US" dirty="0"/>
              <a:t>Sixth Outline Level</a:t>
            </a:r>
          </a:p>
          <a:p>
            <a:pPr lvl="4"/>
            <a:r>
              <a:rPr lang="en-GB" altLang="en-US" dirty="0"/>
              <a:t>Seventh Outline Level</a:t>
            </a:r>
          </a:p>
        </p:txBody>
      </p:sp>
      <p:sp>
        <p:nvSpPr>
          <p:cNvPr id="2" name="Rectangle 3"/>
          <p:cNvSpPr>
            <a:spLocks noGrp="1" noChangeArrowheads="1"/>
          </p:cNvSpPr>
          <p:nvPr>
            <p:ph type="dt"/>
          </p:nvPr>
        </p:nvSpPr>
        <p:spPr bwMode="auto">
          <a:xfrm>
            <a:off x="457200" y="6356350"/>
            <a:ext cx="2132013" cy="363538"/>
          </a:xfrm>
          <a:prstGeom prst="rect">
            <a:avLst/>
          </a:prstGeom>
          <a:noFill/>
          <a:ln w="9525" cap="flat">
            <a:noFill/>
            <a:round/>
          </a:ln>
          <a:effectLst/>
        </p:spPr>
        <p:txBody>
          <a:bodyPr vert="horz" wrap="square" lIns="90000" tIns="46800" rIns="90000" bIns="46800" numCol="1" anchor="ctr" anchorCtr="0" compatLnSpc="1"/>
          <a:lstStyle>
            <a:lvl1pPr defTabSz="449580" eaLnBrk="1" hangingPunct="1"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01/20/18</a:t>
            </a:r>
          </a:p>
        </p:txBody>
      </p:sp>
      <p:sp>
        <p:nvSpPr>
          <p:cNvPr id="1029" name="Text Box 4"/>
          <p:cNvSpPr txBox="1">
            <a:spLocks noChangeArrowheads="1"/>
          </p:cNvSpPr>
          <p:nvPr/>
        </p:nvSpPr>
        <p:spPr bwMode="auto">
          <a:xfrm>
            <a:off x="3124200" y="6356350"/>
            <a:ext cx="2895600" cy="3651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Times New Roman" panose="02020603050405020304" pitchFamily="18" charset="0"/>
              <a:buNone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Noto Sans CJK SC Regular" charset="0"/>
              <a:cs typeface="Arial" panose="020B0604020202020204" pitchFamily="34" charset="0"/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sldNum"/>
          </p:nvPr>
        </p:nvSpPr>
        <p:spPr bwMode="auto">
          <a:xfrm>
            <a:off x="6553200" y="6356350"/>
            <a:ext cx="2132013" cy="363538"/>
          </a:xfrm>
          <a:prstGeom prst="rect">
            <a:avLst/>
          </a:prstGeom>
          <a:noFill/>
          <a:ln w="9525" cap="flat">
            <a:noFill/>
            <a:round/>
          </a:ln>
          <a:effectLst/>
        </p:spPr>
        <p:txBody>
          <a:bodyPr vert="horz" wrap="square" lIns="90000" tIns="46800" rIns="90000" bIns="46800" numCol="1" anchor="ctr" anchorCtr="0" compatLnSpc="1"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en-IN" altLang="en-US" dirty="0">
                <a:latin typeface="Arial" panose="020B0604020202020204" pitchFamily="34" charset="0"/>
              </a:rPr>
              <a:pPr lvl="0" eaLnBrk="1" hangingPunct="1">
                <a:buNone/>
              </a:pPr>
              <a:t>‹#›</a:t>
            </a:fld>
            <a:endParaRPr lang="en-IN" altLang="en-US" dirty="0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/>
  <p:txStyles>
    <p:titleStyle>
      <a:lvl1pPr algn="ctr" defTabSz="449580" rtl="0" eaLnBrk="0" fontAlgn="base" hangingPunct="0">
        <a:spcBef>
          <a:spcPct val="0"/>
        </a:spcBef>
        <a:spcAft>
          <a:spcPct val="0"/>
        </a:spcAft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+mj-lt"/>
          <a:ea typeface="+mj-ea"/>
          <a:cs typeface="+mj-cs"/>
        </a:defRPr>
      </a:lvl1pPr>
      <a:lvl2pPr algn="ctr" defTabSz="449580" rtl="0" eaLnBrk="0" fontAlgn="base" hangingPunct="0">
        <a:spcBef>
          <a:spcPct val="0"/>
        </a:spcBef>
        <a:spcAft>
          <a:spcPct val="0"/>
        </a:spcAft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Calibri" panose="020F0502020204030204" pitchFamily="34" charset="0"/>
          <a:ea typeface="Noto Sans CJK SC Regular" charset="0"/>
          <a:cs typeface="Noto Sans CJK SC Regular" charset="0"/>
        </a:defRPr>
      </a:lvl2pPr>
      <a:lvl3pPr algn="ctr" defTabSz="449580" rtl="0" eaLnBrk="0" fontAlgn="base" hangingPunct="0">
        <a:spcBef>
          <a:spcPct val="0"/>
        </a:spcBef>
        <a:spcAft>
          <a:spcPct val="0"/>
        </a:spcAft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Calibri" panose="020F0502020204030204" pitchFamily="34" charset="0"/>
          <a:ea typeface="Noto Sans CJK SC Regular" charset="0"/>
          <a:cs typeface="Noto Sans CJK SC Regular" charset="0"/>
        </a:defRPr>
      </a:lvl3pPr>
      <a:lvl4pPr algn="ctr" defTabSz="449580" rtl="0" eaLnBrk="0" fontAlgn="base" hangingPunct="0">
        <a:spcBef>
          <a:spcPct val="0"/>
        </a:spcBef>
        <a:spcAft>
          <a:spcPct val="0"/>
        </a:spcAft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Calibri" panose="020F0502020204030204" pitchFamily="34" charset="0"/>
          <a:ea typeface="Noto Sans CJK SC Regular" charset="0"/>
          <a:cs typeface="Noto Sans CJK SC Regular" charset="0"/>
        </a:defRPr>
      </a:lvl4pPr>
      <a:lvl5pPr algn="ctr" defTabSz="449580" rtl="0" eaLnBrk="0" fontAlgn="base" hangingPunct="0">
        <a:spcBef>
          <a:spcPct val="0"/>
        </a:spcBef>
        <a:spcAft>
          <a:spcPct val="0"/>
        </a:spcAft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Calibri" panose="020F0502020204030204" pitchFamily="34" charset="0"/>
          <a:ea typeface="Noto Sans CJK SC Regular" charset="0"/>
          <a:cs typeface="Noto Sans CJK SC Regular" charset="0"/>
        </a:defRPr>
      </a:lvl5pPr>
      <a:lvl6pPr marL="2514600" indent="-228600" algn="ctr" defTabSz="44958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Calibri" panose="020F0502020204030204" pitchFamily="34" charset="0"/>
          <a:ea typeface="Noto Sans CJK SC Regular" charset="0"/>
          <a:cs typeface="Noto Sans CJK SC Regular" charset="0"/>
        </a:defRPr>
      </a:lvl6pPr>
      <a:lvl7pPr marL="2971800" indent="-228600" algn="ctr" defTabSz="44958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Calibri" panose="020F0502020204030204" pitchFamily="34" charset="0"/>
          <a:ea typeface="Noto Sans CJK SC Regular" charset="0"/>
          <a:cs typeface="Noto Sans CJK SC Regular" charset="0"/>
        </a:defRPr>
      </a:lvl7pPr>
      <a:lvl8pPr marL="3429000" indent="-228600" algn="ctr" defTabSz="44958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Calibri" panose="020F0502020204030204" pitchFamily="34" charset="0"/>
          <a:ea typeface="Noto Sans CJK SC Regular" charset="0"/>
          <a:cs typeface="Noto Sans CJK SC Regular" charset="0"/>
        </a:defRPr>
      </a:lvl8pPr>
      <a:lvl9pPr marL="3886200" indent="-228600" algn="ctr" defTabSz="44958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Calibri" panose="020F0502020204030204" pitchFamily="34" charset="0"/>
          <a:ea typeface="Noto Sans CJK SC Regular" charset="0"/>
          <a:cs typeface="Noto Sans CJK SC Regular" charset="0"/>
        </a:defRPr>
      </a:lvl9pPr>
    </p:titleStyle>
    <p:bodyStyle>
      <a:lvl1pPr marL="342900" indent="-342900" algn="l" defTabSz="449580" rtl="0" eaLnBrk="0" fontAlgn="base" hangingPunct="0">
        <a:spcBef>
          <a:spcPts val="800"/>
        </a:spcBef>
        <a:spcAft>
          <a:spcPct val="0"/>
        </a:spcAft>
        <a:buSzPct val="100000"/>
        <a:buFont typeface="Times New Roman" panose="02020603050405020304" pitchFamily="18" charset="0"/>
        <a:buChar char="•"/>
        <a:defRPr sz="32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defTabSz="449580" rtl="0" eaLnBrk="0" fontAlgn="base" hangingPunct="0">
        <a:spcBef>
          <a:spcPts val="700"/>
        </a:spcBef>
        <a:spcAft>
          <a:spcPct val="0"/>
        </a:spcAft>
        <a:buSzPct val="100000"/>
        <a:buFont typeface="Times New Roman" panose="02020603050405020304" pitchFamily="18" charset="0"/>
        <a:buChar char="–"/>
        <a:defRPr sz="2800">
          <a:solidFill>
            <a:srgbClr val="000000"/>
          </a:solidFill>
          <a:latin typeface="+mn-lt"/>
          <a:ea typeface="+mn-ea"/>
          <a:cs typeface="+mn-cs"/>
        </a:defRPr>
      </a:lvl2pPr>
      <a:lvl3pPr marL="1143000" indent="-228600" algn="l" defTabSz="449580" rtl="0" eaLnBrk="0" fontAlgn="base" hangingPunct="0">
        <a:spcBef>
          <a:spcPts val="600"/>
        </a:spcBef>
        <a:spcAft>
          <a:spcPct val="0"/>
        </a:spcAft>
        <a:buSzPct val="100000"/>
        <a:buFont typeface="Times New Roman" panose="02020603050405020304" pitchFamily="18" charset="0"/>
        <a:buChar char="•"/>
        <a:defRPr sz="2400">
          <a:solidFill>
            <a:srgbClr val="000000"/>
          </a:solidFill>
          <a:latin typeface="+mn-lt"/>
          <a:ea typeface="+mn-ea"/>
          <a:cs typeface="+mn-cs"/>
        </a:defRPr>
      </a:lvl3pPr>
      <a:lvl4pPr marL="1600200" indent="-228600" algn="l" defTabSz="449580" rtl="0" eaLnBrk="0" fontAlgn="base" hangingPunct="0">
        <a:spcBef>
          <a:spcPts val="500"/>
        </a:spcBef>
        <a:spcAft>
          <a:spcPct val="0"/>
        </a:spcAft>
        <a:buSzPct val="100000"/>
        <a:buFont typeface="Times New Roman" panose="02020603050405020304" pitchFamily="18" charset="0"/>
        <a:buChar char="–"/>
        <a:defRPr sz="2000">
          <a:solidFill>
            <a:srgbClr val="000000"/>
          </a:solidFill>
          <a:latin typeface="+mn-lt"/>
          <a:ea typeface="+mn-ea"/>
          <a:cs typeface="+mn-cs"/>
        </a:defRPr>
      </a:lvl4pPr>
      <a:lvl5pPr marL="2057400" indent="-228600" algn="l" defTabSz="449580" rtl="0" eaLnBrk="0" fontAlgn="base" hangingPunct="0">
        <a:spcBef>
          <a:spcPts val="500"/>
        </a:spcBef>
        <a:spcAft>
          <a:spcPct val="0"/>
        </a:spcAft>
        <a:buSzPct val="100000"/>
        <a:buFont typeface="Times New Roman" panose="02020603050405020304" pitchFamily="18" charset="0"/>
        <a:buChar char="»"/>
        <a:defRPr sz="2000"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449580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000">
          <a:solidFill>
            <a:srgbClr val="000000"/>
          </a:solidFill>
          <a:latin typeface="+mn-lt"/>
          <a:ea typeface="+mn-ea"/>
          <a:cs typeface="+mn-cs"/>
        </a:defRPr>
      </a:lvl6pPr>
      <a:lvl7pPr marL="2971800" indent="-228600" algn="l" defTabSz="449580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000">
          <a:solidFill>
            <a:srgbClr val="000000"/>
          </a:solidFill>
          <a:latin typeface="+mn-lt"/>
          <a:ea typeface="+mn-ea"/>
          <a:cs typeface="+mn-cs"/>
        </a:defRPr>
      </a:lvl7pPr>
      <a:lvl8pPr marL="3429000" indent="-228600" algn="l" defTabSz="449580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000">
          <a:solidFill>
            <a:srgbClr val="000000"/>
          </a:solidFill>
          <a:latin typeface="+mn-lt"/>
          <a:ea typeface="+mn-ea"/>
          <a:cs typeface="+mn-cs"/>
        </a:defRPr>
      </a:lvl8pPr>
      <a:lvl9pPr marL="3886200" indent="-228600" algn="l" defTabSz="449580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000">
          <a:solidFill>
            <a:srgbClr val="000000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ext Box 1"/>
          <p:cNvSpPr txBox="1"/>
          <p:nvPr/>
        </p:nvSpPr>
        <p:spPr>
          <a:xfrm>
            <a:off x="228600" y="304800"/>
            <a:ext cx="8610600" cy="10668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algn="ctr" defTabSz="44958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IN" altLang="en-US" sz="3200" b="1" dirty="0">
                <a:solidFill>
                  <a:srgbClr val="000000"/>
                </a:solidFill>
                <a:latin typeface="Calibri" panose="020F0502020204030204" pitchFamily="34" charset="0"/>
              </a:rPr>
              <a:t>   </a:t>
            </a:r>
            <a:r>
              <a:rPr lang="en-IN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Assessment </a:t>
            </a:r>
          </a:p>
          <a:p>
            <a:pPr algn="ctr" defTabSz="44958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IN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(Summer Internship</a:t>
            </a:r>
            <a:r>
              <a:rPr lang="en-IN" altLang="en-US" sz="3200" b="1" dirty="0">
                <a:solidFill>
                  <a:srgbClr val="000000"/>
                </a:solidFill>
                <a:latin typeface="Calibri" panose="020F0502020204030204" pitchFamily="34" charset="0"/>
              </a:rPr>
              <a:t>)</a:t>
            </a:r>
          </a:p>
        </p:txBody>
      </p:sp>
      <p:sp>
        <p:nvSpPr>
          <p:cNvPr id="2051" name="Text Box 2"/>
          <p:cNvSpPr txBox="1"/>
          <p:nvPr/>
        </p:nvSpPr>
        <p:spPr>
          <a:xfrm>
            <a:off x="3291840" y="3429000"/>
            <a:ext cx="5486400" cy="137160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/>
          <a:lstStyle/>
          <a:p>
            <a:pPr>
              <a:spcAft>
                <a:spcPts val="300"/>
              </a:spcAft>
              <a:defRPr sz="1200" b="1">
                <a:solidFill>
                  <a:srgbClr val="0F172A"/>
                </a:solidFill>
                <a:latin typeface="Calibri"/>
              </a:defRPr>
            </a:pPr>
            <a:r>
              <a:t>       Submitted By                    Supervised By</a:t>
            </a:r>
          </a:p>
          <a:p>
            <a:pPr>
              <a:defRPr sz="1400">
                <a:solidFill>
                  <a:srgbClr val="0F172A"/>
                </a:solidFill>
                <a:latin typeface="Calibri"/>
              </a:defRPr>
            </a:pPr>
          </a:p>
          <a:p>
            <a:pPr>
              <a:defRPr sz="1400">
                <a:solidFill>
                  <a:srgbClr val="0F172A"/>
                </a:solidFill>
                <a:latin typeface="Calibri"/>
              </a:defRPr>
            </a:pPr>
          </a:p>
          <a:p>
            <a:pPr>
              <a:defRPr sz="1400">
                <a:solidFill>
                  <a:srgbClr val="0F172A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200" b="0">
                <a:solidFill>
                  <a:srgbClr val="334155"/>
                </a:solidFill>
                <a:latin typeface="Calibri"/>
              </a:defRPr>
            </a:pPr>
            <a:r>
              <a:t>   Piyush Tiwari        	Mr. Basudeo Singh Roohani</a:t>
            </a:r>
          </a:p>
          <a:p>
            <a:pPr>
              <a:spcAft>
                <a:spcPts val="300"/>
              </a:spcAft>
              <a:defRPr sz="1200" b="0">
                <a:solidFill>
                  <a:srgbClr val="334155"/>
                </a:solidFill>
                <a:latin typeface="Calibri"/>
              </a:defRPr>
            </a:pPr>
            <a:r>
              <a:t>   2301430100162		Assistant Professor</a:t>
            </a:r>
          </a:p>
          <a:p>
            <a:pPr>
              <a:spcAft>
                <a:spcPts val="300"/>
              </a:spcAft>
              <a:defRPr sz="1200" b="0">
                <a:solidFill>
                  <a:srgbClr val="334155"/>
                </a:solidFill>
                <a:latin typeface="Calibri"/>
              </a:defRPr>
            </a:pPr>
            <a:r>
              <a:t>   7th Sem, CSE-1                     Department: CSE</a:t>
            </a:r>
          </a:p>
        </p:txBody>
      </p:sp>
      <p:sp>
        <p:nvSpPr>
          <p:cNvPr id="2052" name="Text Box 3"/>
          <p:cNvSpPr txBox="1"/>
          <p:nvPr/>
        </p:nvSpPr>
        <p:spPr>
          <a:xfrm>
            <a:off x="228600" y="3429000"/>
            <a:ext cx="2926080" cy="13716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wrap="square"/>
          <a:lstStyle/>
          <a:p>
            <a:pPr algn="ctr" defTabSz="449580">
              <a:spcBef>
                <a:spcPts val="550"/>
              </a:spcBef>
              <a:spcAft>
                <a:spcPts val="30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F172A"/>
                </a:solidFill>
                <a:latin typeface="Calibri"/>
              </a:defRPr>
            </a:pPr>
            <a:r>
              <a:t>Submitted To</a:t>
            </a:r>
          </a:p>
          <a:p>
            <a:pPr algn="just" defTabSz="449580">
              <a:spcBef>
                <a:spcPts val="5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</a:p>
          <a:p>
            <a:pPr algn="just" defTabSz="449580">
              <a:spcBef>
                <a:spcPts val="5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IN" altLang="en-US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just" defTabSz="449580">
              <a:spcBef>
                <a:spcPts val="5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</a:p>
          <a:p>
            <a:pPr algn="ctr" defTabSz="449580">
              <a:spcBef>
                <a:spcPts val="5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altLang="en-US" sz="22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ctr" defTabSz="449580">
              <a:spcBef>
                <a:spcPts val="5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altLang="en-US" sz="2200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300"/>
              </a:spcAft>
              <a:defRPr sz="1200" b="0">
                <a:solidFill>
                  <a:srgbClr val="334155"/>
                </a:solidFill>
                <a:latin typeface="Calibri"/>
              </a:defRPr>
            </a:pPr>
            <a:r>
              <a:t>Mr. Basudeo Singh Roohani</a:t>
            </a:r>
          </a:p>
          <a:p>
            <a:pPr>
              <a:spcAft>
                <a:spcPts val="300"/>
              </a:spcAft>
              <a:defRPr sz="1200" b="0">
                <a:solidFill>
                  <a:srgbClr val="334155"/>
                </a:solidFill>
                <a:latin typeface="Calibri"/>
              </a:defRPr>
            </a:pPr>
            <a:r>
              <a:t>Ms. Swati Singh</a:t>
            </a:r>
          </a:p>
          <a:p>
            <a:pPr>
              <a:spcAft>
                <a:spcPts val="300"/>
              </a:spcAft>
              <a:defRPr sz="1100" b="0">
                <a:solidFill>
                  <a:srgbClr val="334155"/>
                </a:solidFill>
                <a:latin typeface="Calibri"/>
              </a:defRPr>
            </a:pPr>
            <a:r>
              <a:t>(Internship Coordinators)</a:t>
            </a:r>
          </a:p>
        </p:txBody>
      </p:sp>
      <p:sp>
        <p:nvSpPr>
          <p:cNvPr id="2053" name="Text Box 4"/>
          <p:cNvSpPr txBox="1"/>
          <p:nvPr/>
        </p:nvSpPr>
        <p:spPr>
          <a:xfrm>
            <a:off x="609600" y="5334000"/>
            <a:ext cx="7772400" cy="1295400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/>
          <a:lstStyle/>
          <a:p>
            <a:pPr algn="ctr" defTabSz="449580">
              <a:lnSpc>
                <a:spcPct val="9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Department of Computer Science &amp; Engineering</a:t>
            </a:r>
          </a:p>
          <a:p>
            <a:pPr algn="ctr" defTabSz="449580">
              <a:lnSpc>
                <a:spcPct val="90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IMS Engineering College, Ghaziabad, India</a:t>
            </a:r>
          </a:p>
          <a:p>
            <a:pPr algn="ctr" defTabSz="449580">
              <a:lnSpc>
                <a:spcPct val="90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24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2026-27)</a:t>
            </a:r>
            <a:endParaRPr lang="en-US" altLang="en-US" sz="2400" b="1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054" name="Text Box 6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ctr" anchorCtr="0"/>
          <a:lstStyle/>
          <a:p>
            <a:pPr algn="r" defTabSz="44958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A0DB2DC-4C9A-4742-B13C-FB6460FD3503}" type="slidenum">
              <a:rPr lang="en-IN" altLang="en-US" sz="1200" dirty="0">
                <a:solidFill>
                  <a:srgbClr val="898989"/>
                </a:solidFill>
                <a:latin typeface="Arial" panose="020B0604020202020204" pitchFamily="34" charset="0"/>
              </a:rPr>
              <a:pPr algn="r" defTabSz="44958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t>1</a:t>
            </a:fld>
            <a:endParaRPr lang="en-IN" altLang="en-US" sz="1200" dirty="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pic>
        <p:nvPicPr>
          <p:cNvPr id="2055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675" y="152400"/>
            <a:ext cx="1795463" cy="18462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6" name="TextBox 1"/>
          <p:cNvSpPr txBox="1"/>
          <p:nvPr/>
        </p:nvSpPr>
        <p:spPr>
          <a:xfrm>
            <a:off x="3238500" y="1143000"/>
            <a:ext cx="2667000" cy="7381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 eaLnBrk="0" hangingPunct="0"/>
            <a:r>
              <a:rPr lang="en-IN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</a:p>
          <a:p>
            <a:pPr algn="ctr" eaLnBrk="0" hangingPunct="0"/>
            <a:r>
              <a:rPr lang="en-I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Presentation</a:t>
            </a:r>
            <a:endParaRPr lang="en-I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057" name="TextBox 8"/>
          <p:cNvSpPr txBox="1"/>
          <p:nvPr/>
        </p:nvSpPr>
        <p:spPr>
          <a:xfrm>
            <a:off x="2286000" y="1691640"/>
            <a:ext cx="4389120" cy="822960"/>
          </a:xfrm>
          <a:prstGeom prst="rect">
            <a:avLst/>
          </a:prstGeom>
          <a:noFill/>
          <a:ln w="9525">
            <a:noFill/>
          </a:ln>
        </p:spPr>
        <p:txBody>
          <a:bodyPr wrap="square" tIns="0" bIns="0" lIns="0" rIns="0">
            <a:spAutoFit/>
          </a:bodyPr>
          <a:lstStyle/>
          <a:p>
            <a:pPr algn="ctr">
              <a:defRPr sz="2000" b="1">
                <a:solidFill>
                  <a:srgbClr val="0F172A"/>
                </a:solidFill>
                <a:latin typeface="Calibri"/>
              </a:defRPr>
            </a:pPr>
            <a:r>
              <a:t>On Predictive Maintenance for Jet Engines Using Machine Learning</a:t>
            </a:r>
          </a:p>
          <a:p>
            <a:pPr algn="ctr">
              <a:defRPr sz="2200" b="1">
                <a:solidFill>
                  <a:srgbClr val="FF0000"/>
                </a:solidFill>
                <a:latin typeface="Calibri"/>
              </a:defRPr>
            </a:p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Calibri"/>
              </a:defRPr>
            </a:pPr>
            <a:r>
              <a:t>Outline &amp; Table of Contents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62179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64748B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3840480" cy="4754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600" b="1">
                <a:solidFill>
                  <a:srgbClr val="0F172A"/>
                </a:solidFill>
                <a:latin typeface="Calibri"/>
              </a:rPr>
              <a:t>• 1. Introduction &amp; Objectives: </a:t>
            </a:r>
            <a:r>
              <a:rPr sz="1600" b="0">
                <a:solidFill>
                  <a:srgbClr val="334155"/>
                </a:solidFill>
                <a:latin typeface="Calibri"/>
              </a:rPr>
              <a:t>Industrial domain, aviation PHM technology &amp; project goals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0F172A"/>
                </a:solidFill>
                <a:latin typeface="Calibri"/>
              </a:rPr>
              <a:t>• 2. Problem Statement: </a:t>
            </a:r>
            <a:r>
              <a:rPr sz="1600" b="0">
                <a:solidFill>
                  <a:srgbClr val="334155"/>
                </a:solidFill>
                <a:latin typeface="Calibri"/>
              </a:rPr>
              <a:t>Challenges in engine failure prediction &amp; cost limitations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0F172A"/>
                </a:solidFill>
                <a:latin typeface="Calibri"/>
              </a:rPr>
              <a:t>• 3. Requirement Analysis: </a:t>
            </a:r>
            <a:r>
              <a:rPr sz="1600" b="0">
                <a:solidFill>
                  <a:srgbClr val="334155"/>
                </a:solidFill>
                <a:latin typeface="Calibri"/>
              </a:rPr>
              <a:t>Hardware setup &amp; software stack (Scikit-Learn, Pandas, NumPy)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0F172A"/>
                </a:solidFill>
                <a:latin typeface="Calibri"/>
              </a:rPr>
              <a:t>• 4. System Methodology &amp; Flowchart: </a:t>
            </a:r>
            <a:r>
              <a:rPr sz="1600" b="0">
                <a:solidFill>
                  <a:srgbClr val="334155"/>
                </a:solidFill>
                <a:latin typeface="Calibri"/>
              </a:rPr>
              <a:t>End-to-end telemetry ingestion &amp; pipeline flow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0F172A"/>
                </a:solidFill>
                <a:latin typeface="Calibri"/>
              </a:rPr>
              <a:t>• 5. Sensor Preprocessing: </a:t>
            </a:r>
            <a:r>
              <a:rPr sz="1600" b="0">
                <a:solidFill>
                  <a:srgbClr val="334155"/>
                </a:solidFill>
                <a:latin typeface="Calibri"/>
              </a:rPr>
              <a:t>5-cycle rolling statistics &amp; correlation filtering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63440" y="1188720"/>
            <a:ext cx="3840480" cy="4754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600" b="1">
                <a:solidFill>
                  <a:srgbClr val="0F172A"/>
                </a:solidFill>
                <a:latin typeface="Calibri"/>
              </a:rPr>
              <a:t>• 6. Dataset &amp; Feature Details: </a:t>
            </a:r>
            <a:r>
              <a:rPr sz="1600" b="0">
                <a:solidFill>
                  <a:srgbClr val="334155"/>
                </a:solidFill>
                <a:latin typeface="Calibri"/>
              </a:rPr>
              <a:t>NASA C-MAPSS 21-sensor dataset (20,631 cycles)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0F172A"/>
                </a:solidFill>
                <a:latin typeface="Calibri"/>
              </a:rPr>
              <a:t>• 7. Tri-Model AI Architecture: </a:t>
            </a:r>
            <a:r>
              <a:rPr sz="1600" b="0">
                <a:solidFill>
                  <a:srgbClr val="334155"/>
                </a:solidFill>
                <a:latin typeface="Calibri"/>
              </a:rPr>
              <a:t>Random Forest, 30d Classifier &amp; Neural MLP Net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0F172A"/>
                </a:solidFill>
                <a:latin typeface="Calibri"/>
              </a:rPr>
              <a:t>• 8. Interactive Terminal Diagnostic: </a:t>
            </a:r>
            <a:r>
              <a:rPr sz="1600" b="0">
                <a:solidFill>
                  <a:srgbClr val="334155"/>
                </a:solidFill>
                <a:latin typeface="Calibri"/>
              </a:rPr>
              <a:t>Native Python CLI app (predict.py) &amp; threshold gating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0F172A"/>
                </a:solidFill>
                <a:latin typeface="Calibri"/>
              </a:rPr>
              <a:t>• 9. Results &amp; Performance Analysis: </a:t>
            </a:r>
            <a:r>
              <a:rPr sz="1600" b="0">
                <a:solidFill>
                  <a:srgbClr val="334155"/>
                </a:solidFill>
                <a:latin typeface="Calibri"/>
              </a:rPr>
              <a:t>AUC-ROC (98.45%), RMSE (33.39), &amp; per-model table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0F172A"/>
                </a:solidFill>
                <a:latin typeface="Calibri"/>
              </a:rPr>
              <a:t>• 10. Conclusion &amp; References: </a:t>
            </a:r>
            <a:r>
              <a:rPr sz="1600" b="0">
                <a:solidFill>
                  <a:srgbClr val="334155"/>
                </a:solidFill>
                <a:latin typeface="Calibri"/>
              </a:rPr>
              <a:t>Summary of achievements, future scope &amp; academic 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Calibri"/>
              </a:defRPr>
            </a:pPr>
            <a:r>
              <a:t>Introduction &amp;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62179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64748B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8046720" cy="4846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rPr sz="1800" b="1">
                <a:solidFill>
                  <a:srgbClr val="0F172A"/>
                </a:solidFill>
                <a:latin typeface="Calibri"/>
              </a:rPr>
              <a:t>• Domain of Work: </a:t>
            </a:r>
            <a:r>
              <a:rPr sz="1800" b="0">
                <a:solidFill>
                  <a:srgbClr val="334155"/>
                </a:solidFill>
                <a:latin typeface="Calibri"/>
              </a:rPr>
              <a:t>Industrial AI, Reliability Engineering &amp; Aviation Prognostics Health Management (PHM).</a:t>
            </a:r>
          </a:p>
          <a:p>
            <a:pPr>
              <a:spcAft>
                <a:spcPts val="6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F172A"/>
                </a:solidFill>
                <a:latin typeface="Calibri"/>
              </a:rPr>
              <a:t>• Industrial Context: </a:t>
            </a:r>
            <a:r>
              <a:rPr sz="1800" b="0">
                <a:solidFill>
                  <a:srgbClr val="334155"/>
                </a:solidFill>
                <a:latin typeface="Calibri"/>
              </a:rPr>
              <a:t>Commercial Aircraft Turbofan Jet Engine Fleet Maintenance Operations &amp; Maintenance.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F172A"/>
                </a:solidFill>
                <a:latin typeface="Calibri"/>
              </a:rPr>
              <a:t>• Core Operational Shift: </a:t>
            </a:r>
            <a:r>
              <a:rPr sz="1800" b="0">
                <a:solidFill>
                  <a:srgbClr val="334155"/>
                </a:solidFill>
                <a:latin typeface="Calibri"/>
              </a:rPr>
              <a:t>Transitioning from static time-servicing to AI predictive maintenance.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F172A"/>
                </a:solidFill>
                <a:latin typeface="Calibri"/>
              </a:rPr>
              <a:t>• Primary Objective: </a:t>
            </a:r>
            <a:r>
              <a:rPr sz="1800" b="0">
                <a:solidFill>
                  <a:srgbClr val="334155"/>
                </a:solidFill>
                <a:latin typeface="Calibri"/>
              </a:rPr>
              <a:t>Utilize 21 sensor streams to forecast Remaining Useful Life (RUL) before breakdown.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F172A"/>
                </a:solidFill>
                <a:latin typeface="Calibri"/>
              </a:rPr>
              <a:t>• Supervision &amp; Mentorship: </a:t>
            </a:r>
            <a:r>
              <a:rPr sz="1800" b="0">
                <a:solidFill>
                  <a:srgbClr val="334155"/>
                </a:solidFill>
                <a:latin typeface="Calibri"/>
              </a:rPr>
              <a:t>Mentored by Alex Chao during Data Science Career Track Bootcamp.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Calibri"/>
              </a:defRPr>
            </a:pPr>
            <a:r>
              <a:t>Problem Statement &amp; 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62179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64748B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8046720" cy="4846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rPr sz="1800" b="1">
                <a:solidFill>
                  <a:srgbClr val="0F172A"/>
                </a:solidFill>
                <a:latin typeface="Calibri"/>
              </a:rPr>
              <a:t>• Unscheduled Groundings: </a:t>
            </a:r>
            <a:r>
              <a:rPr sz="1800" b="0">
                <a:solidFill>
                  <a:srgbClr val="334155"/>
                </a:solidFill>
                <a:latin typeface="Calibri"/>
              </a:rPr>
              <a:t>Sudden engine failures cause expensive flight delays and severe safety risks.</a:t>
            </a:r>
          </a:p>
          <a:p>
            <a:pPr>
              <a:spcAft>
                <a:spcPts val="6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F172A"/>
                </a:solidFill>
                <a:latin typeface="Calibri"/>
              </a:rPr>
              <a:t>• Static Maintenance Inefficiency: </a:t>
            </a:r>
            <a:r>
              <a:rPr sz="1800" b="0">
                <a:solidFill>
                  <a:srgbClr val="334155"/>
                </a:solidFill>
                <a:latin typeface="Calibri"/>
              </a:rPr>
              <a:t>Replaces functional turbofan parts prematurely or misses failure events.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F172A"/>
                </a:solidFill>
                <a:latin typeface="Calibri"/>
              </a:rPr>
              <a:t>• High Sensor Fluctuation: </a:t>
            </a:r>
            <a:r>
              <a:rPr sz="1800" b="0">
                <a:solidFill>
                  <a:srgbClr val="334155"/>
                </a:solidFill>
                <a:latin typeface="Calibri"/>
              </a:rPr>
              <a:t>21 continuous telemetry streams exhibit noisy non-linear degradation trends.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F172A"/>
                </a:solidFill>
                <a:latin typeface="Calibri"/>
              </a:rPr>
              <a:t>• Multi-Model Solution: </a:t>
            </a:r>
            <a:r>
              <a:rPr sz="1800" b="0">
                <a:solidFill>
                  <a:srgbClr val="334155"/>
                </a:solidFill>
                <a:latin typeface="Calibri"/>
              </a:rPr>
              <a:t>Deploy Regression for RUL, Binary 30d Alerts, and Multi-Class Hazard Rating.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F172A"/>
                </a:solidFill>
                <a:latin typeface="Calibri"/>
              </a:rPr>
              <a:t>• Real-Time Constraint: </a:t>
            </a:r>
            <a:r>
              <a:rPr sz="1800" b="0">
                <a:solidFill>
                  <a:srgbClr val="334155"/>
                </a:solidFill>
                <a:latin typeface="Calibri"/>
              </a:rPr>
              <a:t>Achieve fast sub-30ms inference latency for immediate operational dispatch.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Calibri"/>
              </a:defRPr>
            </a:pPr>
            <a:r>
              <a:t>Requirement Analysis (S/W &amp; H/W)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62179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64748B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8046720" cy="4846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rPr sz="1800" b="1">
                <a:solidFill>
                  <a:srgbClr val="0F172A"/>
                </a:solidFill>
                <a:latin typeface="Calibri"/>
              </a:rPr>
              <a:t>• Hardware Requirements: </a:t>
            </a:r>
            <a:r>
              <a:rPr sz="1800" b="0">
                <a:solidFill>
                  <a:srgbClr val="334155"/>
                </a:solidFill>
                <a:latin typeface="Calibri"/>
              </a:rPr>
              <a:t>Intel Core i5/i7 Processor, 16GB RAM, SSD Storage Environment.</a:t>
            </a:r>
          </a:p>
          <a:p>
            <a:pPr>
              <a:spcAft>
                <a:spcPts val="6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F172A"/>
                </a:solidFill>
                <a:latin typeface="Calibri"/>
              </a:rPr>
              <a:t>• Programming Language: </a:t>
            </a:r>
            <a:r>
              <a:rPr sz="1800" b="0">
                <a:solidFill>
                  <a:srgbClr val="334155"/>
                </a:solidFill>
                <a:latin typeface="Calibri"/>
              </a:rPr>
              <a:t>Python 3.11 (Core predictive logic, data wrangling &amp; model serialization).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F172A"/>
                </a:solidFill>
                <a:latin typeface="Calibri"/>
              </a:rPr>
              <a:t>• Machine Learning Frameworks: </a:t>
            </a:r>
            <a:r>
              <a:rPr sz="1800" b="0">
                <a:solidFill>
                  <a:srgbClr val="334155"/>
                </a:solidFill>
                <a:latin typeface="Calibri"/>
              </a:rPr>
              <a:t>Scikit-Learn 1.3+ (Random Forest, SVM, MLP Neural Classifier).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F172A"/>
                </a:solidFill>
                <a:latin typeface="Calibri"/>
              </a:rPr>
              <a:t>• Data &amp; Signal Libraries: </a:t>
            </a:r>
            <a:r>
              <a:rPr sz="1800" b="0">
                <a:solidFill>
                  <a:srgbClr val="334155"/>
                </a:solidFill>
                <a:latin typeface="Calibri"/>
              </a:rPr>
              <a:t>Pandas, NumPy, SciPy for 5-cycle rolling window aggregations.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F172A"/>
                </a:solidFill>
                <a:latin typeface="Calibri"/>
              </a:rPr>
              <a:t>• Visualization Frameworks: </a:t>
            </a:r>
            <a:r>
              <a:rPr sz="1800" b="0">
                <a:solidFill>
                  <a:srgbClr val="334155"/>
                </a:solidFill>
                <a:latin typeface="Calibri"/>
              </a:rPr>
              <a:t>Matplotlib, Seaborn for publication-grade metric evaluation charts.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Calibri"/>
              </a:defRPr>
            </a:pPr>
            <a:r>
              <a:t>System Methodology &amp; Data Flowchart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62179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64748B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3657600" cy="4754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0F172A"/>
                </a:solidFill>
                <a:latin typeface="Calibri"/>
              </a:rPr>
              <a:t>• Stage 1 Ingestion: </a:t>
            </a:r>
            <a:r>
              <a:rPr sz="1500" b="0">
                <a:solidFill>
                  <a:srgbClr val="334155"/>
                </a:solidFill>
                <a:latin typeface="Calibri"/>
              </a:rPr>
              <a:t>NASA C-MAPSS telemetry dataset with 21 sensors &amp; 3 settings.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0F172A"/>
                </a:solidFill>
                <a:latin typeface="Calibri"/>
              </a:rPr>
              <a:t>• Stage 2 Preprocessing: </a:t>
            </a:r>
            <a:r>
              <a:rPr sz="1500" b="0">
                <a:solidFill>
                  <a:srgbClr val="334155"/>
                </a:solidFill>
                <a:latin typeface="Calibri"/>
              </a:rPr>
              <a:t>5-cycle rolling mean &amp; standard deviation aggregations.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0F172A"/>
                </a:solidFill>
                <a:latin typeface="Calibri"/>
              </a:rPr>
              <a:t>• Stage 3 Filter: </a:t>
            </a:r>
            <a:r>
              <a:rPr sz="1500" b="0">
                <a:solidFill>
                  <a:srgbClr val="334155"/>
                </a:solidFill>
                <a:latin typeface="Calibri"/>
              </a:rPr>
              <a:t>Eliminates redundant sensor pairs with correlation r &gt; 0.80.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0F172A"/>
                </a:solidFill>
                <a:latin typeface="Calibri"/>
              </a:rPr>
              <a:t>• Stage 4 AI Inference: </a:t>
            </a:r>
            <a:r>
              <a:rPr sz="1500" b="0">
                <a:solidFill>
                  <a:srgbClr val="334155"/>
                </a:solidFill>
                <a:latin typeface="Calibri"/>
              </a:rPr>
              <a:t>Tri-model engine: RUL Regressor, Binary 30d Classifier &amp; Neural MLP.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0F172A"/>
                </a:solidFill>
                <a:latin typeface="Calibri"/>
              </a:rPr>
              <a:t>• Stage 5 Actionable Report: </a:t>
            </a:r>
            <a:r>
              <a:rPr sz="1500" b="0">
                <a:solidFill>
                  <a:srgbClr val="334155"/>
                </a:solidFill>
                <a:latin typeface="Calibri"/>
              </a:rPr>
              <a:t>Computes health score, cost optimization &amp; fleet maintenance schedule.</a:t>
            </a:r>
          </a:p>
        </p:txBody>
      </p:sp>
      <p:pic>
        <p:nvPicPr>
          <p:cNvPr id="5" name="Picture 4" descr="vertical_flowchart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005840"/>
            <a:ext cx="438912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Calibri"/>
              </a:defRPr>
            </a:pPr>
            <a:r>
              <a:t>Sensor Preprocessing &amp; Rolling Statistics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62179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64748B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8046720" cy="4846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rPr sz="1800" b="1">
                <a:solidFill>
                  <a:srgbClr val="0F172A"/>
                </a:solidFill>
                <a:latin typeface="Calibri"/>
              </a:rPr>
              <a:t>• Rolling Window Aggregations: </a:t>
            </a:r>
            <a:r>
              <a:rPr sz="1800" b="0">
                <a:solidFill>
                  <a:srgbClr val="334155"/>
                </a:solidFill>
                <a:latin typeface="Calibri"/>
              </a:rPr>
              <a:t>Computes 5-cycle rolling mean (av) and rolling std (sd) per sensor.</a:t>
            </a:r>
          </a:p>
          <a:p>
            <a:pPr>
              <a:spcAft>
                <a:spcPts val="6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F172A"/>
                </a:solidFill>
                <a:latin typeface="Calibri"/>
              </a:rPr>
              <a:t>• Signal Noise Reduction: </a:t>
            </a:r>
            <a:r>
              <a:rPr sz="1800" b="0">
                <a:solidFill>
                  <a:srgbClr val="334155"/>
                </a:solidFill>
                <a:latin typeface="Calibri"/>
              </a:rPr>
              <a:t>Smooths high-frequency sensor fluctuation to expose true degradation physics.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F172A"/>
                </a:solidFill>
                <a:latin typeface="Calibri"/>
              </a:rPr>
              <a:t>• Multicollinearity Filtering: </a:t>
            </a:r>
            <a:r>
              <a:rPr sz="1800" b="0">
                <a:solidFill>
                  <a:srgbClr val="334155"/>
                </a:solidFill>
                <a:latin typeface="Calibri"/>
              </a:rPr>
              <a:t>Eliminates highly correlated sensor pairs like (s14, s9) with r &gt; 0.80.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F172A"/>
                </a:solidFill>
                <a:latin typeface="Calibri"/>
              </a:rPr>
              <a:t>• Scale &amp; Position Normalization: </a:t>
            </a:r>
            <a:r>
              <a:rPr sz="1800" b="0">
                <a:solidFill>
                  <a:srgbClr val="334155"/>
                </a:solidFill>
                <a:latin typeface="Calibri"/>
              </a:rPr>
              <a:t>StandardScaler normalization ensures robustness across operating settings.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F172A"/>
                </a:solidFill>
                <a:latin typeface="Calibri"/>
              </a:rPr>
              <a:t>• Compact Feature Dimension: </a:t>
            </a:r>
            <a:r>
              <a:rPr sz="1800" b="0">
                <a:solidFill>
                  <a:srgbClr val="334155"/>
                </a:solidFill>
                <a:latin typeface="Calibri"/>
              </a:rPr>
              <a:t>Expands raw telemetry data into a structured 45-element feature vector.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Calibri"/>
              </a:defRPr>
            </a:pPr>
            <a:r>
              <a:t>Dataset &amp; Feature Engineering 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62179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64748B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8046720" cy="4846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rPr sz="1800" b="1">
                <a:solidFill>
                  <a:srgbClr val="0F172A"/>
                </a:solidFill>
                <a:latin typeface="Calibri"/>
              </a:rPr>
              <a:t>• Dataset Size &amp; Support: </a:t>
            </a:r>
            <a:r>
              <a:rPr sz="1800" b="0">
                <a:solidFill>
                  <a:srgbClr val="334155"/>
                </a:solidFill>
                <a:latin typeface="Calibri"/>
              </a:rPr>
              <a:t>NASA Ames Prognostics Center of Excellence C-MAPSS Turbofan Simulation Dataset.</a:t>
            </a:r>
          </a:p>
          <a:p>
            <a:pPr>
              <a:spcAft>
                <a:spcPts val="6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F172A"/>
                </a:solidFill>
                <a:latin typeface="Calibri"/>
              </a:rPr>
              <a:t>• Training Fleet Size: </a:t>
            </a:r>
            <a:r>
              <a:rPr sz="1800" b="0">
                <a:solidFill>
                  <a:srgbClr val="334155"/>
                </a:solidFill>
                <a:latin typeface="Calibri"/>
              </a:rPr>
              <a:t>100 turbofan engines run-to-failure containing 20,631 operational cycles.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F172A"/>
                </a:solidFill>
                <a:latin typeface="Calibri"/>
              </a:rPr>
              <a:t>• Testing Fleet Size: </a:t>
            </a:r>
            <a:r>
              <a:rPr sz="1800" b="0">
                <a:solidFill>
                  <a:srgbClr val="334155"/>
                </a:solidFill>
                <a:latin typeface="Calibri"/>
              </a:rPr>
              <a:t>100 engines with ground-truth Remaining Useful Life (TTF) validation labels.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F172A"/>
                </a:solidFill>
                <a:latin typeface="Calibri"/>
              </a:rPr>
              <a:t>• Target Classification Windows: </a:t>
            </a:r>
            <a:r>
              <a:rPr sz="1800" b="0">
                <a:solidFill>
                  <a:srgbClr val="334155"/>
                </a:solidFill>
                <a:latin typeface="Calibri"/>
              </a:rPr>
              <a:t>30-cycle failure warning window (w1 = 30) and 15-cycle urgent window (w0 = 15).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F172A"/>
                </a:solidFill>
                <a:latin typeface="Calibri"/>
              </a:rPr>
              <a:t>• Dataset Quality: </a:t>
            </a:r>
            <a:r>
              <a:rPr sz="1800" b="0">
                <a:solidFill>
                  <a:srgbClr val="334155"/>
                </a:solidFill>
                <a:latin typeface="Calibri"/>
              </a:rPr>
              <a:t>Zero missing values, numeric sensor streams, preprocessed clean target series.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Calibri"/>
              </a:defRPr>
            </a:pPr>
            <a:r>
              <a:t>Tri-Model Predictive AI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62179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64748B"/>
                </a:solidFill>
                <a:latin typeface="Calibri"/>
              </a:defRPr>
            </a:pPr>
            <a:r>
              <a:t>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8046720" cy="4846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rPr sz="1800" b="1">
                <a:solidFill>
                  <a:srgbClr val="0F172A"/>
                </a:solidFill>
                <a:latin typeface="Calibri"/>
              </a:rPr>
              <a:t>• 1. RUL Regression Model: </a:t>
            </a:r>
            <a:r>
              <a:rPr sz="1800" b="0">
                <a:solidFill>
                  <a:srgbClr val="334155"/>
                </a:solidFill>
                <a:latin typeface="Calibri"/>
              </a:rPr>
              <a:t>Random Forest Regressor predicting exact cycles remaining before failure.</a:t>
            </a:r>
          </a:p>
          <a:p>
            <a:pPr>
              <a:spcAft>
                <a:spcPts val="6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F172A"/>
                </a:solidFill>
                <a:latin typeface="Calibri"/>
              </a:rPr>
              <a:t>• 2. Binary 30-Cycle Warning Classifier: </a:t>
            </a:r>
            <a:r>
              <a:rPr sz="1800" b="0">
                <a:solidFill>
                  <a:srgbClr val="334155"/>
                </a:solidFill>
                <a:latin typeface="Calibri"/>
              </a:rPr>
              <a:t>Random Forest Classifier predicting 30d failure window.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F172A"/>
                </a:solidFill>
                <a:latin typeface="Calibri"/>
              </a:rPr>
              <a:t>• 3. Multi-Class Neural MLP: </a:t>
            </a:r>
            <a:r>
              <a:rPr sz="1800" b="0">
                <a:solidFill>
                  <a:srgbClr val="334155"/>
                </a:solidFill>
                <a:latin typeface="Calibri"/>
              </a:rPr>
              <a:t>Multi-Layer Perceptron (100, 50 hidden neurons) for 3-tier hazard rating.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F172A"/>
                </a:solidFill>
                <a:latin typeface="Calibri"/>
              </a:rPr>
              <a:t>• Multi-Tier Hazard Classes: </a:t>
            </a:r>
            <a:r>
              <a:rPr sz="1800" b="0">
                <a:solidFill>
                  <a:srgbClr val="334155"/>
                </a:solidFill>
                <a:latin typeface="Calibri"/>
              </a:rPr>
              <a:t>Healthy (&gt;30 cycles), Warning (15-30 cycles), Critical (&lt;=15 cycles).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F172A"/>
                </a:solidFill>
                <a:latin typeface="Calibri"/>
              </a:rPr>
              <a:t>• Softmax Risk Output: </a:t>
            </a:r>
            <a:r>
              <a:rPr sz="1800" b="0">
                <a:solidFill>
                  <a:srgbClr val="334155"/>
                </a:solidFill>
                <a:latin typeface="Calibri"/>
              </a:rPr>
              <a:t>Neural net produces normalized probability distributions over risk categories.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Calibri"/>
              </a:defRPr>
            </a:pPr>
            <a:r>
              <a:t>Interactive Terminal Diagnostic Engine (predict.py)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62179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64748B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8046720" cy="4846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rPr sz="1800" b="1">
                <a:solidFill>
                  <a:srgbClr val="0F172A"/>
                </a:solidFill>
                <a:latin typeface="Calibri"/>
              </a:rPr>
              <a:t>• Command-Line Diagnostic Tool: </a:t>
            </a:r>
            <a:r>
              <a:rPr sz="1800" b="0">
                <a:solidFill>
                  <a:srgbClr val="334155"/>
                </a:solidFill>
                <a:latin typeface="Calibri"/>
              </a:rPr>
              <a:t>Built using Python argparse &amp; serialized model pickle files.</a:t>
            </a:r>
          </a:p>
          <a:p>
            <a:pPr>
              <a:spcAft>
                <a:spcPts val="6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F172A"/>
                </a:solidFill>
                <a:latin typeface="Calibri"/>
              </a:rPr>
              <a:t>• Execution Command: </a:t>
            </a:r>
            <a:r>
              <a:rPr sz="1800" b="0">
                <a:solidFill>
                  <a:srgbClr val="334155"/>
                </a:solidFill>
                <a:latin typeface="Calibri"/>
              </a:rPr>
              <a:t>python predict.py --engine_id 81 (Evaluates any engine from fleet 1-100).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F172A"/>
                </a:solidFill>
                <a:latin typeface="Calibri"/>
              </a:rPr>
              <a:t>• Diagnostic Output Parameters: </a:t>
            </a:r>
            <a:r>
              <a:rPr sz="1800" b="0">
                <a:solidFill>
                  <a:srgbClr val="334155"/>
                </a:solidFill>
                <a:latin typeface="Calibri"/>
              </a:rPr>
              <a:t>Estimated Remaining RUL, 30-cycle failure probability, risk rating.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F172A"/>
                </a:solidFill>
                <a:latin typeface="Calibri"/>
              </a:rPr>
              <a:t>• Risk Rating Formatting: </a:t>
            </a:r>
            <a:r>
              <a:rPr sz="1800" b="0">
                <a:solidFill>
                  <a:srgbClr val="334155"/>
                </a:solidFill>
                <a:latin typeface="Calibri"/>
              </a:rPr>
              <a:t>Displays GREEN (Healthy), YELLOW (Warning), and RED (Critical) status.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F172A"/>
                </a:solidFill>
                <a:latin typeface="Calibri"/>
              </a:rPr>
              <a:t>• Actionable Maintenance Recommendation: </a:t>
            </a:r>
            <a:r>
              <a:rPr sz="1800" b="0">
                <a:solidFill>
                  <a:srgbClr val="334155"/>
                </a:solidFill>
                <a:latin typeface="Calibri"/>
              </a:rPr>
              <a:t>Instructs fleet managers to ground aircraft or schedule service.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Calibri"/>
              </a:defRPr>
            </a:pPr>
            <a:r>
              <a:t>Fleet Hazard Gating &amp; Alert Dispatch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62179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64748B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8046720" cy="4846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rPr sz="1800" b="1">
                <a:solidFill>
                  <a:srgbClr val="0F172A"/>
                </a:solidFill>
                <a:latin typeface="Calibri"/>
              </a:rPr>
              <a:t>• Operational Thresholding: </a:t>
            </a:r>
            <a:r>
              <a:rPr sz="1800" b="0">
                <a:solidFill>
                  <a:srgbClr val="334155"/>
                </a:solidFill>
                <a:latin typeface="Calibri"/>
              </a:rPr>
              <a:t>Categorizes engine hazard state into 3 distinct operational buckets.</a:t>
            </a:r>
          </a:p>
          <a:p>
            <a:pPr>
              <a:spcAft>
                <a:spcPts val="6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F172A"/>
                </a:solidFill>
                <a:latin typeface="Calibri"/>
              </a:rPr>
              <a:t>• Healthy State (Green): </a:t>
            </a:r>
            <a:r>
              <a:rPr sz="1800" b="0">
                <a:solidFill>
                  <a:srgbClr val="334155"/>
                </a:solidFill>
                <a:latin typeface="Calibri"/>
              </a:rPr>
              <a:t>RUL &gt; 30 cycles; engine remains in normal operational flight status.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F172A"/>
                </a:solidFill>
                <a:latin typeface="Calibri"/>
              </a:rPr>
              <a:t>• Warning Window (Yellow): </a:t>
            </a:r>
            <a:r>
              <a:rPr sz="1800" b="0">
                <a:solidFill>
                  <a:srgbClr val="334155"/>
                </a:solidFill>
                <a:latin typeface="Calibri"/>
              </a:rPr>
              <a:t>15 &lt; RUL &lt;= 30 cycles; schedule preventive maintenance within 5 cycles.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F172A"/>
                </a:solidFill>
                <a:latin typeface="Calibri"/>
              </a:rPr>
              <a:t>• Critical Action (Red): </a:t>
            </a:r>
            <a:r>
              <a:rPr sz="1800" b="0">
                <a:solidFill>
                  <a:srgbClr val="334155"/>
                </a:solidFill>
                <a:latin typeface="Calibri"/>
              </a:rPr>
              <a:t>RUL &lt;= 15 cycles; ground aircraft for immediate engine overhaul within 24h.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F172A"/>
                </a:solidFill>
                <a:latin typeface="Calibri"/>
              </a:rPr>
              <a:t>• Sub-30ms Inference Latency: </a:t>
            </a:r>
            <a:r>
              <a:rPr sz="1800" b="0">
                <a:solidFill>
                  <a:srgbClr val="334155"/>
                </a:solidFill>
                <a:latin typeface="Calibri"/>
              </a:rPr>
              <a:t>Ensures smooth live diagnostic reporting without latency or delay.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Calibri"/>
              </a:defRPr>
            </a:pPr>
            <a:r>
              <a:t>Empirical Results &amp; Model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62179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64748B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8046720" cy="4846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rPr sz="1800" b="1">
                <a:solidFill>
                  <a:srgbClr val="0F172A"/>
                </a:solidFill>
                <a:latin typeface="Calibri"/>
              </a:rPr>
              <a:t>• Binary Failure Warning AUC-ROC: </a:t>
            </a:r>
            <a:r>
              <a:rPr sz="1800" b="0">
                <a:solidFill>
                  <a:srgbClr val="334155"/>
                </a:solidFill>
                <a:latin typeface="Calibri"/>
              </a:rPr>
              <a:t>Achieved 98.45% (0.9845) AUC-ROC score on test evaluation set.</a:t>
            </a:r>
          </a:p>
          <a:p>
            <a:pPr>
              <a:spcAft>
                <a:spcPts val="6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F172A"/>
                </a:solidFill>
                <a:latin typeface="Calibri"/>
              </a:rPr>
              <a:t>• Binary Alert Precision: </a:t>
            </a:r>
            <a:r>
              <a:rPr sz="1800" b="0">
                <a:solidFill>
                  <a:srgbClr val="334155"/>
                </a:solidFill>
                <a:latin typeface="Calibri"/>
              </a:rPr>
              <a:t>Achieved 94.44% Precision on positive failure window warnings.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F172A"/>
                </a:solidFill>
                <a:latin typeface="Calibri"/>
              </a:rPr>
              <a:t>• RUL Regression RMSE: </a:t>
            </a:r>
            <a:r>
              <a:rPr sz="1800" b="0">
                <a:solidFill>
                  <a:srgbClr val="334155"/>
                </a:solidFill>
                <a:latin typeface="Calibri"/>
              </a:rPr>
              <a:t>Achieved 33.39 cycles Root Mean Squared Error (MAE: 22.90 cycles).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F172A"/>
                </a:solidFill>
                <a:latin typeface="Calibri"/>
              </a:rPr>
              <a:t>• Multi-Class Neural MLP Accuracy: </a:t>
            </a:r>
            <a:r>
              <a:rPr sz="1800" b="0">
                <a:solidFill>
                  <a:srgbClr val="334155"/>
                </a:solidFill>
                <a:latin typeface="Calibri"/>
              </a:rPr>
              <a:t>Achieved 75.00% exact multi-class categorization accuracy.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F172A"/>
                </a:solidFill>
                <a:latin typeface="Calibri"/>
              </a:rPr>
              <a:t>• Inference Latency: </a:t>
            </a:r>
            <a:r>
              <a:rPr sz="1800" b="0">
                <a:solidFill>
                  <a:srgbClr val="334155"/>
                </a:solidFill>
                <a:latin typeface="Calibri"/>
              </a:rPr>
              <a:t>Average diagnostic computation time under 30ms operating on test data.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Calibri"/>
              </a:defRPr>
            </a:pPr>
            <a:r>
              <a:t>Per-Class Evaluation Methodology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62179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334155"/>
                </a:solidFill>
                <a:latin typeface="Calibri"/>
              </a:defRPr>
            </a:pPr>
            <a:r>
              <a:t>13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188720"/>
          <a:ext cx="804672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9344"/>
                <a:gridCol w="1609344"/>
                <a:gridCol w="1609344"/>
                <a:gridCol w="1609344"/>
                <a:gridCol w="1609344"/>
              </a:tblGrid>
              <a:tr h="33059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Model Paradigm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Algorithm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Primary Metric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Score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3059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Regression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Random Forest Regressor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RMSE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33.39 Cycles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Best RUL Model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059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Regression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Polynomial Reg (d=2)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RMSE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36.12 Cycles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Benchmark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3059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Regression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Decision Tree Regressor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RMSE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38.20 Cycles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Baseline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059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Regression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Linear / Ridge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RMSE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39.15 Cycles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Linear Baseline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3059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Binary (30d)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Random Forest Classifier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AUC-ROC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98.45%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Best Classifier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059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Binary (30d)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Naive Bayes (Gaussian)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Recall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88.00%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High Recall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3059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Binary (30d)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Linear SVC (Features)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Precision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89.00%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High Precision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059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Binary (30d)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Support Vector (RBF)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Precision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100.00%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Zero FP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3059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Multi-Class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Neural Network MLP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75.00%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Best Hazard Net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059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Multi-Class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Random Forest MC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71.00%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Tree Ensemble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3059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Multi-Class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Decision Tree MC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64.00%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Decision Tree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06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Multi-Class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Naive Bayes MC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58.00%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Bayesian Baseline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5669280"/>
            <a:ext cx="8046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334155"/>
                </a:solidFill>
                <a:latin typeface="Calibri"/>
              </a:defRPr>
            </a:pPr>
            <a:r>
              <a:t>Table 1: Per-Class Precision, Recall, F1-Score, and Support Sample Counts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Calibri"/>
              </a:defRPr>
            </a:pPr>
            <a:r>
              <a:t>Observations &amp; Result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62179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64748B"/>
                </a:solidFill>
                <a:latin typeface="Calibri"/>
              </a:defRPr>
            </a:pPr>
            <a: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8046720" cy="4846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rPr sz="1800" b="1">
                <a:solidFill>
                  <a:srgbClr val="0F172A"/>
                </a:solidFill>
                <a:latin typeface="Calibri"/>
              </a:rPr>
              <a:t>• Feature Engineering Impact: </a:t>
            </a:r>
            <a:r>
              <a:rPr sz="1800" b="0">
                <a:solidFill>
                  <a:srgbClr val="334155"/>
                </a:solidFill>
                <a:latin typeface="Calibri"/>
              </a:rPr>
              <a:t>5-cycle rolling statistics (av, sd) significantly outperform raw sensors.</a:t>
            </a:r>
          </a:p>
          <a:p>
            <a:pPr>
              <a:spcAft>
                <a:spcPts val="6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F172A"/>
                </a:solidFill>
                <a:latin typeface="Calibri"/>
              </a:rPr>
              <a:t>• Optimal Thresholding: </a:t>
            </a:r>
            <a:r>
              <a:rPr sz="1800" b="0">
                <a:solidFill>
                  <a:srgbClr val="334155"/>
                </a:solidFill>
                <a:latin typeface="Calibri"/>
              </a:rPr>
              <a:t>Operating Random Forest at tau = 0.17 yields 100% precision &amp; 68% recall.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F172A"/>
                </a:solidFill>
                <a:latin typeface="Calibri"/>
              </a:rPr>
              <a:t>• Cost Matrix Minimization: </a:t>
            </a:r>
            <a:r>
              <a:rPr sz="1800" b="0">
                <a:solidFill>
                  <a:srgbClr val="334155"/>
                </a:solidFill>
                <a:latin typeface="Calibri"/>
              </a:rPr>
              <a:t>Prevents $250,000+ catastrophic in-flight failures via planned $15,000 repairs.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F172A"/>
                </a:solidFill>
                <a:latin typeface="Calibri"/>
              </a:rPr>
              <a:t>• Neural Network Stability: </a:t>
            </a:r>
            <a:r>
              <a:rPr sz="1800" b="0">
                <a:solidFill>
                  <a:srgbClr val="334155"/>
                </a:solidFill>
                <a:latin typeface="Calibri"/>
              </a:rPr>
              <a:t>Multi-layer Perceptron provides high accuracy on critical hazard windows.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F172A"/>
                </a:solidFill>
                <a:latin typeface="Calibri"/>
              </a:rPr>
              <a:t>• Maintenance Capacity Dispatch: </a:t>
            </a:r>
            <a:r>
              <a:rPr sz="1800" b="0">
                <a:solidFill>
                  <a:srgbClr val="334155"/>
                </a:solidFill>
                <a:latin typeface="Calibri"/>
              </a:rPr>
              <a:t>Efficiently queues engines based on RUL urgency rank.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Calibri"/>
              </a:defRPr>
            </a:pPr>
            <a:r>
              <a:t>Conclusion &amp;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62179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64748B"/>
                </a:solidFill>
                <a:latin typeface="Calibri"/>
              </a:defRPr>
            </a:pPr>
            <a:r>
              <a:t>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8046720" cy="4846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rPr sz="1800" b="1">
                <a:solidFill>
                  <a:srgbClr val="0F172A"/>
                </a:solidFill>
                <a:latin typeface="Calibri"/>
              </a:rPr>
              <a:t>• Successful System Delivery: </a:t>
            </a:r>
            <a:r>
              <a:rPr sz="1800" b="0">
                <a:solidFill>
                  <a:srgbClr val="334155"/>
                </a:solidFill>
                <a:latin typeface="Calibri"/>
              </a:rPr>
              <a:t>Built a complete predictive health management pipeline for jet engines.</a:t>
            </a:r>
          </a:p>
          <a:p>
            <a:pPr>
              <a:spcAft>
                <a:spcPts val="6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F172A"/>
                </a:solidFill>
                <a:latin typeface="Calibri"/>
              </a:rPr>
              <a:t>• High Predictive Performance: </a:t>
            </a:r>
            <a:r>
              <a:rPr sz="1800" b="0">
                <a:solidFill>
                  <a:srgbClr val="334155"/>
                </a:solidFill>
                <a:latin typeface="Calibri"/>
              </a:rPr>
              <a:t>Achieved 98.45% AUC-ROC failure detection and 33.39 cycles RUL RMSE.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F172A"/>
                </a:solidFill>
                <a:latin typeface="Calibri"/>
              </a:rPr>
              <a:t>• Sign-to-Speech &amp; CLI Integration: </a:t>
            </a:r>
            <a:r>
              <a:rPr sz="1800" b="0">
                <a:solidFill>
                  <a:srgbClr val="334155"/>
                </a:solidFill>
                <a:latin typeface="Calibri"/>
              </a:rPr>
              <a:t>Successfully integrated interactive predict.py CLI diagnostic tool.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F172A"/>
                </a:solidFill>
                <a:latin typeface="Calibri"/>
              </a:rPr>
              <a:t>• Native Python Implementation: </a:t>
            </a:r>
            <a:r>
              <a:rPr sz="1800" b="0">
                <a:solidFill>
                  <a:srgbClr val="334155"/>
                </a:solidFill>
                <a:latin typeface="Calibri"/>
              </a:rPr>
              <a:t>Developed clean 100% Python pipeline &amp; serialized model artifacts.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F172A"/>
                </a:solidFill>
                <a:latin typeface="Calibri"/>
              </a:rPr>
              <a:t>• Fleet Cost Minimization: </a:t>
            </a:r>
            <a:r>
              <a:rPr sz="1800" b="0">
                <a:solidFill>
                  <a:srgbClr val="334155"/>
                </a:solidFill>
                <a:latin typeface="Calibri"/>
              </a:rPr>
              <a:t>Optimizes maintenance capacity allocation and eliminates flight delays.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Calibri"/>
              </a:defRPr>
            </a:pPr>
            <a:r>
              <a:t>Future Scope &amp;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62179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64748B"/>
                </a:solidFill>
                <a:latin typeface="Calibri"/>
              </a:defRPr>
            </a:pPr>
            <a:r>
              <a:t>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8046720" cy="4846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rPr sz="1800" b="1">
                <a:solidFill>
                  <a:srgbClr val="0F172A"/>
                </a:solidFill>
                <a:latin typeface="Calibri"/>
              </a:rPr>
              <a:t>• Deep Time-Series Architecture: </a:t>
            </a:r>
            <a:r>
              <a:rPr sz="1800" b="0">
                <a:solidFill>
                  <a:srgbClr val="334155"/>
                </a:solidFill>
                <a:latin typeface="Calibri"/>
              </a:rPr>
              <a:t>Integrate Recurrent LSTM and Transformer networks for temporal dynamics.</a:t>
            </a:r>
          </a:p>
          <a:p>
            <a:pPr>
              <a:spcAft>
                <a:spcPts val="6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F172A"/>
                </a:solidFill>
                <a:latin typeface="Calibri"/>
              </a:rPr>
              <a:t>• Sentence-Level Flight Profiles: </a:t>
            </a:r>
            <a:r>
              <a:rPr sz="1800" b="0">
                <a:solidFill>
                  <a:srgbClr val="334155"/>
                </a:solidFill>
                <a:latin typeface="Calibri"/>
              </a:rPr>
              <a:t>Extend from single-mode steady flights to multi-profile flight regimes.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F172A"/>
                </a:solidFill>
                <a:latin typeface="Calibri"/>
              </a:rPr>
              <a:t>• Mobile &amp; Edge Deployment: </a:t>
            </a:r>
            <a:r>
              <a:rPr sz="1800" b="0">
                <a:solidFill>
                  <a:srgbClr val="334155"/>
                </a:solidFill>
                <a:latin typeface="Calibri"/>
              </a:rPr>
              <a:t>Export model to TensorFlow Lite (TFLite) for deployment on avionics hardware.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F172A"/>
                </a:solidFill>
                <a:latin typeface="Calibri"/>
              </a:rPr>
              <a:t>• Cloud Streaming API: </a:t>
            </a:r>
            <a:r>
              <a:rPr sz="1800" b="0">
                <a:solidFill>
                  <a:srgbClr val="334155"/>
                </a:solidFill>
                <a:latin typeface="Calibri"/>
              </a:rPr>
              <a:t>Deploy REST API endpoints for real-time IoT stream data ingestion.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F172A"/>
                </a:solidFill>
                <a:latin typeface="Calibri"/>
              </a:rPr>
              <a:t>• Dataset Mirror Augmentation: </a:t>
            </a:r>
            <a:r>
              <a:rPr sz="1800" b="0">
                <a:solidFill>
                  <a:srgbClr val="334155"/>
                </a:solidFill>
                <a:latin typeface="Calibri"/>
              </a:rPr>
              <a:t>Incorporate synthetic degradation data augmentation for long-tail failures.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Calibri"/>
              </a:defRPr>
            </a:pPr>
            <a:r>
              <a:t>References &amp; Bibliography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62179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64748B"/>
                </a:solidFill>
                <a:latin typeface="Calibri"/>
              </a:defRPr>
            </a:pPr>
            <a:r>
              <a:t>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8046720" cy="4846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334155"/>
                </a:solidFill>
                <a:latin typeface="Calibri"/>
              </a:defRPr>
            </a:pPr>
            <a:r>
              <a:rPr sz="1800" b="1">
                <a:solidFill>
                  <a:srgbClr val="0F172A"/>
                </a:solidFill>
                <a:latin typeface="Calibri"/>
              </a:rPr>
              <a:t>• 1. NASA Ames Prognostics Center of Excellence - </a:t>
            </a:r>
            <a:r>
              <a:rPr sz="1800" b="0">
                <a:solidFill>
                  <a:srgbClr val="334155"/>
                </a:solidFill>
                <a:latin typeface="Calibri"/>
              </a:rPr>
              <a:t>C-MAPSS Jet Engine Degradation Dataset, 2024.</a:t>
            </a:r>
          </a:p>
          <a:p>
            <a:pPr>
              <a:spcAft>
                <a:spcPts val="600"/>
              </a:spcAft>
              <a:defRPr sz="2000" b="0">
                <a:solidFill>
                  <a:srgbClr val="334155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2000" b="0">
                <a:solidFill>
                  <a:srgbClr val="334155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2000" b="0">
                <a:solidFill>
                  <a:srgbClr val="334155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2000" b="0">
                <a:solidFill>
                  <a:srgbClr val="334155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2000" b="0">
                <a:solidFill>
                  <a:srgbClr val="334155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F172A"/>
                </a:solidFill>
                <a:latin typeface="Calibri"/>
              </a:rPr>
              <a:t>• 2. Saxena, A., et al., </a:t>
            </a:r>
            <a:r>
              <a:rPr sz="1800" b="0">
                <a:solidFill>
                  <a:srgbClr val="334155"/>
                </a:solidFill>
                <a:latin typeface="Calibri"/>
              </a:rPr>
              <a:t>'Damage Propagation Modeling for Aircraft Engine Simulation', IEEE, 2008.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F172A"/>
                </a:solidFill>
                <a:latin typeface="Calibri"/>
              </a:rPr>
              <a:t>• 3. Springboard Data Science Career Track - </a:t>
            </a:r>
            <a:r>
              <a:rPr sz="1800" b="0">
                <a:solidFill>
                  <a:srgbClr val="334155"/>
                </a:solidFill>
                <a:latin typeface="Calibri"/>
              </a:rPr>
              <a:t>Bootcamp Curriculum &amp; Mentorship, 2026.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F172A"/>
                </a:solidFill>
                <a:latin typeface="Calibri"/>
              </a:rPr>
              <a:t>• 4. Scikit-Learn Open Source Library - </a:t>
            </a:r>
            <a:r>
              <a:rPr sz="1800" b="0">
                <a:solidFill>
                  <a:srgbClr val="334155"/>
                </a:solidFill>
                <a:latin typeface="Calibri"/>
              </a:rPr>
              <a:t>Machine Learning &amp; Neural Network Documentation, 2026.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F172A"/>
                </a:solidFill>
                <a:latin typeface="Calibri"/>
              </a:rPr>
              <a:t>• 5. Google Keras 3.3 &amp; TensorFlow 2.17 - </a:t>
            </a:r>
            <a:r>
              <a:rPr sz="1800" b="0">
                <a:solidFill>
                  <a:srgbClr val="334155"/>
                </a:solidFill>
                <a:latin typeface="Calibri"/>
              </a:rPr>
              <a:t>Official Documentation and API Reference, 2026.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F172A"/>
                </a:solidFill>
                <a:latin typeface="Calibri"/>
              </a:rPr>
              <a:t>• 6. Microsoft Azure Machine Learning - </a:t>
            </a:r>
            <a:r>
              <a:rPr sz="1800" b="0">
                <a:solidFill>
                  <a:srgbClr val="334155"/>
                </a:solidFill>
                <a:latin typeface="Calibri"/>
              </a:rPr>
              <a:t>Predictive Maintenance Simulation Templates, 2026.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371600"/>
            <a:ext cx="8046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F172A"/>
                </a:solidFill>
                <a:latin typeface="Calibri"/>
              </a:defRPr>
            </a:pPr>
            <a:r>
              <a:t>Thank You!</a:t>
            </a:r>
          </a:p>
          <a:p>
            <a:pPr algn="ctr">
              <a:defRPr sz="2800" b="1">
                <a:solidFill>
                  <a:srgbClr val="0D6EFD"/>
                </a:solidFill>
                <a:latin typeface="Calibri"/>
              </a:defRPr>
            </a:pPr>
            <a:r>
              <a:t>Questions &amp; Discussion</a:t>
            </a:r>
          </a:p>
          <a:p>
            <a:br/>
            <a:pPr algn="ctr">
              <a:defRPr sz="2000" b="0">
                <a:solidFill>
                  <a:srgbClr val="334155"/>
                </a:solidFill>
                <a:latin typeface="Calibri"/>
              </a:defRPr>
            </a:pPr>
            <a:r>
              <a:t>Presented By: Piyush Tiwari</a:t>
            </a:r>
            <a:br/>
            <a:r>
              <a:t>Roll No: 2100270100000 | 7th Sem, CSE-1</a:t>
            </a:r>
            <a:br/>
            <a:r>
              <a:t>IMS Engineering College, Ghaziabad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Calibri"/>
        <a:ea typeface="Noto Sans CJK SC Regular"/>
        <a:cs typeface="Noto Sans CJK SC Regular"/>
      </a:majorFont>
      <a:minorFont>
        <a:latin typeface="Calibri"/>
        <a:ea typeface="Noto Sans CJK SC Regular"/>
        <a:cs typeface="Noto Sans CJK SC Regula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44958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anose="02020603050405020304" pitchFamily="18" charset="0"/>
          <a:buNone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panose="020B0604020202020204" pitchFamily="34" charset="0"/>
            <a:cs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44958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anose="02020603050405020304" pitchFamily="18" charset="0"/>
          <a:buNone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panose="020B0604020202020204" pitchFamily="34" charset="0"/>
            <a:cs typeface="Arial" panose="020B0604020202020204" pitchFamily="34" charset="0"/>
          </a:defRPr>
        </a:defPPr>
      </a:lst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407</Words>
  <Application>WPS Presentation</Application>
  <PresentationFormat>On-screen Show (4:3)</PresentationFormat>
  <Paragraphs>64</Paragraphs>
  <Slides>8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Slide 1</vt:lpstr>
      <vt:lpstr>Slide 2</vt:lpstr>
      <vt:lpstr>Objectives</vt:lpstr>
      <vt:lpstr>Methodology</vt:lpstr>
      <vt:lpstr>Results &amp; Analysis</vt:lpstr>
      <vt:lpstr>Conclusion &amp; Future Work</vt:lpstr>
      <vt:lpstr>Thank You</vt:lpstr>
      <vt:lpstr>Recommended Font Sizes for Internship PPTs Presentation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Performance Evaluation of Routing Protocol  Under Security Attacks</dc:title>
  <dc:creator>SAINATH</dc:creator>
  <cp:lastModifiedBy>Faculty</cp:lastModifiedBy>
  <cp:revision>368</cp:revision>
  <dcterms:created xsi:type="dcterms:W3CDTF">2012-05-24T06:22:00Z</dcterms:created>
  <dcterms:modified xsi:type="dcterms:W3CDTF">2026-07-14T09:29:41Z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FC636E2E2A264E20A1776DCA2C0207AF_13</vt:lpwstr>
  </property>
  <property fmtid="{D5CDD505-2E9C-101B-9397-08002B2CF9AE}" pid="3" name="KSOProductBuildVer">
    <vt:lpwstr>1033-12.2.0.22222</vt:lpwstr>
  </property>
</Properties>
</file>