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latin typeface="Times New Roman"/>
              </a:rPr>
              <a:t>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1. Introduction &amp; Objectives: </a:t>
            </a:r>
            <a:r>
              <a:rPr sz="2000" b="0">
                <a:solidFill>
                  <a:srgbClr val="334155"/>
                </a:solidFill>
                <a:latin typeface="Calibri"/>
              </a:rPr>
              <a:t>Industrial domain, PHM technology, predictive maintenance &amp; project goals.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2. Problem Statement &amp; Motivation: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Unscheduled aircraft engine failures, delays &amp; servicing inefficiencies.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2000" b="0">
                <a:solidFill>
                  <a:srgbClr val="334155"/>
                </a:solidFill>
                <a:latin typeface="Calibri"/>
              </a:rPr>
              <a:t>Hardware specifications, Python 3.11, Scikit-Learn &amp; data library requirements.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4. Dataset &amp; Feature Details: </a:t>
            </a:r>
            <a:r>
              <a:rPr sz="2000" b="0">
                <a:solidFill>
                  <a:srgbClr val="334155"/>
                </a:solidFill>
                <a:latin typeface="Calibri"/>
              </a:rPr>
              <a:t>NASA C-MAPSS 21-sensor telemetry dataset &amp; rolling window aggregations.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5. System Methodology &amp; Flowchart: </a:t>
            </a:r>
            <a:r>
              <a:rPr sz="2000" b="0">
                <a:solidFill>
                  <a:srgbClr val="334155"/>
                </a:solidFill>
                <a:latin typeface="Calibri"/>
              </a:rPr>
              <a:t>Multi-stage data ingestion, feature extraction &amp; tri-model inference.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6. Tri-Model AI Architecture: </a:t>
            </a:r>
            <a:r>
              <a:rPr sz="2000" b="0">
                <a:solidFill>
                  <a:srgbClr val="334155"/>
                </a:solidFill>
                <a:latin typeface="Calibri"/>
              </a:rPr>
              <a:t>RUL Regression, Binary 30d Warning Classifier &amp; Multi-Class Neural MLP.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7. Empirical Results &amp; Evaluation Table: </a:t>
            </a:r>
            <a:r>
              <a:rPr sz="2000" b="0">
                <a:solidFill>
                  <a:srgbClr val="334155"/>
                </a:solidFill>
                <a:latin typeface="Calibri"/>
              </a:rPr>
              <a:t>98.45% AUC-ROC score &amp; per-model benchmark analysis.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8. Real-Time Diagnostic Tool: </a:t>
            </a:r>
            <a:r>
              <a:rPr sz="2000" b="0">
                <a:solidFill>
                  <a:srgbClr val="334155"/>
                </a:solidFill>
                <a:latin typeface="Calibri"/>
              </a:rPr>
              <a:t>Command-line execution runner (predict.py) &amp; fleet capacity dispatch.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9. Conclusion &amp; References: </a:t>
            </a:r>
            <a:r>
              <a:rPr sz="2000" b="0">
                <a:solidFill>
                  <a:srgbClr val="334155"/>
                </a:solidFill>
                <a:latin typeface="Calibri"/>
              </a:rPr>
              <a:t>Summary of achievements, business cost optimization &amp; bibliography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2000" b="0">
                <a:solidFill>
                  <a:srgbClr val="334155"/>
                </a:solidFill>
                <a:latin typeface="Calibri"/>
              </a:rPr>
              <a:t>Industrial AI, Reliability Engineering &amp; Aviation Prognostics Health Management (PHM).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2000" b="0">
                <a:solidFill>
                  <a:srgbClr val="334155"/>
                </a:solidFill>
                <a:latin typeface="Calibri"/>
              </a:rPr>
              <a:t>Commercial Aircraft Turbofan Jet Engine Fleet Maintenance Operations &amp; Maintenance.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Core Operational Shift: </a:t>
            </a:r>
            <a:r>
              <a:rPr sz="2000" b="0">
                <a:solidFill>
                  <a:srgbClr val="334155"/>
                </a:solidFill>
                <a:latin typeface="Calibri"/>
              </a:rPr>
              <a:t>Transitioning from static time-servicing to AI predictive maintenance.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2000" b="0">
                <a:solidFill>
                  <a:srgbClr val="334155"/>
                </a:solidFill>
                <a:latin typeface="Calibri"/>
              </a:rPr>
              <a:t>Utilize 21 sensor streams to forecast Remaining Useful Life (RUL) before breakdown.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20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2000" b="0">
                <a:solidFill>
                  <a:srgbClr val="334155"/>
                </a:solidFill>
                <a:latin typeface="Calibri"/>
              </a:rPr>
              <a:t>Sudden engine failures cause expensive flight delays and severe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2000" b="0">
                <a:solidFill>
                  <a:srgbClr val="334155"/>
                </a:solidFill>
                <a:latin typeface="Calibri"/>
              </a:rPr>
              <a:t>Replaces functional turbofan parts prematurely or misses failure events.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High Sensor Fluctuation: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21 continuous telemetry streams exhibit noisy non-linear degradation trends.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Real-Time Constraint: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 fast sub-30ms inference latency for immediate operational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Hardware Requirements: </a:t>
            </a:r>
            <a:r>
              <a:rPr sz="2000" b="0">
                <a:solidFill>
                  <a:srgbClr val="334155"/>
                </a:solidFill>
                <a:latin typeface="Calibri"/>
              </a:rPr>
              <a:t>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Programming Language: </a:t>
            </a:r>
            <a:r>
              <a:rPr sz="2000" b="0">
                <a:solidFill>
                  <a:srgbClr val="334155"/>
                </a:solidFill>
                <a:latin typeface="Calibri"/>
              </a:rPr>
              <a:t>Python 3.11 (Core predictive logic, data wrangling &amp; model serialization).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20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2000" b="0">
                <a:solidFill>
                  <a:srgbClr val="334155"/>
                </a:solidFill>
                <a:latin typeface="Calibri"/>
              </a:rPr>
              <a:t>Pandas, NumPy, SciPy for 5-cycle rolling window aggregations.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2000" b="0">
                <a:solidFill>
                  <a:srgbClr val="334155"/>
                </a:solidFill>
                <a:latin typeface="Calibri"/>
              </a:rPr>
              <a:t>Matplotlib, Seaborn for publication-grade metric evaluation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1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Telemetry Ingestion</a:t>
            </a:r>
            <a:br/>
            <a:r>
              <a:t>(NASA C-MAPSS 21 Sensors)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88920" y="2057400"/>
            <a:ext cx="457200" cy="274320"/>
          </a:xfrm>
          <a:prstGeom prst="rightArrow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2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Rolling Feature Engine</a:t>
            </a:r>
            <a:br/>
            <a:r>
              <a:t>(5-Cycle Mean &amp; Std Dev)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057400"/>
            <a:ext cx="4572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3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Multicollinearity Filter</a:t>
            </a:r>
            <a:br/>
            <a:r>
              <a:t>(Correlation Reduction r&gt;0.80)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4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RUL Regression Net</a:t>
            </a:r>
            <a:br/>
            <a:r>
              <a:t>(Random Forest Regressor)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251959"/>
            <a:ext cx="45720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5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Binary 30d Classifier</a:t>
            </a:r>
            <a:br/>
            <a:r>
              <a:t>(98.45% AUC-ROC Model)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32120" y="4251959"/>
            <a:ext cx="4572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  <a:defRPr sz="1600" b="1">
                <a:solidFill>
                  <a:srgbClr val="0284C7"/>
                </a:solidFill>
                <a:latin typeface="Calibri"/>
              </a:defRPr>
            </a:pPr>
            <a:r>
              <a:t>STAGE 6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</a:p>
          <a:p>
            <a:pPr algn="ctr">
              <a:defRPr sz="1300" b="0">
                <a:solidFill>
                  <a:srgbClr val="0F172A"/>
                </a:solidFill>
                <a:latin typeface="Calibri"/>
              </a:defRPr>
            </a:pPr>
            <a:r>
              <a:t>Multi-Class Neural MLP</a:t>
            </a:r>
            <a:br/>
            <a:r>
              <a:t>(3-Tier Risk Hazard Dispatch)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7784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Figure 1: End-to-End Predictive Maintenance Data Flow &amp; Inference Pipeline Flowchart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2000" b="0">
                <a:solidFill>
                  <a:srgbClr val="334155"/>
                </a:solidFill>
                <a:latin typeface="Calibri"/>
              </a:rPr>
              <a:t>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Signal Noise Reduction: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Smooths high-frequency sensor fluctuation to expose true degradation physics.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Scale &amp; Position Normalization: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StandardScaler normalization ensures robustness across operating settings.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Compact Feature Dimension: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Expands raw telemetry data into a structured 45-element feature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Dataset Size &amp; Support: </a:t>
            </a:r>
            <a:r>
              <a:rPr sz="2000" b="0">
                <a:solidFill>
                  <a:srgbClr val="334155"/>
                </a:solidFill>
                <a:latin typeface="Calibri"/>
              </a:rPr>
              <a:t>NASA Ames Prognostics Center of Excellence C-MAPSS Turbofan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20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20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Target Classification Windows: </a:t>
            </a:r>
            <a:r>
              <a:rPr sz="20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20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20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20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20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Multi-Tier Hazard Classes: </a:t>
            </a:r>
            <a:r>
              <a:rPr sz="20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Softmax Risk Output: </a:t>
            </a:r>
            <a:r>
              <a:rPr sz="20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Command-Line Diagnostic Tool: </a:t>
            </a:r>
            <a:r>
              <a:rPr sz="20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20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20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Risk Rating Formatting: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Actionable Maintenance Recommendation: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20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20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20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Sub-30ms Inference Latency: </a:t>
            </a:r>
            <a:r>
              <a:rPr sz="20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Inference Latency: </a:t>
            </a:r>
            <a:r>
              <a:rPr sz="20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20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20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20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Maintenance Capacity Dispatch: </a:t>
            </a:r>
            <a:r>
              <a:rPr sz="20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20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20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Sign-to-Speech &amp; CLI Integration: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Native Python Implementation: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20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Sentence-Level Flight Profiles: </a:t>
            </a:r>
            <a:r>
              <a:rPr sz="20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Mobile &amp; Edge Deployment: </a:t>
            </a:r>
            <a:r>
              <a:rPr sz="2000" b="0">
                <a:solidFill>
                  <a:srgbClr val="334155"/>
                </a:solidFill>
                <a:latin typeface="Calibri"/>
              </a:rPr>
              <a:t>Export model to TensorFlow Lite (TFLite) for deployment on avionics hardware.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Cloud Streaming API: </a:t>
            </a:r>
            <a:r>
              <a:rPr sz="20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Dataset Mirror Augmentation: </a:t>
            </a:r>
            <a:r>
              <a:rPr sz="20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20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20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20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20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5. Google Keras 3.3 &amp; TensorFlow 2.17 - </a:t>
            </a:r>
            <a:r>
              <a:rPr sz="20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• 6. Microsoft Azure Machine Learning - </a:t>
            </a:r>
            <a:r>
              <a:rPr sz="20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2100270100000 | 7th Sem, CSE-1 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