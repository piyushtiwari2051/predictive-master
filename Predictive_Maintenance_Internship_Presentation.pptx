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50520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    Submitted By                    Supervised By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Piyush Tiwari        	Name of Supervisor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2100270100000		Designation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7th Sem, CSE-1                     Department: CSE</a:t>
            </a: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34290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	      Mr. Basudeo Singh Roohani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Ms. Swati Singh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(Internship Coordinators)</a:t>
            </a: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667000" y="2057400"/>
            <a:ext cx="3733800" cy="6461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/>
            <a:r>
              <a:rPr lang="en-US" altLang="x-none" b="1" dirty="0">
                <a:solidFill>
                  <a:schemeClr val="tx1"/>
                </a:solidFill>
                <a:latin typeface="Arial" panose="020B0604020202020204" pitchFamily="34" charset="0"/>
              </a:rPr>
              <a:t>On</a:t>
            </a:r>
          </a:p>
          <a:p>
            <a:pPr algn="ctr">
              <a:defRPr sz="2200" b="1">
                <a:solidFill>
                  <a:srgbClr val="FF0000"/>
                </a:solidFill>
                <a:latin typeface="Calibri"/>
              </a:defRPr>
            </a:pPr>
            <a:r>
              <a:rPr sz="2000" b="1">
                <a:latin typeface="Times New Roman"/>
              </a:rPr>
              <a:t>Predictive Maintenance for Jet Engines Using Machine Learning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Outline &amp; 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600" b="1">
                <a:solidFill>
                  <a:srgbClr val="0F172A"/>
                </a:solidFill>
                <a:latin typeface="Calibri"/>
              </a:rPr>
              <a:t>• 1. Introduction &amp; Objectives: </a:t>
            </a:r>
            <a:r>
              <a:rPr sz="1600" b="0">
                <a:solidFill>
                  <a:srgbClr val="334155"/>
                </a:solidFill>
                <a:latin typeface="Calibri"/>
              </a:rPr>
              <a:t>Industrial domain, PHM technology, predictive maintenance &amp; project goals.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2. Problem Statement &amp; Motivation: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Unscheduled aircraft engine failures, delays &amp; servicing inefficiencies.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3. Requirement Analysis: </a:t>
            </a:r>
            <a:r>
              <a:rPr sz="1600" b="0">
                <a:solidFill>
                  <a:srgbClr val="334155"/>
                </a:solidFill>
                <a:latin typeface="Calibri"/>
              </a:rPr>
              <a:t>Hardware specifications, Python 3.11, Scikit-Learn &amp; data library requirements.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4. Dataset &amp; Feature Details: </a:t>
            </a:r>
            <a:r>
              <a:rPr sz="1600" b="0">
                <a:solidFill>
                  <a:srgbClr val="334155"/>
                </a:solidFill>
                <a:latin typeface="Calibri"/>
              </a:rPr>
              <a:t>NASA C-MAPSS 21-sensor telemetry dataset &amp; rolling window aggregations.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5. System Methodology &amp; Flowchart: </a:t>
            </a:r>
            <a:r>
              <a:rPr sz="1600" b="0">
                <a:solidFill>
                  <a:srgbClr val="334155"/>
                </a:solidFill>
                <a:latin typeface="Calibri"/>
              </a:rPr>
              <a:t>Multi-stage data ingestion, feature extraction &amp; tri-model inference.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6. Tri-Model AI Architecture: </a:t>
            </a:r>
            <a:r>
              <a:rPr sz="1600" b="0">
                <a:solidFill>
                  <a:srgbClr val="334155"/>
                </a:solidFill>
                <a:latin typeface="Calibri"/>
              </a:rPr>
              <a:t>RUL Regression, Binary 30d Warning Classifier &amp; Multi-Class Neural MLP.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7. Empirical Results &amp; Evaluation Table: </a:t>
            </a:r>
            <a:r>
              <a:rPr sz="1600" b="0">
                <a:solidFill>
                  <a:srgbClr val="334155"/>
                </a:solidFill>
                <a:latin typeface="Calibri"/>
              </a:rPr>
              <a:t>98.45% AUC-ROC score &amp; per-model benchmark analysis.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8. Real-Time Diagnostic Tool: </a:t>
            </a:r>
            <a:r>
              <a:rPr sz="1600" b="0">
                <a:solidFill>
                  <a:srgbClr val="334155"/>
                </a:solidFill>
                <a:latin typeface="Calibri"/>
              </a:rPr>
              <a:t>Command-line execution runner (predict.py) &amp; fleet capacity dispatch.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9. Conclusion &amp; References: </a:t>
            </a:r>
            <a:r>
              <a:rPr sz="1600" b="0">
                <a:solidFill>
                  <a:srgbClr val="334155"/>
                </a:solidFill>
                <a:latin typeface="Calibri"/>
              </a:rPr>
              <a:t>Summary of achievements, business cost optimization &amp; bibliography citations.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Introduction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Domain of Work: </a:t>
            </a:r>
            <a:r>
              <a:rPr sz="1800" b="0">
                <a:solidFill>
                  <a:srgbClr val="334155"/>
                </a:solidFill>
                <a:latin typeface="Calibri"/>
              </a:rPr>
              <a:t>Industrial AI, Reliability Engineering &amp; Aviation Prognostics Health Management (PHM).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Industrial Context: </a:t>
            </a:r>
            <a:r>
              <a:rPr sz="1800" b="0">
                <a:solidFill>
                  <a:srgbClr val="334155"/>
                </a:solidFill>
                <a:latin typeface="Calibri"/>
              </a:rPr>
              <a:t>Commercial Aircraft Turbofan Jet Engine Fleet Maintenance Operations &amp; Maintenance.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Core Operational Shift: </a:t>
            </a:r>
            <a:r>
              <a:rPr sz="1800" b="0">
                <a:solidFill>
                  <a:srgbClr val="334155"/>
                </a:solidFill>
                <a:latin typeface="Calibri"/>
              </a:rPr>
              <a:t>Transitioning from static time-servicing to AI predictive maintenance.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Primary Objective: </a:t>
            </a:r>
            <a:r>
              <a:rPr sz="1800" b="0">
                <a:solidFill>
                  <a:srgbClr val="334155"/>
                </a:solidFill>
                <a:latin typeface="Calibri"/>
              </a:rPr>
              <a:t>Utilize 21 sensor streams to forecast Remaining Useful Life (RUL) before breakdown.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Supervision &amp; Mentorship: </a:t>
            </a:r>
            <a:r>
              <a:rPr sz="1800" b="0">
                <a:solidFill>
                  <a:srgbClr val="334155"/>
                </a:solidFill>
                <a:latin typeface="Calibri"/>
              </a:rPr>
              <a:t>Mentored by Alex Chao during Data Science Career Track Bootcamp.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Unscheduled Groundings: </a:t>
            </a:r>
            <a:r>
              <a:rPr sz="1800" b="0">
                <a:solidFill>
                  <a:srgbClr val="334155"/>
                </a:solidFill>
                <a:latin typeface="Calibri"/>
              </a:rPr>
              <a:t>Sudden engine failures cause expensive flight delays and severe safety risks.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Static Maintenance Inefficiency: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Replaces functional turbofan parts prematurely or misses failure events.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High Sensor Fluctuation: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21 continuous telemetry streams exhibit noisy non-linear degradation trends.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Multi-Model Solution: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Regression for RUL, Binary 30d Alerts, and Multi-Class Hazard Rating.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Real-Time Constraint: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 fast sub-30ms inference latency for immediate operational dispatch.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Requirement Analysis (S/W &amp; H/W)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Hardware Requirements: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Intel Core i5/i7 Processor, 16GB RAM, SSD Storage Environment.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Programming Language: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3.11 (Core predictive logic, data wrangling &amp; model serialization).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Machine Learning Frameworks: </a:t>
            </a:r>
            <a:r>
              <a:rPr sz="1800" b="0">
                <a:solidFill>
                  <a:srgbClr val="334155"/>
                </a:solidFill>
                <a:latin typeface="Calibri"/>
              </a:rPr>
              <a:t>Scikit-Learn 1.3+ (Random Forest, SVM, MLP Neural Classifier).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 &amp; Signal Libraries: </a:t>
            </a:r>
            <a:r>
              <a:rPr sz="1800" b="0">
                <a:solidFill>
                  <a:srgbClr val="334155"/>
                </a:solidFill>
                <a:latin typeface="Calibri"/>
              </a:rPr>
              <a:t>Pandas, NumPy, SciPy for 5-cycle rolling window aggregations.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Visualization Frameworks: </a:t>
            </a:r>
            <a:r>
              <a:rPr sz="1800" b="0">
                <a:solidFill>
                  <a:srgbClr val="334155"/>
                </a:solidFill>
                <a:latin typeface="Calibri"/>
              </a:rPr>
              <a:t>Matplotlib, Seaborn for publication-grade metric evaluation charts.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Methodology &amp; Data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41148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Stage 1 Ingestion: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NASA C-MAPSS telemetry dataset with 21 sensors &amp; 3 operational settings.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Stage 2 Signal Processing: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5-cycle rolling mean and standard deviation feature aggregations.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Stage 3 Correlation Filter: </a:t>
            </a:r>
            <a:r>
              <a:rPr sz="1600" b="0">
                <a:solidFill>
                  <a:srgbClr val="334155"/>
                </a:solidFill>
                <a:latin typeface="Calibri"/>
              </a:rPr>
              <a:t>Eliminates redundant sensor pairs with correlation r &gt; 0.80.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Stage 4 AI Inference: </a:t>
            </a:r>
            <a:r>
              <a:rPr sz="1600" b="0">
                <a:solidFill>
                  <a:srgbClr val="334155"/>
                </a:solidFill>
                <a:latin typeface="Calibri"/>
              </a:rPr>
              <a:t>Tri-model engine: RUL Regressor, Binary 30d Classifier &amp; Neural MLP.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Stage 5 Actionable Dispatch: </a:t>
            </a:r>
            <a:r>
              <a:rPr sz="1600" b="0">
                <a:solidFill>
                  <a:srgbClr val="334155"/>
                </a:solidFill>
                <a:latin typeface="Calibri"/>
              </a:rPr>
              <a:t>Computes health score, cost optimization &amp; fleet maintenance schedule.</a:t>
            </a:r>
          </a:p>
        </p:txBody>
      </p:sp>
      <p:pic>
        <p:nvPicPr>
          <p:cNvPr id="5" name="Picture 4" descr="vertical_flowchart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097280"/>
            <a:ext cx="3657600" cy="52478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Sensor Preprocessing &amp; Rolling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Rolling Window Aggregations: </a:t>
            </a:r>
            <a:r>
              <a:rPr sz="1800" b="0">
                <a:solidFill>
                  <a:srgbClr val="334155"/>
                </a:solidFill>
                <a:latin typeface="Calibri"/>
              </a:rPr>
              <a:t>Computes 5-cycle rolling mean (av) and rolling std (sd) per sensor.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Signal Noise Reduction: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Smooths high-frequency sensor fluctuation to expose true degradation physics.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Multicollinearity Filtering: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Eliminates highly correlated sensor pairs like (s14, s9) with r &gt; 0.80.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Scale &amp; Position Normalization: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StandardScaler normalization ensures robustness across operating settings.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Compact Feature Dimension: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Expands raw telemetry data into a structured 45-element feature vector.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Dataset &amp; Feature Engineering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Dataset Size &amp; Support: </a:t>
            </a:r>
            <a:r>
              <a:rPr sz="1800" b="0">
                <a:solidFill>
                  <a:srgbClr val="334155"/>
                </a:solidFill>
                <a:latin typeface="Calibri"/>
              </a:rPr>
              <a:t>NASA Ames Prognostics Center of Excellence C-MAPSS Turbofan Simulation Dataset.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Training Fleet Size: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turbofan engines run-to-failure containing 20,631 operational cycles.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Testing Fleet Size: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engines with ground-truth Remaining Useful Life (TTF) validation labels.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Target Classification Windows: </a:t>
            </a:r>
            <a:r>
              <a:rPr sz="1800" b="0">
                <a:solidFill>
                  <a:srgbClr val="334155"/>
                </a:solidFill>
                <a:latin typeface="Calibri"/>
              </a:rPr>
              <a:t>30-cycle failure warning window (w1 = 30) and 15-cycle urgent window (w0 = 15).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Dataset Quality: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Zero missing values, numeric sensor streams, preprocessed clean target series.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Predictive AI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1. RUL Regression Model: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Regressor predicting exact cycles remaining before failure.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2. Binary 30-Cycle Warning Classifier: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Classifier predicting 30d failure window.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3. Multi-Class Neural MLP: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(100, 50 hidden neurons) for 3-tier hazard rating.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Multi-Tier Hazard Classes: </a:t>
            </a:r>
            <a:r>
              <a:rPr sz="1800" b="0">
                <a:solidFill>
                  <a:srgbClr val="334155"/>
                </a:solidFill>
                <a:latin typeface="Calibri"/>
              </a:rPr>
              <a:t>Healthy (&gt;30 cycles), Warning (15-30 cycles), Critical (&lt;=15 cycles).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Softmax Risk Output: </a:t>
            </a:r>
            <a:r>
              <a:rPr sz="1800" b="0">
                <a:solidFill>
                  <a:srgbClr val="334155"/>
                </a:solidFill>
                <a:latin typeface="Calibri"/>
              </a:rPr>
              <a:t>Neural net produces normalized probability distributions over risk categories.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Interactive Terminal Diagnostic Engine (predict.py)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Command-Line Diagnostic Tool: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using Python argparse &amp; serialized model pickle files.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Execution Command: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predict.py --engine_id 81 (Evaluates any engine from fleet 1-100).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Diagnostic Output Parameters: </a:t>
            </a:r>
            <a:r>
              <a:rPr sz="1800" b="0">
                <a:solidFill>
                  <a:srgbClr val="334155"/>
                </a:solidFill>
                <a:latin typeface="Calibri"/>
              </a:rPr>
              <a:t>Estimated Remaining RUL, 30-cycle failure probability, risk rating.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Risk Rating Formatting: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Displays GREEN (Healthy), YELLOW (Warning), and RED (Critical) status.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Actionable Maintenance Recommendation: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Instructs fleet managers to ground aircraft or schedule service.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Fleet Hazard Gating &amp; Alert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Operational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Categorizes engine hazard state into 3 distinct operational buckets.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Healthy State (Green):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&gt; 30 cycles; engine remains in normal operational flight status.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Warning Window (Yellow): </a:t>
            </a:r>
            <a:r>
              <a:rPr sz="1800" b="0">
                <a:solidFill>
                  <a:srgbClr val="334155"/>
                </a:solidFill>
                <a:latin typeface="Calibri"/>
              </a:rPr>
              <a:t>15 &lt; RUL &lt;= 30 cycles; schedule preventive maintenance within 5 cycles.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Critical Action (Red):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&lt;= 15 cycles; ground aircraft for immediate engine overhaul within 24h.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Sub-30ms Inference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Ensures smooth live diagnostic reporting without latency or delay.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Empirical Results &amp; 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Binary Failure Warning AUC-ROC: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(0.9845) AUC-ROC score on test evaluation 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Binary Alert Precision: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94.44% Precision on positive failure window warnings.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RUL Regression RMSE: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33.39 cycles Root Mean Squared Error (MAE: 22.90 cycles).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Multi-Class Neural MLP Accuracy: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75.00% exact multi-class categorization accuracy.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Inference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Average diagnostic computation time under 30ms operating on test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Per-Class Evaluation Methodology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33059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33.39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RUL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Polynomial Reg (d=2)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36.12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38.20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/ Ridge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39.15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SVC (Features)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Support Vector (RBF)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Zero FP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Neural Network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Hazard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Tree Ensemble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Bayesian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692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34155"/>
                </a:solidFill>
                <a:latin typeface="Calibri"/>
              </a:defRPr>
            </a:pPr>
            <a:r>
              <a:t>Table 1: Per-Class Precision, Recall, F1-Score, and Support Sample Counts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Observations &amp; Result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Feature Engineering Impact: </a:t>
            </a:r>
            <a:r>
              <a:rPr sz="1800" b="0">
                <a:solidFill>
                  <a:srgbClr val="334155"/>
                </a:solidFill>
                <a:latin typeface="Calibri"/>
              </a:rPr>
              <a:t>5-cycle rolling statistics (av, sd) significantly outperform raw sensors.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Optimal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Operating Random Forest at tau = 0.17 yields 100% precision &amp; 68% recall.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Cost Matrix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Prevents $250,000+ catastrophic in-flight failures via planned $15,000 repairs.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Neural Network Stability: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provides high accuracy on critical hazard windows.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Maintenance Capacity Dispatch: </a:t>
            </a:r>
            <a:r>
              <a:rPr sz="1800" b="0">
                <a:solidFill>
                  <a:srgbClr val="334155"/>
                </a:solidFill>
                <a:latin typeface="Calibri"/>
              </a:rPr>
              <a:t>Efficiently queues engines based on RUL urgency rank.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Conclusion &amp;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Successful System Delivery: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a complete predictive health management pipeline for jet engines.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High Predictive Performance: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AUC-ROC failure detection and 33.39 cycles RUL RMSE.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Sign-to-Speech &amp; CLI Integration: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Successfully integrated interactive predict.py CLI diagnostic tool.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Native Python Implementation: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Developed clean 100% Python pipeline &amp; serialized model artifacts.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Fleet Cost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Optimizes maintenance capacity allocation and eliminates flight delays.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Future Scope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Deep Time-Series Architecture: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Integrate Recurrent LSTM and Transformer networks for temporal dynamics.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Sentence-Level Flight Profiles: </a:t>
            </a:r>
            <a:r>
              <a:rPr sz="1800" b="0">
                <a:solidFill>
                  <a:srgbClr val="334155"/>
                </a:solidFill>
                <a:latin typeface="Calibri"/>
              </a:rPr>
              <a:t>Extend from single-mode steady flights to multi-profile flight regimes.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Mobile &amp; Edge Deployment: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Export model to TensorFlow Lite (TFLite) for deployment on avionics hardware.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Cloud Streaming API: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REST API endpoints for real-time IoT stream data ingestion.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Dataset Mirror Augmentation: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Incorporate synthetic degradation data augmentation for long-tail failures.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References &amp;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rPr sz="1600" b="1">
                <a:solidFill>
                  <a:srgbClr val="0F172A"/>
                </a:solidFill>
                <a:latin typeface="Calibri"/>
              </a:rPr>
              <a:t>• 1. NASA Ames Prognostics Center of Excellence - </a:t>
            </a:r>
            <a:r>
              <a:rPr sz="1600" b="0">
                <a:solidFill>
                  <a:srgbClr val="334155"/>
                </a:solidFill>
                <a:latin typeface="Calibri"/>
              </a:rPr>
              <a:t>C-MAPSS Jet Engine Degradation Dataset, 2024.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2. Saxena, A., et al., </a:t>
            </a:r>
            <a:r>
              <a:rPr sz="1600" b="0">
                <a:solidFill>
                  <a:srgbClr val="334155"/>
                </a:solidFill>
                <a:latin typeface="Calibri"/>
              </a:rPr>
              <a:t>'Damage Propagation Modeling for Aircraft Engine Simulation', IEEE, 2008.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3. Springboard Data Science Career Track - </a:t>
            </a:r>
            <a:r>
              <a:rPr sz="1600" b="0">
                <a:solidFill>
                  <a:srgbClr val="334155"/>
                </a:solidFill>
                <a:latin typeface="Calibri"/>
              </a:rPr>
              <a:t>Bootcamp Curriculum &amp; Mentorship, 2026.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4. Scikit-Learn Open Source Library - </a:t>
            </a:r>
            <a:r>
              <a:rPr sz="1600" b="0">
                <a:solidFill>
                  <a:srgbClr val="334155"/>
                </a:solidFill>
                <a:latin typeface="Calibri"/>
              </a:rPr>
              <a:t>Machine Learning &amp; Neural Network Documentation, 2026.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5. Google Keras 3.3 &amp; TensorFlow 2.17 - </a:t>
            </a:r>
            <a:r>
              <a:rPr sz="1600" b="0">
                <a:solidFill>
                  <a:srgbClr val="334155"/>
                </a:solidFill>
                <a:latin typeface="Calibri"/>
              </a:rPr>
              <a:t>Official Documentation and API Reference, 2026.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6. Microsoft Azure Machine Learning - </a:t>
            </a:r>
            <a:r>
              <a:rPr sz="1600" b="0">
                <a:solidFill>
                  <a:srgbClr val="334155"/>
                </a:solidFill>
                <a:latin typeface="Calibri"/>
              </a:rPr>
              <a:t>Predictive Maintenance Simulation Templates,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Thank You! Questions &amp; Discussion</a:t>
            </a:r>
          </a:p>
          <a:p>
            <a:pPr algn="ctr">
              <a:defRPr sz="2800" b="1">
                <a:solidFill>
                  <a:srgbClr val="0D6EFD"/>
                </a:solidFill>
                <a:latin typeface="Calibri"/>
              </a:defRPr>
            </a:pPr>
            <a:r>
              <a:t>Questions &amp; Discussion</a:t>
            </a:r>
          </a:p>
          <a:p>
            <a:pPr algn="ctr">
              <a:defRPr sz="2000" b="0">
                <a:solidFill>
                  <a:srgbClr val="334155"/>
                </a:solidFill>
                <a:latin typeface="Calibri"/>
              </a:defRPr>
            </a:pPr>
            <a:r>
              <a:t>Presented By: Piyush Tiwari | Roll No: 2100270100000 | 7th Sem, CSE-1 IMS Engineering College, Ghaziabad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