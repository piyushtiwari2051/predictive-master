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400"/>
              </a:spcAft>
              <a:defRPr sz="2000" b="1">
                <a:solidFill>
                  <a:srgbClr val="2563EB"/>
                </a:solidFill>
                <a:latin typeface="Calibri"/>
              </a:defRPr>
            </a:pPr>
            <a:r>
              <a:t>Internship Assessment (Summer Internship)</a:t>
            </a:r>
          </a:p>
          <a:p>
            <a:pPr algn="ctr">
              <a:spcAft>
                <a:spcPts val="2400"/>
              </a:spcAft>
              <a:defRPr sz="2800" b="1">
                <a:solidFill>
                  <a:srgbClr val="0F172A"/>
                </a:solidFill>
                <a:latin typeface="Calibri"/>
              </a:defRPr>
            </a:pPr>
            <a:r>
              <a:t>On Predictive Maintenance for Jet Engines Using Machine Learning</a:t>
            </a:r>
          </a:p>
          <a:p>
            <a:pPr algn="ctr">
              <a:defRPr sz="1600">
                <a:solidFill>
                  <a:srgbClr val="334155"/>
                </a:solidFill>
                <a:latin typeface="Calibri"/>
              </a:defRPr>
            </a:pPr>
            <a:r>
              <a:t>Submitted By: Piyush Tiwari  |  Roll No: 2301430100162  |  7th Sem, CSE-1</a:t>
            </a:r>
            <a:br/>
            <a:r>
              <a:t>Supervised By: Mr. Basudeo Singh Roohani  |  Department of CSE</a:t>
            </a:r>
            <a:br/>
            <a:r>
              <a:t>IMS Engineering College, Ghaziabad, India (2026-27)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4300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[OVERVIEW]  </a:t>
            </a:r>
            <a:r>
              <a:rPr sz="1600" b="1">
                <a:solidFill>
                  <a:srgbClr val="2563EB"/>
                </a:solidFill>
                <a:latin typeface="Calibri"/>
              </a:rPr>
              <a:t>Industrial Focus: </a:t>
            </a:r>
            <a:r>
              <a:rPr sz="1600" b="0">
                <a:solidFill>
                  <a:srgbClr val="334155"/>
                </a:solidFill>
                <a:latin typeface="Calibri"/>
              </a:rPr>
              <a:t>Aviation Prognostics Health Management for turbofan engines.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2140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[PROBLEM]  </a:t>
            </a:r>
            <a:r>
              <a:rPr sz="1600" b="1">
                <a:solidFill>
                  <a:srgbClr val="2563EB"/>
                </a:solidFill>
                <a:latin typeface="Calibri"/>
              </a:rPr>
              <a:t>Core Bottleneck: </a:t>
            </a:r>
            <a:r>
              <a:rPr sz="1600" b="0">
                <a:solidFill>
                  <a:srgbClr val="334155"/>
                </a:solidFill>
                <a:latin typeface="Calibri"/>
              </a:rPr>
              <a:t>Unscheduled engine groundings cost $250,000 per event.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09981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[SOLUTION]  </a:t>
            </a:r>
            <a:r>
              <a:rPr sz="1600" b="1">
                <a:solidFill>
                  <a:srgbClr val="2563EB"/>
                </a:solidFill>
                <a:latin typeface="Calibri"/>
              </a:rPr>
              <a:t>AI Architecture: </a:t>
            </a:r>
            <a:r>
              <a:rPr sz="1600" b="0">
                <a:solidFill>
                  <a:srgbClr val="334155"/>
                </a:solidFill>
                <a:latin typeface="Calibri"/>
              </a:rPr>
              <a:t>Tri-model engine: RUL forecasting, 30d warnings &amp; MLP risk net.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7822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[RESULTS]  </a:t>
            </a:r>
            <a:r>
              <a:rPr sz="1600" b="1">
                <a:solidFill>
                  <a:srgbClr val="2563EB"/>
                </a:solidFill>
                <a:latin typeface="Calibri"/>
              </a:rPr>
              <a:t>Empirical Metrics: </a:t>
            </a:r>
            <a:r>
              <a:rPr sz="1600" b="0">
                <a:solidFill>
                  <a:srgbClr val="334155"/>
                </a:solidFill>
                <a:latin typeface="Calibri"/>
              </a:rPr>
              <a:t>98.45% AUC-ROC score and 33.39 cycles RUL RMSE.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5663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[DELIVERY]  </a:t>
            </a:r>
            <a:r>
              <a:rPr sz="1600" b="1">
                <a:solidFill>
                  <a:srgbClr val="2563EB"/>
                </a:solidFill>
                <a:latin typeface="Calibri"/>
              </a:rPr>
              <a:t>Field Tooling: </a:t>
            </a:r>
            <a:r>
              <a:rPr sz="1600" b="0">
                <a:solidFill>
                  <a:srgbClr val="334155"/>
                </a:solidFill>
                <a:latin typeface="Calibri"/>
              </a:rPr>
              <a:t>Interactive predict.py CLI utility for real-time fleet checks.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4300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[HAZARD 1]  </a:t>
            </a:r>
            <a:r>
              <a:rPr sz="1600" b="1">
                <a:solidFill>
                  <a:srgbClr val="2563EB"/>
                </a:solidFill>
                <a:latin typeface="Calibri"/>
              </a:rPr>
              <a:t>Unscheduled Failures: </a:t>
            </a:r>
            <a:r>
              <a:rPr sz="1600" b="0">
                <a:solidFill>
                  <a:srgbClr val="334155"/>
                </a:solidFill>
                <a:latin typeface="Calibri"/>
              </a:rPr>
              <a:t>Sudden turbofan breakdowns cause severe flight cancellations.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2140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[HAZARD 2]  </a:t>
            </a:r>
            <a:r>
              <a:rPr sz="1600" b="1">
                <a:solidFill>
                  <a:srgbClr val="2563EB"/>
                </a:solidFill>
                <a:latin typeface="Calibri"/>
              </a:rPr>
              <a:t>High Cost Impact: </a:t>
            </a:r>
            <a:r>
              <a:rPr sz="1600" b="0">
                <a:solidFill>
                  <a:srgbClr val="334155"/>
                </a:solidFill>
                <a:latin typeface="Calibri"/>
              </a:rPr>
              <a:t>Unplanned engine diversions cost operators $250,000 each.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09981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[HAZARD 3]  </a:t>
            </a:r>
            <a:r>
              <a:rPr sz="1600" b="1">
                <a:solidFill>
                  <a:srgbClr val="2563EB"/>
                </a:solidFill>
                <a:latin typeface="Calibri"/>
              </a:rPr>
              <a:t>Static Servicing: </a:t>
            </a:r>
            <a:r>
              <a:rPr sz="1600" b="0">
                <a:solidFill>
                  <a:srgbClr val="334155"/>
                </a:solidFill>
                <a:latin typeface="Calibri"/>
              </a:rPr>
              <a:t>Fixed schedules replace healthy parts or miss breakdown.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7822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[HAZARD 4]  </a:t>
            </a:r>
            <a:r>
              <a:rPr sz="1600" b="1">
                <a:solidFill>
                  <a:srgbClr val="2563EB"/>
                </a:solidFill>
                <a:latin typeface="Calibri"/>
              </a:rPr>
              <a:t>Sensor Fluctuation: </a:t>
            </a:r>
            <a:r>
              <a:rPr sz="1600" b="0">
                <a:solidFill>
                  <a:srgbClr val="334155"/>
                </a:solidFill>
                <a:latin typeface="Calibri"/>
              </a:rPr>
              <a:t>21 continuous sensor streams show non-linear wear.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5663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[HAZARD 5]  </a:t>
            </a:r>
            <a:r>
              <a:rPr sz="1600" b="1">
                <a:solidFill>
                  <a:srgbClr val="2563EB"/>
                </a:solidFill>
                <a:latin typeface="Calibri"/>
              </a:rPr>
              <a:t>Prognostic Need: </a:t>
            </a:r>
            <a:r>
              <a:rPr sz="1600" b="0">
                <a:solidFill>
                  <a:srgbClr val="334155"/>
                </a:solidFill>
                <a:latin typeface="Calibri"/>
              </a:rPr>
              <a:t>Requires real-time AI to forecast remaining useful life.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Project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4300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[DRIVER 1]  </a:t>
            </a:r>
            <a:r>
              <a:rPr sz="1600" b="1">
                <a:solidFill>
                  <a:srgbClr val="2563EB"/>
                </a:solidFill>
                <a:latin typeface="Calibri"/>
              </a:rPr>
              <a:t>Aviation Safety: </a:t>
            </a:r>
            <a:r>
              <a:rPr sz="1600" b="0">
                <a:solidFill>
                  <a:srgbClr val="334155"/>
                </a:solidFill>
                <a:latin typeface="Calibri"/>
              </a:rPr>
              <a:t>Preventing catastrophic in-flight engine failures is paramount.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2140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[DRIVER 2]  </a:t>
            </a:r>
            <a:r>
              <a:rPr sz="1600" b="1">
                <a:solidFill>
                  <a:srgbClr val="2563EB"/>
                </a:solidFill>
                <a:latin typeface="Calibri"/>
              </a:rPr>
              <a:t>Cost Savings: </a:t>
            </a:r>
            <a:r>
              <a:rPr sz="1600" b="0">
                <a:solidFill>
                  <a:srgbClr val="334155"/>
                </a:solidFill>
                <a:latin typeface="Calibri"/>
              </a:rPr>
              <a:t>Shifting $250k diversions to $15k planned repairs saves millions.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09981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[DRIVER 3]  </a:t>
            </a:r>
            <a:r>
              <a:rPr sz="1600" b="1">
                <a:solidFill>
                  <a:srgbClr val="2563EB"/>
                </a:solidFill>
                <a:latin typeface="Calibri"/>
              </a:rPr>
              <a:t>Fleet Optimization: </a:t>
            </a:r>
            <a:r>
              <a:rPr sz="1600" b="0">
                <a:solidFill>
                  <a:srgbClr val="334155"/>
                </a:solidFill>
                <a:latin typeface="Calibri"/>
              </a:rPr>
              <a:t>Maximizes availability of commercial aircraft fleets.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7822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[DRIVER 4]  </a:t>
            </a:r>
            <a:r>
              <a:rPr sz="1600" b="1">
                <a:solidFill>
                  <a:srgbClr val="2563EB"/>
                </a:solidFill>
                <a:latin typeface="Calibri"/>
              </a:rPr>
              <a:t>IoT Data Boom: </a:t>
            </a:r>
            <a:r>
              <a:rPr sz="1600" b="0">
                <a:solidFill>
                  <a:srgbClr val="334155"/>
                </a:solidFill>
                <a:latin typeface="Calibri"/>
              </a:rPr>
              <a:t>Leverages massive multi-sensor telemetry logged on modern jets.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5663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[DRIVER 5]  </a:t>
            </a:r>
            <a:r>
              <a:rPr sz="1600" b="1">
                <a:solidFill>
                  <a:srgbClr val="2563EB"/>
                </a:solidFill>
                <a:latin typeface="Calibri"/>
              </a:rPr>
              <a:t>AI Maturity: </a:t>
            </a:r>
            <a:r>
              <a:rPr sz="1600" b="0">
                <a:solidFill>
                  <a:srgbClr val="334155"/>
                </a:solidFill>
                <a:latin typeface="Calibri"/>
              </a:rPr>
              <a:t>Modern ML algorithms effectively model non-linear thermal wear.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Project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4300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[GOAL 1]  </a:t>
            </a:r>
            <a:r>
              <a:rPr sz="1600" b="1">
                <a:solidFill>
                  <a:srgbClr val="2563EB"/>
                </a:solidFill>
                <a:latin typeface="Calibri"/>
              </a:rPr>
              <a:t>RUL Forecasting: </a:t>
            </a:r>
            <a:r>
              <a:rPr sz="1600" b="0">
                <a:solidFill>
                  <a:srgbClr val="334155"/>
                </a:solidFill>
                <a:latin typeface="Calibri"/>
              </a:rPr>
              <a:t>Predict exact remaining operational cycles before failure.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2140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[GOAL 2]  </a:t>
            </a:r>
            <a:r>
              <a:rPr sz="1600" b="1">
                <a:solidFill>
                  <a:srgbClr val="2563EB"/>
                </a:solidFill>
                <a:latin typeface="Calibri"/>
              </a:rPr>
              <a:t>30-Day Warning Alert: </a:t>
            </a:r>
            <a:r>
              <a:rPr sz="1600" b="0">
                <a:solidFill>
                  <a:srgbClr val="334155"/>
                </a:solidFill>
                <a:latin typeface="Calibri"/>
              </a:rPr>
              <a:t>Achieve 98.45% AUC-ROC on binary warning alerts.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09981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[GOAL 3]  </a:t>
            </a:r>
            <a:r>
              <a:rPr sz="1600" b="1">
                <a:solidFill>
                  <a:srgbClr val="2563EB"/>
                </a:solidFill>
                <a:latin typeface="Calibri"/>
              </a:rPr>
              <a:t>3-Tier Hazard Net: </a:t>
            </a:r>
            <a:r>
              <a:rPr sz="1600" b="0">
                <a:solidFill>
                  <a:srgbClr val="334155"/>
                </a:solidFill>
                <a:latin typeface="Calibri"/>
              </a:rPr>
              <a:t>Classify health into Healthy, Warning, Critical.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7822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[GOAL 4]  </a:t>
            </a:r>
            <a:r>
              <a:rPr sz="1600" b="1">
                <a:solidFill>
                  <a:srgbClr val="2563EB"/>
                </a:solidFill>
                <a:latin typeface="Calibri"/>
              </a:rPr>
              <a:t>Real-Time Diagnostics: </a:t>
            </a:r>
            <a:r>
              <a:rPr sz="1600" b="0">
                <a:solidFill>
                  <a:srgbClr val="334155"/>
                </a:solidFill>
                <a:latin typeface="Calibri"/>
              </a:rPr>
              <a:t>Sub-30ms CLI runner for instant diagnostics.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5663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[GOAL 5]  </a:t>
            </a:r>
            <a:r>
              <a:rPr sz="1600" b="1">
                <a:solidFill>
                  <a:srgbClr val="2563EB"/>
                </a:solidFill>
                <a:latin typeface="Calibri"/>
              </a:rPr>
              <a:t>Cost Reduction: </a:t>
            </a:r>
            <a:r>
              <a:rPr sz="1600" b="0">
                <a:solidFill>
                  <a:srgbClr val="334155"/>
                </a:solidFill>
                <a:latin typeface="Calibri"/>
              </a:rPr>
              <a:t>Eliminate unscheduled engine overhauls and flight delays.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Literature Survey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4300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[PAPER 1]  </a:t>
            </a:r>
            <a:r>
              <a:rPr sz="1600" b="1">
                <a:solidFill>
                  <a:srgbClr val="2563EB"/>
                </a:solidFill>
                <a:latin typeface="Calibri"/>
              </a:rPr>
              <a:t>Saxena et al. (2008): </a:t>
            </a:r>
            <a:r>
              <a:rPr sz="1600" b="0">
                <a:solidFill>
                  <a:srgbClr val="334155"/>
                </a:solidFill>
                <a:latin typeface="Calibri"/>
              </a:rPr>
              <a:t>Defined NASA C-MAPSS simulation &amp; damage propagation model.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2140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[PAPER 2]  </a:t>
            </a:r>
            <a:r>
              <a:rPr sz="1600" b="1">
                <a:solidFill>
                  <a:srgbClr val="2563EB"/>
                </a:solidFill>
                <a:latin typeface="Calibri"/>
              </a:rPr>
              <a:t>Zheng et al. (2017): </a:t>
            </a:r>
            <a:r>
              <a:rPr sz="1600" b="0">
                <a:solidFill>
                  <a:srgbClr val="334155"/>
                </a:solidFill>
                <a:latin typeface="Calibri"/>
              </a:rPr>
              <a:t>Applied Deep LSTM networks for RUL estimation in turbofans.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09981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[PAPER 3]  </a:t>
            </a:r>
            <a:r>
              <a:rPr sz="1600" b="1">
                <a:solidFill>
                  <a:srgbClr val="2563EB"/>
                </a:solidFill>
                <a:latin typeface="Calibri"/>
              </a:rPr>
              <a:t>Mosallam et al. (2016): </a:t>
            </a:r>
            <a:r>
              <a:rPr sz="1600" b="0">
                <a:solidFill>
                  <a:srgbClr val="334155"/>
                </a:solidFill>
                <a:latin typeface="Calibri"/>
              </a:rPr>
              <a:t>Used Bayesian approaches for sensor trend degradation estimation.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7822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[GAP 1]  </a:t>
            </a:r>
            <a:r>
              <a:rPr sz="1600" b="1">
                <a:solidFill>
                  <a:srgbClr val="2563EB"/>
                </a:solidFill>
                <a:latin typeface="Calibri"/>
              </a:rPr>
              <a:t>High Computational Latency: </a:t>
            </a:r>
            <a:r>
              <a:rPr sz="1600" b="0">
                <a:solidFill>
                  <a:srgbClr val="334155"/>
                </a:solidFill>
                <a:latin typeface="Calibri"/>
              </a:rPr>
              <a:t>Previous deep models lacked sub-30ms real-time CLI field execution.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5663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[GAP 2]  </a:t>
            </a:r>
            <a:r>
              <a:rPr sz="1600" b="1">
                <a:solidFill>
                  <a:srgbClr val="2563EB"/>
                </a:solidFill>
                <a:latin typeface="Calibri"/>
              </a:rPr>
              <a:t>Multi-Task Risk Net: </a:t>
            </a:r>
            <a:r>
              <a:rPr sz="1600" b="0">
                <a:solidFill>
                  <a:srgbClr val="334155"/>
                </a:solidFill>
                <a:latin typeface="Calibri"/>
              </a:rPr>
              <a:t>Few frameworks combined regression with 3-tier hazard gating.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Existing System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4300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[METHOD 1]  </a:t>
            </a:r>
            <a:r>
              <a:rPr sz="1600" b="1">
                <a:solidFill>
                  <a:srgbClr val="2563EB"/>
                </a:solidFill>
                <a:latin typeface="Calibri"/>
              </a:rPr>
              <a:t>Time-Based Servicing: </a:t>
            </a:r>
            <a:r>
              <a:rPr sz="1600" b="0">
                <a:solidFill>
                  <a:srgbClr val="334155"/>
                </a:solidFill>
                <a:latin typeface="Calibri"/>
              </a:rPr>
              <a:t>Replaces engine parts after fixed flight hours regardless of wear.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2140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[METHOD 2]  </a:t>
            </a:r>
            <a:r>
              <a:rPr sz="1600" b="1">
                <a:solidFill>
                  <a:srgbClr val="2563EB"/>
                </a:solidFill>
                <a:latin typeface="Calibri"/>
              </a:rPr>
              <a:t>Cycle-Based Servicing: </a:t>
            </a:r>
            <a:r>
              <a:rPr sz="1600" b="0">
                <a:solidFill>
                  <a:srgbClr val="334155"/>
                </a:solidFill>
                <a:latin typeface="Calibri"/>
              </a:rPr>
              <a:t>Replaces components after fixed engine start/stop cycles.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09981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[FLAW 1]  </a:t>
            </a:r>
            <a:r>
              <a:rPr sz="1600" b="1">
                <a:solidFill>
                  <a:srgbClr val="2563EB"/>
                </a:solidFill>
                <a:latin typeface="Calibri"/>
              </a:rPr>
              <a:t>Premature Replacement: </a:t>
            </a:r>
            <a:r>
              <a:rPr sz="1600" b="0">
                <a:solidFill>
                  <a:srgbClr val="334155"/>
                </a:solidFill>
                <a:latin typeface="Calibri"/>
              </a:rPr>
              <a:t>Discards healthy parts with 40%+ remaining life left.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7822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[FLAW 2]  </a:t>
            </a:r>
            <a:r>
              <a:rPr sz="1600" b="1">
                <a:solidFill>
                  <a:srgbClr val="2563EB"/>
                </a:solidFill>
                <a:latin typeface="Calibri"/>
              </a:rPr>
              <a:t>Unchecked Degradation: </a:t>
            </a:r>
            <a:r>
              <a:rPr sz="1600" b="0">
                <a:solidFill>
                  <a:srgbClr val="334155"/>
                </a:solidFill>
                <a:latin typeface="Calibri"/>
              </a:rPr>
              <a:t>Fails to detect accelerated thermal wear between intervals.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5663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[IMPACT]  </a:t>
            </a:r>
            <a:r>
              <a:rPr sz="1600" b="1">
                <a:solidFill>
                  <a:srgbClr val="2563EB"/>
                </a:solidFill>
                <a:latin typeface="Calibri"/>
              </a:rPr>
              <a:t>High Financial Loss: </a:t>
            </a:r>
            <a:r>
              <a:rPr sz="1600" b="0">
                <a:solidFill>
                  <a:srgbClr val="334155"/>
                </a:solidFill>
                <a:latin typeface="Calibri"/>
              </a:rPr>
              <a:t>Causes frequent unscheduled engine overhauls and diversions.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Limitations of Existing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4300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[LIMIT 1]  </a:t>
            </a:r>
            <a:r>
              <a:rPr sz="1600" b="1">
                <a:solidFill>
                  <a:srgbClr val="2563EB"/>
                </a:solidFill>
                <a:latin typeface="Calibri"/>
              </a:rPr>
              <a:t>No Live Sensor Integration: </a:t>
            </a:r>
            <a:r>
              <a:rPr sz="1600" b="0">
                <a:solidFill>
                  <a:srgbClr val="334155"/>
                </a:solidFill>
                <a:latin typeface="Calibri"/>
              </a:rPr>
              <a:t>Ignores real-time temperature and pressure telemetry.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2140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[LIMIT 2]  </a:t>
            </a:r>
            <a:r>
              <a:rPr sz="1600" b="1">
                <a:solidFill>
                  <a:srgbClr val="2563EB"/>
                </a:solidFill>
                <a:latin typeface="Calibri"/>
              </a:rPr>
              <a:t>Static Thresholding: </a:t>
            </a:r>
            <a:r>
              <a:rPr sz="1600" b="0">
                <a:solidFill>
                  <a:srgbClr val="334155"/>
                </a:solidFill>
                <a:latin typeface="Calibri"/>
              </a:rPr>
              <a:t>Uses simple single-sensor bounds that fail on multi-sensor wear.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09981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[LIMIT 3]  </a:t>
            </a:r>
            <a:r>
              <a:rPr sz="1600" b="1">
                <a:solidFill>
                  <a:srgbClr val="2563EB"/>
                </a:solidFill>
                <a:latin typeface="Calibri"/>
              </a:rPr>
              <a:t>High False Alarm Rate: </a:t>
            </a:r>
            <a:r>
              <a:rPr sz="1600" b="0">
                <a:solidFill>
                  <a:srgbClr val="334155"/>
                </a:solidFill>
                <a:latin typeface="Calibri"/>
              </a:rPr>
              <a:t>Triggers unnecessary emergency groundings for sensor noise.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7822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[LIMIT 4]  </a:t>
            </a:r>
            <a:r>
              <a:rPr sz="1600" b="1">
                <a:solidFill>
                  <a:srgbClr val="2563EB"/>
                </a:solidFill>
                <a:latin typeface="Calibri"/>
              </a:rPr>
              <a:t>No RUL Quantification: </a:t>
            </a:r>
            <a:r>
              <a:rPr sz="1600" b="0">
                <a:solidFill>
                  <a:srgbClr val="334155"/>
                </a:solidFill>
                <a:latin typeface="Calibri"/>
              </a:rPr>
              <a:t>Fails to provide exact remaining cycle counts before breakdown.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5663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[LIMIT 5]  </a:t>
            </a:r>
            <a:r>
              <a:rPr sz="1600" b="1">
                <a:solidFill>
                  <a:srgbClr val="2563EB"/>
                </a:solidFill>
                <a:latin typeface="Calibri"/>
              </a:rPr>
              <a:t>Zero Hazard Prioritization: </a:t>
            </a:r>
            <a:r>
              <a:rPr sz="1600" b="0">
                <a:solidFill>
                  <a:srgbClr val="334155"/>
                </a:solidFill>
                <a:latin typeface="Calibri"/>
              </a:rPr>
              <a:t>Cannot automatically rank fleet engines by risk urgency.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Proposed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4300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[PILLAR 1]  </a:t>
            </a:r>
            <a:r>
              <a:rPr sz="1600" b="1">
                <a:solidFill>
                  <a:srgbClr val="2563EB"/>
                </a:solidFill>
                <a:latin typeface="Calibri"/>
              </a:rPr>
              <a:t>Telemetry Ingestion: </a:t>
            </a:r>
            <a:r>
              <a:rPr sz="1600" b="0">
                <a:solidFill>
                  <a:srgbClr val="334155"/>
                </a:solidFill>
                <a:latin typeface="Calibri"/>
              </a:rPr>
              <a:t>Ingests 21 continuous sensor channels &amp; operational settings.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2140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[PILLAR 2]  </a:t>
            </a:r>
            <a:r>
              <a:rPr sz="1600" b="1">
                <a:solidFill>
                  <a:srgbClr val="2563EB"/>
                </a:solidFill>
                <a:latin typeface="Calibri"/>
              </a:rPr>
              <a:t>Rolling Feature Engine: </a:t>
            </a:r>
            <a:r>
              <a:rPr sz="1600" b="0">
                <a:solidFill>
                  <a:srgbClr val="334155"/>
                </a:solidFill>
                <a:latin typeface="Calibri"/>
              </a:rPr>
              <a:t>Computes 5-cycle rolling mean and standard deviation aggregations.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09981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[PILLAR 3]  </a:t>
            </a:r>
            <a:r>
              <a:rPr sz="1600" b="1">
                <a:solidFill>
                  <a:srgbClr val="2563EB"/>
                </a:solidFill>
                <a:latin typeface="Calibri"/>
              </a:rPr>
              <a:t>Multicollinearity Filter: </a:t>
            </a:r>
            <a:r>
              <a:rPr sz="1600" b="0">
                <a:solidFill>
                  <a:srgbClr val="334155"/>
                </a:solidFill>
                <a:latin typeface="Calibri"/>
              </a:rPr>
              <a:t>Removes highly correlated redundant sensor pairs (r &gt; 0.80).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7822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[PILLAR 4]  </a:t>
            </a:r>
            <a:r>
              <a:rPr sz="1600" b="1">
                <a:solidFill>
                  <a:srgbClr val="2563EB"/>
                </a:solidFill>
                <a:latin typeface="Calibri"/>
              </a:rPr>
              <a:t>Tri-Model AI Suite: </a:t>
            </a:r>
            <a:r>
              <a:rPr sz="1600" b="0">
                <a:solidFill>
                  <a:srgbClr val="334155"/>
                </a:solidFill>
                <a:latin typeface="Calibri"/>
              </a:rPr>
              <a:t>Random Forest Regressor, 30d Classifier &amp; Neural MLP Net.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5663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[PILLAR 5]  </a:t>
            </a:r>
            <a:r>
              <a:rPr sz="1600" b="1">
                <a:solidFill>
                  <a:srgbClr val="2563EB"/>
                </a:solidFill>
                <a:latin typeface="Calibri"/>
              </a:rPr>
              <a:t>Actionable CLI Tool: </a:t>
            </a:r>
            <a:r>
              <a:rPr sz="1600" b="0">
                <a:solidFill>
                  <a:srgbClr val="334155"/>
                </a:solidFill>
                <a:latin typeface="Calibri"/>
              </a:rPr>
              <a:t>Delivered predict.py for instantaneous field health checks.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System Architecture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4300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[LAYER 1]  </a:t>
            </a:r>
            <a:r>
              <a:rPr sz="1600" b="1">
                <a:solidFill>
                  <a:srgbClr val="2563EB"/>
                </a:solidFill>
                <a:latin typeface="Calibri"/>
              </a:rPr>
              <a:t>Data Ingestion Layer: </a:t>
            </a:r>
            <a:r>
              <a:rPr sz="1600" b="0">
                <a:solidFill>
                  <a:srgbClr val="334155"/>
                </a:solidFill>
                <a:latin typeface="Calibri"/>
              </a:rPr>
              <a:t>NASA C-MAPSS telemetry streams &amp; operational setting logs.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2140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[LAYER 2]  </a:t>
            </a:r>
            <a:r>
              <a:rPr sz="1600" b="1">
                <a:solidFill>
                  <a:srgbClr val="2563EB"/>
                </a:solidFill>
                <a:latin typeface="Calibri"/>
              </a:rPr>
              <a:t>Feature Engineering Layer: </a:t>
            </a:r>
            <a:r>
              <a:rPr sz="1600" b="0">
                <a:solidFill>
                  <a:srgbClr val="334155"/>
                </a:solidFill>
                <a:latin typeface="Calibri"/>
              </a:rPr>
              <a:t>5-cycle rolling window aggregations &amp; correlation filtering.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09981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[LAYER 3]  </a:t>
            </a:r>
            <a:r>
              <a:rPr sz="1600" b="1">
                <a:solidFill>
                  <a:srgbClr val="2563EB"/>
                </a:solidFill>
                <a:latin typeface="Calibri"/>
              </a:rPr>
              <a:t>AI Modeling Layer: </a:t>
            </a:r>
            <a:r>
              <a:rPr sz="1600" b="0">
                <a:solidFill>
                  <a:srgbClr val="334155"/>
                </a:solidFill>
                <a:latin typeface="Calibri"/>
              </a:rPr>
              <a:t>RUL Regressor, Binary 30d Classifier &amp; MLP Hazard Classifier.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7822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[LAYER 4]  </a:t>
            </a:r>
            <a:r>
              <a:rPr sz="1600" b="1">
                <a:solidFill>
                  <a:srgbClr val="2563EB"/>
                </a:solidFill>
                <a:latin typeface="Calibri"/>
              </a:rPr>
              <a:t>Operational Gating Layer: </a:t>
            </a:r>
            <a:r>
              <a:rPr sz="1600" b="0">
                <a:solidFill>
                  <a:srgbClr val="334155"/>
                </a:solidFill>
                <a:latin typeface="Calibri"/>
              </a:rPr>
              <a:t>Healthy (&gt;30d), Warning (15-30d), Critical (&lt;=15d) thresholds.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5663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[LAYER 5]  </a:t>
            </a:r>
            <a:r>
              <a:rPr sz="1600" b="1">
                <a:solidFill>
                  <a:srgbClr val="2563EB"/>
                </a:solidFill>
                <a:latin typeface="Calibri"/>
              </a:rPr>
              <a:t>Deployment Interface Layer: </a:t>
            </a:r>
            <a:r>
              <a:rPr sz="1600" b="0">
                <a:solidFill>
                  <a:srgbClr val="334155"/>
                </a:solidFill>
                <a:latin typeface="Calibri"/>
              </a:rPr>
              <a:t>Command-line diagnostic runner &amp; fleet schedule dispatcher.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High-Level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4300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[COMPONENT 1]  </a:t>
            </a:r>
            <a:r>
              <a:rPr sz="1600" b="1">
                <a:solidFill>
                  <a:srgbClr val="2563EB"/>
                </a:solidFill>
                <a:latin typeface="Calibri"/>
              </a:rPr>
              <a:t>IoT Telemetry Receiver: </a:t>
            </a:r>
            <a:r>
              <a:rPr sz="1600" b="0">
                <a:solidFill>
                  <a:srgbClr val="334155"/>
                </a:solidFill>
                <a:latin typeface="Calibri"/>
              </a:rPr>
              <a:t>Captures 21 raw sensor data streams per engine cycle.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2140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[COMPONENT 2]  </a:t>
            </a:r>
            <a:r>
              <a:rPr sz="1600" b="1">
                <a:solidFill>
                  <a:srgbClr val="2563EB"/>
                </a:solidFill>
                <a:latin typeface="Calibri"/>
              </a:rPr>
              <a:t>Signal Processing Engine: </a:t>
            </a:r>
            <a:r>
              <a:rPr sz="1600" b="0">
                <a:solidFill>
                  <a:srgbClr val="334155"/>
                </a:solidFill>
                <a:latin typeface="Calibri"/>
              </a:rPr>
              <a:t>Smooths high-frequency noise via 5-cycle rolling stats.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09981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[COMPONENT 3]  </a:t>
            </a:r>
            <a:r>
              <a:rPr sz="1600" b="1">
                <a:solidFill>
                  <a:srgbClr val="2563EB"/>
                </a:solidFill>
                <a:latin typeface="Calibri"/>
              </a:rPr>
              <a:t>Machine Learning Core: </a:t>
            </a:r>
            <a:r>
              <a:rPr sz="1600" b="0">
                <a:solidFill>
                  <a:srgbClr val="334155"/>
                </a:solidFill>
                <a:latin typeface="Calibri"/>
              </a:rPr>
              <a:t>Evaluates serialized Random Forest and Neural Network models.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7822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[COMPONENT 4]  </a:t>
            </a:r>
            <a:r>
              <a:rPr sz="1600" b="1">
                <a:solidFill>
                  <a:srgbClr val="2563EB"/>
                </a:solidFill>
                <a:latin typeface="Calibri"/>
              </a:rPr>
              <a:t>Hazard Dispatcher: </a:t>
            </a:r>
            <a:r>
              <a:rPr sz="1600" b="0">
                <a:solidFill>
                  <a:srgbClr val="334155"/>
                </a:solidFill>
                <a:latin typeface="Calibri"/>
              </a:rPr>
              <a:t>Categorizes engine risk state into Green, Yellow, Red.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5663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[COMPONENT 5]  </a:t>
            </a:r>
            <a:r>
              <a:rPr sz="1600" b="1">
                <a:solidFill>
                  <a:srgbClr val="2563EB"/>
                </a:solidFill>
                <a:latin typeface="Calibri"/>
              </a:rPr>
              <a:t>Fleet Management Console: </a:t>
            </a:r>
            <a:r>
              <a:rPr sz="1600" b="0">
                <a:solidFill>
                  <a:srgbClr val="334155"/>
                </a:solidFill>
                <a:latin typeface="Calibri"/>
              </a:rPr>
              <a:t>Provides actionable maintenance queue recommendations.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Low-Level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4300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[MODULE 1]  </a:t>
            </a:r>
            <a:r>
              <a:rPr sz="1600" b="1">
                <a:solidFill>
                  <a:srgbClr val="2563EB"/>
                </a:solidFill>
                <a:latin typeface="Calibri"/>
              </a:rPr>
              <a:t>run_pipeline.py: </a:t>
            </a:r>
            <a:r>
              <a:rPr sz="1600" b="0">
                <a:solidFill>
                  <a:srgbClr val="334155"/>
                </a:solidFill>
                <a:latin typeface="Calibri"/>
              </a:rPr>
              <a:t>Executes data loading, feature generation, and model training.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2140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[MODULE 2]  </a:t>
            </a:r>
            <a:r>
              <a:rPr sz="1600" b="1">
                <a:solidFill>
                  <a:srgbClr val="2563EB"/>
                </a:solidFill>
                <a:latin typeface="Calibri"/>
              </a:rPr>
              <a:t>predict.py: </a:t>
            </a:r>
            <a:r>
              <a:rPr sz="1600" b="0">
                <a:solidFill>
                  <a:srgbClr val="334155"/>
                </a:solidFill>
                <a:latin typeface="Calibri"/>
              </a:rPr>
              <a:t>CLI execution runner parsing --engine_id for live diagnostics.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09981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[DATASET]  </a:t>
            </a:r>
            <a:r>
              <a:rPr sz="1600" b="1">
                <a:solidFill>
                  <a:srgbClr val="2563EB"/>
                </a:solidFill>
                <a:latin typeface="Calibri"/>
              </a:rPr>
              <a:t>PM_train.txt &amp; test.txt: </a:t>
            </a:r>
            <a:r>
              <a:rPr sz="1600" b="0">
                <a:solidFill>
                  <a:srgbClr val="334155"/>
                </a:solidFill>
                <a:latin typeface="Calibri"/>
              </a:rPr>
              <a:t>Space-delimited engine run-to-failure telemetry series.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7822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[MODELS]  </a:t>
            </a:r>
            <a:r>
              <a:rPr sz="1600" b="1">
                <a:solidFill>
                  <a:srgbClr val="2563EB"/>
                </a:solidFill>
                <a:latin typeface="Calibri"/>
              </a:rPr>
              <a:t>Pickle Artifacts: </a:t>
            </a:r>
            <a:r>
              <a:rPr sz="1600" b="0">
                <a:solidFill>
                  <a:srgbClr val="334155"/>
                </a:solidFill>
                <a:latin typeface="Calibri"/>
              </a:rPr>
              <a:t>rf_regressor.pkl, rf_binary.pkl, mlp_multiclass.pkl.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5663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[ASSETS]  </a:t>
            </a:r>
            <a:r>
              <a:rPr sz="1600" b="1">
                <a:solidFill>
                  <a:srgbClr val="2563EB"/>
                </a:solidFill>
                <a:latin typeface="Calibri"/>
              </a:rPr>
              <a:t>assets/ Directory: </a:t>
            </a:r>
            <a:r>
              <a:rPr sz="1600" b="0">
                <a:solidFill>
                  <a:srgbClr val="334155"/>
                </a:solidFill>
                <a:latin typeface="Calibri"/>
              </a:rPr>
              <a:t>Stores generated metric charts, ROC curves, and flowcharts.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Module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4300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[MOD 1]  </a:t>
            </a:r>
            <a:r>
              <a:rPr sz="1600" b="1">
                <a:solidFill>
                  <a:srgbClr val="2563EB"/>
                </a:solidFill>
                <a:latin typeface="Calibri"/>
              </a:rPr>
              <a:t>Data Wrangling Module: </a:t>
            </a:r>
            <a:r>
              <a:rPr sz="1600" b="0">
                <a:solidFill>
                  <a:srgbClr val="334155"/>
                </a:solidFill>
                <a:latin typeface="Calibri"/>
              </a:rPr>
              <a:t>Parses raw NASA C-MAPSS text logs into Pandas DataFrames.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2140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[MOD 2]  </a:t>
            </a:r>
            <a:r>
              <a:rPr sz="1600" b="1">
                <a:solidFill>
                  <a:srgbClr val="2563EB"/>
                </a:solidFill>
                <a:latin typeface="Calibri"/>
              </a:rPr>
              <a:t>Feature Generator: </a:t>
            </a:r>
            <a:r>
              <a:rPr sz="1600" b="0">
                <a:solidFill>
                  <a:srgbClr val="334155"/>
                </a:solidFill>
                <a:latin typeface="Calibri"/>
              </a:rPr>
              <a:t>Calculates av1-av21 (mean) and sd1-sd21 (std) features.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09981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[MOD 3]  </a:t>
            </a:r>
            <a:r>
              <a:rPr sz="1600" b="1">
                <a:solidFill>
                  <a:srgbClr val="2563EB"/>
                </a:solidFill>
                <a:latin typeface="Calibri"/>
              </a:rPr>
              <a:t>Regression Trainer: </a:t>
            </a:r>
            <a:r>
              <a:rPr sz="1600" b="0">
                <a:solidFill>
                  <a:srgbClr val="334155"/>
                </a:solidFill>
                <a:latin typeface="Calibri"/>
              </a:rPr>
              <a:t>Trains Random Forest Regressor targeting continuous RUL.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7822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[MOD 4]  </a:t>
            </a:r>
            <a:r>
              <a:rPr sz="1600" b="1">
                <a:solidFill>
                  <a:srgbClr val="2563EB"/>
                </a:solidFill>
                <a:latin typeface="Calibri"/>
              </a:rPr>
              <a:t>Classification Trainer: </a:t>
            </a:r>
            <a:r>
              <a:rPr sz="1600" b="0">
                <a:solidFill>
                  <a:srgbClr val="334155"/>
                </a:solidFill>
                <a:latin typeface="Calibri"/>
              </a:rPr>
              <a:t>Trains Binary Random Forest targeting 30-cycle warnings.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5663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[MOD 5]  </a:t>
            </a:r>
            <a:r>
              <a:rPr sz="1600" b="1">
                <a:solidFill>
                  <a:srgbClr val="2563EB"/>
                </a:solidFill>
                <a:latin typeface="Calibri"/>
              </a:rPr>
              <a:t>Neural MLP Classifier: </a:t>
            </a:r>
            <a:r>
              <a:rPr sz="1600" b="0">
                <a:solidFill>
                  <a:srgbClr val="334155"/>
                </a:solidFill>
                <a:latin typeface="Calibri"/>
              </a:rPr>
              <a:t>Trains 3-layer MLP network targeting 3 hazard risk tiers.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Database &amp; Model Storage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4300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[STORAGE 1]  </a:t>
            </a:r>
            <a:r>
              <a:rPr sz="1600" b="1">
                <a:solidFill>
                  <a:srgbClr val="2563EB"/>
                </a:solidFill>
                <a:latin typeface="Calibri"/>
              </a:rPr>
              <a:t>Serialized Model Files: </a:t>
            </a:r>
            <a:r>
              <a:rPr sz="1600" b="0">
                <a:solidFill>
                  <a:srgbClr val="334155"/>
                </a:solidFill>
                <a:latin typeface="Calibri"/>
              </a:rPr>
              <a:t>Pickle format storing trained weights and decision trees.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2140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[STORAGE 2]  </a:t>
            </a:r>
            <a:r>
              <a:rPr sz="1600" b="1">
                <a:solidFill>
                  <a:srgbClr val="2563EB"/>
                </a:solidFill>
                <a:latin typeface="Calibri"/>
              </a:rPr>
              <a:t>Telemetry Log Buffers: </a:t>
            </a:r>
            <a:r>
              <a:rPr sz="1600" b="0">
                <a:solidFill>
                  <a:srgbClr val="334155"/>
                </a:solidFill>
                <a:latin typeface="Calibri"/>
              </a:rPr>
              <a:t>CSV and NumPy array buffers for rolling window evaluation.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09981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[STORAGE 3]  </a:t>
            </a:r>
            <a:r>
              <a:rPr sz="1600" b="1">
                <a:solidFill>
                  <a:srgbClr val="2563EB"/>
                </a:solidFill>
                <a:latin typeface="Calibri"/>
              </a:rPr>
              <a:t>Feature Schema: </a:t>
            </a:r>
            <a:r>
              <a:rPr sz="1600" b="0">
                <a:solidFill>
                  <a:srgbClr val="334155"/>
                </a:solidFill>
                <a:latin typeface="Calibri"/>
              </a:rPr>
              <a:t>45 input attributes (21 raw + 21 rolling mean + 3 settings).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7822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[STORAGE 4]  </a:t>
            </a:r>
            <a:r>
              <a:rPr sz="1600" b="1">
                <a:solidFill>
                  <a:srgbClr val="2563EB"/>
                </a:solidFill>
                <a:latin typeface="Calibri"/>
              </a:rPr>
              <a:t>Ground Truth Target: </a:t>
            </a:r>
            <a:r>
              <a:rPr sz="1600" b="0">
                <a:solidFill>
                  <a:srgbClr val="334155"/>
                </a:solidFill>
                <a:latin typeface="Calibri"/>
              </a:rPr>
              <a:t>TTF (Time-To-Failure) continuous target series calculation.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5663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[STORAGE 5]  </a:t>
            </a:r>
            <a:r>
              <a:rPr sz="1600" b="1">
                <a:solidFill>
                  <a:srgbClr val="2563EB"/>
                </a:solidFill>
                <a:latin typeface="Calibri"/>
              </a:rPr>
              <a:t>Pickle Compatibility: </a:t>
            </a:r>
            <a:r>
              <a:rPr sz="1600" b="0">
                <a:solidFill>
                  <a:srgbClr val="334155"/>
                </a:solidFill>
                <a:latin typeface="Calibri"/>
              </a:rPr>
              <a:t>Scikit-Learn 1.3+ binary serialization protocol.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Dataset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4300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[PROVIDER]  </a:t>
            </a:r>
            <a:r>
              <a:rPr sz="1600" b="1">
                <a:solidFill>
                  <a:srgbClr val="2563EB"/>
                </a:solidFill>
                <a:latin typeface="Calibri"/>
              </a:rPr>
              <a:t>Data Source: </a:t>
            </a:r>
            <a:r>
              <a:rPr sz="1600" b="0">
                <a:solidFill>
                  <a:srgbClr val="334155"/>
                </a:solidFill>
                <a:latin typeface="Calibri"/>
              </a:rPr>
              <a:t>NASA Ames Prognostics Center of Excellence C-MAPSS dataset.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2140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[TRAIN FLEET]  </a:t>
            </a:r>
            <a:r>
              <a:rPr sz="1600" b="1">
                <a:solidFill>
                  <a:srgbClr val="2563EB"/>
                </a:solidFill>
                <a:latin typeface="Calibri"/>
              </a:rPr>
              <a:t>Training Fleet Size: </a:t>
            </a:r>
            <a:r>
              <a:rPr sz="1600" b="0">
                <a:solidFill>
                  <a:srgbClr val="334155"/>
                </a:solidFill>
                <a:latin typeface="Calibri"/>
              </a:rPr>
              <a:t>100 turbofan engines run to failure (20,631 total cycles).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09981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[TEST FLEET]  </a:t>
            </a:r>
            <a:r>
              <a:rPr sz="1600" b="1">
                <a:solidFill>
                  <a:srgbClr val="2563EB"/>
                </a:solidFill>
                <a:latin typeface="Calibri"/>
              </a:rPr>
              <a:t>Testing Fleet Size: </a:t>
            </a:r>
            <a:r>
              <a:rPr sz="1600" b="0">
                <a:solidFill>
                  <a:srgbClr val="334155"/>
                </a:solidFill>
                <a:latin typeface="Calibri"/>
              </a:rPr>
              <a:t>100 test engines with ground truth Remaining Useful Life.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7822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[WINDOWS]  </a:t>
            </a:r>
            <a:r>
              <a:rPr sz="1600" b="1">
                <a:solidFill>
                  <a:srgbClr val="2563EB"/>
                </a:solidFill>
                <a:latin typeface="Calibri"/>
              </a:rPr>
              <a:t>Classification Windows: </a:t>
            </a:r>
            <a:r>
              <a:rPr sz="1600" b="0">
                <a:solidFill>
                  <a:srgbClr val="334155"/>
                </a:solidFill>
                <a:latin typeface="Calibri"/>
              </a:rPr>
              <a:t>30-cycle warning window (w1=30) and 15-cycle urgent (w0=15).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5663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[QUALITY]  </a:t>
            </a:r>
            <a:r>
              <a:rPr sz="1600" b="1">
                <a:solidFill>
                  <a:srgbClr val="2563EB"/>
                </a:solidFill>
                <a:latin typeface="Calibri"/>
              </a:rPr>
              <a:t>Dataset Quality: </a:t>
            </a:r>
            <a:r>
              <a:rPr sz="1600" b="0">
                <a:solidFill>
                  <a:srgbClr val="334155"/>
                </a:solidFill>
                <a:latin typeface="Calibri"/>
              </a:rPr>
              <a:t>Zero missing values, clean numeric telemetry streams.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Feature Engineering &amp; Aggregations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4300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[TECHNIQUE 1]  </a:t>
            </a:r>
            <a:r>
              <a:rPr sz="1600" b="1">
                <a:solidFill>
                  <a:srgbClr val="2563EB"/>
                </a:solidFill>
                <a:latin typeface="Calibri"/>
              </a:rPr>
              <a:t>Rolling Window Mean: </a:t>
            </a:r>
            <a:r>
              <a:rPr sz="1600" b="0">
                <a:solidFill>
                  <a:srgbClr val="334155"/>
                </a:solidFill>
                <a:latin typeface="Calibri"/>
              </a:rPr>
              <a:t>Computes 5-cycle moving averages (av1 to av21) per sensor.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2140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[TECHNIQUE 2]  </a:t>
            </a:r>
            <a:r>
              <a:rPr sz="1600" b="1">
                <a:solidFill>
                  <a:srgbClr val="2563EB"/>
                </a:solidFill>
                <a:latin typeface="Calibri"/>
              </a:rPr>
              <a:t>Rolling Window Std Dev: </a:t>
            </a:r>
            <a:r>
              <a:rPr sz="1600" b="0">
                <a:solidFill>
                  <a:srgbClr val="334155"/>
                </a:solidFill>
                <a:latin typeface="Calibri"/>
              </a:rPr>
              <a:t>Computes 5-cycle standard deviation (sd1 to sd21) per sensor.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09981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[TECHNIQUE 3]  </a:t>
            </a:r>
            <a:r>
              <a:rPr sz="1600" b="1">
                <a:solidFill>
                  <a:srgbClr val="2563EB"/>
                </a:solidFill>
                <a:latin typeface="Calibri"/>
              </a:rPr>
              <a:t>Multicollinearity Filter: </a:t>
            </a:r>
            <a:r>
              <a:rPr sz="1600" b="0">
                <a:solidFill>
                  <a:srgbClr val="334155"/>
                </a:solidFill>
                <a:latin typeface="Calibri"/>
              </a:rPr>
              <a:t>Removes highly correlated sensor pairs (s14, s9 with r &gt; 0.80).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7822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[TECHNIQUE 4]  </a:t>
            </a:r>
            <a:r>
              <a:rPr sz="1600" b="1">
                <a:solidFill>
                  <a:srgbClr val="2563EB"/>
                </a:solidFill>
                <a:latin typeface="Calibri"/>
              </a:rPr>
              <a:t>Scale Normalization: </a:t>
            </a:r>
            <a:r>
              <a:rPr sz="1600" b="0">
                <a:solidFill>
                  <a:srgbClr val="334155"/>
                </a:solidFill>
                <a:latin typeface="Calibri"/>
              </a:rPr>
              <a:t>Applies StandardScaler to eliminate sensor magnitude bias.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5663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[RESULT]  </a:t>
            </a:r>
            <a:r>
              <a:rPr sz="1600" b="1">
                <a:solidFill>
                  <a:srgbClr val="2563EB"/>
                </a:solidFill>
                <a:latin typeface="Calibri"/>
              </a:rPr>
              <a:t>Expanded Feature Space: </a:t>
            </a:r>
            <a:r>
              <a:rPr sz="1600" b="0">
                <a:solidFill>
                  <a:srgbClr val="334155"/>
                </a:solidFill>
                <a:latin typeface="Calibri"/>
              </a:rPr>
              <a:t>Generates 45 rich numerical attributes for model training.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Algorithm Selection &amp; Rationale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4300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[ALGO 1]  </a:t>
            </a:r>
            <a:r>
              <a:rPr sz="1600" b="1">
                <a:solidFill>
                  <a:srgbClr val="2563EB"/>
                </a:solidFill>
                <a:latin typeface="Calibri"/>
              </a:rPr>
              <a:t>Random Forest Regressor: </a:t>
            </a:r>
            <a:r>
              <a:rPr sz="1600" b="0">
                <a:solidFill>
                  <a:srgbClr val="334155"/>
                </a:solidFill>
                <a:latin typeface="Calibri"/>
              </a:rPr>
              <a:t>Best RUL prediction algorithm handling non-linear wear.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2140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[ALGO 2]  </a:t>
            </a:r>
            <a:r>
              <a:rPr sz="1600" b="1">
                <a:solidFill>
                  <a:srgbClr val="2563EB"/>
                </a:solidFill>
                <a:latin typeface="Calibri"/>
              </a:rPr>
              <a:t>Random Forest Classifier: </a:t>
            </a:r>
            <a:r>
              <a:rPr sz="1600" b="0">
                <a:solidFill>
                  <a:srgbClr val="334155"/>
                </a:solidFill>
                <a:latin typeface="Calibri"/>
              </a:rPr>
              <a:t>Best binary classifier for 30-day failure warning alerts.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09981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[ALGO 3]  </a:t>
            </a:r>
            <a:r>
              <a:rPr sz="1600" b="1">
                <a:solidFill>
                  <a:srgbClr val="2563EB"/>
                </a:solidFill>
                <a:latin typeface="Calibri"/>
              </a:rPr>
              <a:t>Multi-Layer Perceptron: </a:t>
            </a:r>
            <a:r>
              <a:rPr sz="1600" b="0">
                <a:solidFill>
                  <a:srgbClr val="334155"/>
                </a:solidFill>
                <a:latin typeface="Calibri"/>
              </a:rPr>
              <a:t>Neural net providing 3-tier risk hazard probability softmax.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7822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[ALGO 4]  </a:t>
            </a:r>
            <a:r>
              <a:rPr sz="1600" b="1">
                <a:solidFill>
                  <a:srgbClr val="2563EB"/>
                </a:solidFill>
                <a:latin typeface="Calibri"/>
              </a:rPr>
              <a:t>Support Vector Machines: </a:t>
            </a:r>
            <a:r>
              <a:rPr sz="1600" b="0">
                <a:solidFill>
                  <a:srgbClr val="334155"/>
                </a:solidFill>
                <a:latin typeface="Calibri"/>
              </a:rPr>
              <a:t>Evaluated RBF kernel SVM achieving 100% precision baseline.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5663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[ALGO 5]  </a:t>
            </a:r>
            <a:r>
              <a:rPr sz="1600" b="1">
                <a:solidFill>
                  <a:srgbClr val="2563EB"/>
                </a:solidFill>
                <a:latin typeface="Calibri"/>
              </a:rPr>
              <a:t>Naive Bayes &amp; Trees: </a:t>
            </a:r>
            <a:r>
              <a:rPr sz="1600" b="0">
                <a:solidFill>
                  <a:srgbClr val="334155"/>
                </a:solidFill>
                <a:latin typeface="Calibri"/>
              </a:rPr>
              <a:t>Evaluated Gaussian Naive Bayes and Decision Trees as baselines.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Mathematical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18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4300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[EQ 1]  </a:t>
            </a:r>
            <a:r>
              <a:rPr sz="1600" b="1">
                <a:solidFill>
                  <a:srgbClr val="2563EB"/>
                </a:solidFill>
                <a:latin typeface="Calibri"/>
              </a:rPr>
              <a:t>Remaining Useful Life (RUL): </a:t>
            </a:r>
            <a:r>
              <a:rPr sz="1600" b="0">
                <a:solidFill>
                  <a:srgbClr val="334155"/>
                </a:solidFill>
                <a:latin typeface="Calibri"/>
              </a:rPr>
              <a:t>RUL_i,t = Max_Cycle_i - Current_Cycle_t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2140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[EQ 2]  </a:t>
            </a:r>
            <a:r>
              <a:rPr sz="1600" b="1">
                <a:solidFill>
                  <a:srgbClr val="2563EB"/>
                </a:solidFill>
                <a:latin typeface="Calibri"/>
              </a:rPr>
              <a:t>5-Cycle Rolling Mean: </a:t>
            </a:r>
            <a:r>
              <a:rPr sz="1600" b="0">
                <a:solidFill>
                  <a:srgbClr val="334155"/>
                </a:solidFill>
                <a:latin typeface="Calibri"/>
              </a:rPr>
              <a:t>av_s,t = (1/5) * Sum_{k=0}^4 s_{t-k}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09981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[EQ 3]  </a:t>
            </a:r>
            <a:r>
              <a:rPr sz="1600" b="1">
                <a:solidFill>
                  <a:srgbClr val="2563EB"/>
                </a:solidFill>
                <a:latin typeface="Calibri"/>
              </a:rPr>
              <a:t>5-Cycle Rolling Std Dev: </a:t>
            </a:r>
            <a:r>
              <a:rPr sz="1600" b="0">
                <a:solidFill>
                  <a:srgbClr val="334155"/>
                </a:solidFill>
                <a:latin typeface="Calibri"/>
              </a:rPr>
              <a:t>sd_s,t = Sqrt( (1/5) * Sum_{k=0}^4 (s_{t-k} - av_s,t)^2 )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7822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[EQ 4]  </a:t>
            </a:r>
            <a:r>
              <a:rPr sz="1600" b="1">
                <a:solidFill>
                  <a:srgbClr val="2563EB"/>
                </a:solidFill>
                <a:latin typeface="Calibri"/>
              </a:rPr>
              <a:t>Binary Target Formula: </a:t>
            </a:r>
            <a:r>
              <a:rPr sz="1600" b="0">
                <a:solidFill>
                  <a:srgbClr val="334155"/>
                </a:solidFill>
                <a:latin typeface="Calibri"/>
              </a:rPr>
              <a:t>Label_30d = 1 if RUL &lt;= 30 else 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5663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[EQ 5]  </a:t>
            </a:r>
            <a:r>
              <a:rPr sz="1600" b="1">
                <a:solidFill>
                  <a:srgbClr val="2563EB"/>
                </a:solidFill>
                <a:latin typeface="Calibri"/>
              </a:rPr>
              <a:t>Multi-Class Risk Target: </a:t>
            </a:r>
            <a:r>
              <a:rPr sz="1600" b="0">
                <a:solidFill>
                  <a:srgbClr val="334155"/>
                </a:solidFill>
                <a:latin typeface="Calibri"/>
              </a:rPr>
              <a:t>Risk = 0 (Critical &lt;=15d), 1 (Warning 15-30d), 2 (Healthy &gt;30d)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Workflow &amp; Execution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4300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[STEP 1]  </a:t>
            </a:r>
            <a:r>
              <a:rPr sz="1600" b="1">
                <a:solidFill>
                  <a:srgbClr val="2563EB"/>
                </a:solidFill>
                <a:latin typeface="Calibri"/>
              </a:rPr>
              <a:t>Raw Sensor Read: </a:t>
            </a:r>
            <a:r>
              <a:rPr sz="1600" b="0">
                <a:solidFill>
                  <a:srgbClr val="334155"/>
                </a:solidFill>
                <a:latin typeface="Calibri"/>
              </a:rPr>
              <a:t>Ingests 21 continuous sensor streams from turbofan engine.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2140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[STEP 2]  </a:t>
            </a:r>
            <a:r>
              <a:rPr sz="1600" b="1">
                <a:solidFill>
                  <a:srgbClr val="2563EB"/>
                </a:solidFill>
                <a:latin typeface="Calibri"/>
              </a:rPr>
              <a:t>Rolling Aggregation: </a:t>
            </a:r>
            <a:r>
              <a:rPr sz="1600" b="0">
                <a:solidFill>
                  <a:srgbClr val="334155"/>
                </a:solidFill>
                <a:latin typeface="Calibri"/>
              </a:rPr>
              <a:t>Calculates 5-cycle rolling statistics for noise reduction.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09981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[STEP 3]  </a:t>
            </a:r>
            <a:r>
              <a:rPr sz="1600" b="1">
                <a:solidFill>
                  <a:srgbClr val="2563EB"/>
                </a:solidFill>
                <a:latin typeface="Calibri"/>
              </a:rPr>
              <a:t>Feature Transformation: </a:t>
            </a:r>
            <a:r>
              <a:rPr sz="1600" b="0">
                <a:solidFill>
                  <a:srgbClr val="334155"/>
                </a:solidFill>
                <a:latin typeface="Calibri"/>
              </a:rPr>
              <a:t>Applies StandardScaler normalization across feature matrix.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7822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[STEP 4]  </a:t>
            </a:r>
            <a:r>
              <a:rPr sz="1600" b="1">
                <a:solidFill>
                  <a:srgbClr val="2563EB"/>
                </a:solidFill>
                <a:latin typeface="Calibri"/>
              </a:rPr>
              <a:t>Model Evaluation: </a:t>
            </a:r>
            <a:r>
              <a:rPr sz="1600" b="0">
                <a:solidFill>
                  <a:srgbClr val="334155"/>
                </a:solidFill>
                <a:latin typeface="Calibri"/>
              </a:rPr>
              <a:t>Passes transformed vector to Random Forest and Neural MLP.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5663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[STEP 5]  </a:t>
            </a:r>
            <a:r>
              <a:rPr sz="1600" b="1">
                <a:solidFill>
                  <a:srgbClr val="2563EB"/>
                </a:solidFill>
                <a:latin typeface="Calibri"/>
              </a:rPr>
              <a:t>Diagnostic Dispatch: </a:t>
            </a:r>
            <a:r>
              <a:rPr sz="1600" b="0">
                <a:solidFill>
                  <a:srgbClr val="334155"/>
                </a:solidFill>
                <a:latin typeface="Calibri"/>
              </a:rPr>
              <a:t>Outputs RUL estimate, failure probability, and hazard status.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System Methodology &amp; Data Flowchart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365760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38BDF8"/>
                </a:solidFill>
                <a:latin typeface="Calibri"/>
              </a:rPr>
              <a:t>[STEP 1] </a:t>
            </a:r>
            <a:r>
              <a:rPr sz="1600" b="1">
                <a:solidFill>
                  <a:srgbClr val="2563EB"/>
                </a:solidFill>
                <a:latin typeface="Calibri"/>
              </a:rPr>
              <a:t>Stage 1 Ingestion: </a:t>
            </a:r>
            <a:r>
              <a:rPr sz="1600" b="0">
                <a:solidFill>
                  <a:srgbClr val="334155"/>
                </a:solidFill>
                <a:latin typeface="Calibri"/>
              </a:rPr>
              <a:t>NASA C-MAPSS telemetry dataset.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38BDF8"/>
                </a:solidFill>
                <a:latin typeface="Calibri"/>
              </a:rPr>
              <a:t>[STEP 2] </a:t>
            </a:r>
            <a:r>
              <a:rPr sz="1600" b="1">
                <a:solidFill>
                  <a:srgbClr val="2563EB"/>
                </a:solidFill>
                <a:latin typeface="Calibri"/>
              </a:rPr>
              <a:t>Stage 2 Preprocessing: </a:t>
            </a:r>
            <a:r>
              <a:rPr sz="1600" b="0">
                <a:solidFill>
                  <a:srgbClr val="334155"/>
                </a:solidFill>
                <a:latin typeface="Calibri"/>
              </a:rPr>
              <a:t>5-cycle rolling mean and std.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38BDF8"/>
                </a:solidFill>
                <a:latin typeface="Calibri"/>
              </a:rPr>
              <a:t>[STEP 3] </a:t>
            </a:r>
            <a:r>
              <a:rPr sz="1600" b="1">
                <a:solidFill>
                  <a:srgbClr val="2563EB"/>
                </a:solidFill>
                <a:latin typeface="Calibri"/>
              </a:rPr>
              <a:t>Stage 3 Filter: </a:t>
            </a:r>
            <a:r>
              <a:rPr sz="1600" b="0">
                <a:solidFill>
                  <a:srgbClr val="334155"/>
                </a:solidFill>
                <a:latin typeface="Calibri"/>
              </a:rPr>
              <a:t>Removes correlation pairs r &gt; 0.80.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38BDF8"/>
                </a:solidFill>
                <a:latin typeface="Calibri"/>
              </a:rPr>
              <a:t>[STEP 4] </a:t>
            </a:r>
            <a:r>
              <a:rPr sz="1600" b="1">
                <a:solidFill>
                  <a:srgbClr val="2563EB"/>
                </a:solidFill>
                <a:latin typeface="Calibri"/>
              </a:rPr>
              <a:t>Stage 4 AI Engine: </a:t>
            </a:r>
            <a:r>
              <a:rPr sz="1600" b="0">
                <a:solidFill>
                  <a:srgbClr val="334155"/>
                </a:solidFill>
                <a:latin typeface="Calibri"/>
              </a:rPr>
              <a:t>Tri-model regression and classifier.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38BDF8"/>
                </a:solidFill>
                <a:latin typeface="Calibri"/>
              </a:rPr>
              <a:t>[STEP 5] </a:t>
            </a:r>
            <a:r>
              <a:rPr sz="1600" b="1">
                <a:solidFill>
                  <a:srgbClr val="2563EB"/>
                </a:solidFill>
                <a:latin typeface="Calibri"/>
              </a:rPr>
              <a:t>Stage 5 Actionable Report: </a:t>
            </a:r>
            <a:r>
              <a:rPr sz="1600" b="0">
                <a:solidFill>
                  <a:srgbClr val="334155"/>
                </a:solidFill>
                <a:latin typeface="Calibri"/>
              </a:rPr>
              <a:t>Fleet health score and dispatch.</a:t>
            </a:r>
          </a:p>
        </p:txBody>
      </p:sp>
      <p:pic>
        <p:nvPicPr>
          <p:cNvPr id="5" name="Picture 4" descr="vertical_flowchart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005840"/>
            <a:ext cx="4389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Sequence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21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4300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[ACTOR]  </a:t>
            </a:r>
            <a:r>
              <a:rPr sz="1600" b="1">
                <a:solidFill>
                  <a:srgbClr val="2563EB"/>
                </a:solidFill>
                <a:latin typeface="Calibri"/>
              </a:rPr>
              <a:t>Fleet Operator: </a:t>
            </a:r>
            <a:r>
              <a:rPr sz="1600" b="0">
                <a:solidFill>
                  <a:srgbClr val="334155"/>
                </a:solidFill>
                <a:latin typeface="Calibri"/>
              </a:rPr>
              <a:t>Executes predict.py CLI with target --engine_id parameter.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2140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[CALL 1]  </a:t>
            </a:r>
            <a:r>
              <a:rPr sz="1600" b="1">
                <a:solidFill>
                  <a:srgbClr val="2563EB"/>
                </a:solidFill>
                <a:latin typeface="Calibri"/>
              </a:rPr>
              <a:t>CLI Interface: </a:t>
            </a:r>
            <a:r>
              <a:rPr sz="1600" b="0">
                <a:solidFill>
                  <a:srgbClr val="334155"/>
                </a:solidFill>
                <a:latin typeface="Calibri"/>
              </a:rPr>
              <a:t>Loads serialized model pickle files from disk into memory.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09981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[CALL 2]  </a:t>
            </a:r>
            <a:r>
              <a:rPr sz="1600" b="1">
                <a:solidFill>
                  <a:srgbClr val="2563EB"/>
                </a:solidFill>
                <a:latin typeface="Calibri"/>
              </a:rPr>
              <a:t>Data Engine: </a:t>
            </a:r>
            <a:r>
              <a:rPr sz="1600" b="0">
                <a:solidFill>
                  <a:srgbClr val="334155"/>
                </a:solidFill>
                <a:latin typeface="Calibri"/>
              </a:rPr>
              <a:t>Extracts test telemetry time-series for specified engine ID.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7822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[CALL 3]  </a:t>
            </a:r>
            <a:r>
              <a:rPr sz="1600" b="1">
                <a:solidFill>
                  <a:srgbClr val="2563EB"/>
                </a:solidFill>
                <a:latin typeface="Calibri"/>
              </a:rPr>
              <a:t>Predictor Core: </a:t>
            </a:r>
            <a:r>
              <a:rPr sz="1600" b="0">
                <a:solidFill>
                  <a:srgbClr val="334155"/>
                </a:solidFill>
                <a:latin typeface="Calibri"/>
              </a:rPr>
              <a:t>Computes rolling features and evaluates model probabilities.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5663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[RETURN]  </a:t>
            </a:r>
            <a:r>
              <a:rPr sz="1600" b="1">
                <a:solidFill>
                  <a:srgbClr val="2563EB"/>
                </a:solidFill>
                <a:latin typeface="Calibri"/>
              </a:rPr>
              <a:t>Console Output: </a:t>
            </a:r>
            <a:r>
              <a:rPr sz="1600" b="0">
                <a:solidFill>
                  <a:srgbClr val="334155"/>
                </a:solidFill>
                <a:latin typeface="Calibri"/>
              </a:rPr>
              <a:t>Displays colored diagnostic report with RUL and hazard rating.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Activity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22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4300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[START]  </a:t>
            </a:r>
            <a:r>
              <a:rPr sz="1600" b="1">
                <a:solidFill>
                  <a:srgbClr val="2563EB"/>
                </a:solidFill>
                <a:latin typeface="Calibri"/>
              </a:rPr>
              <a:t>System Initialization: </a:t>
            </a:r>
            <a:r>
              <a:rPr sz="1600" b="0">
                <a:solidFill>
                  <a:srgbClr val="334155"/>
                </a:solidFill>
                <a:latin typeface="Calibri"/>
              </a:rPr>
              <a:t>Loads configuration settings and trained ML model binaries.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2140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[ACTION 1]  </a:t>
            </a:r>
            <a:r>
              <a:rPr sz="1600" b="1">
                <a:solidFill>
                  <a:srgbClr val="2563EB"/>
                </a:solidFill>
                <a:latin typeface="Calibri"/>
              </a:rPr>
              <a:t>Telemetry Scan: </a:t>
            </a:r>
            <a:r>
              <a:rPr sz="1600" b="0">
                <a:solidFill>
                  <a:srgbClr val="334155"/>
                </a:solidFill>
                <a:latin typeface="Calibri"/>
              </a:rPr>
              <a:t>Reads latest sensor cycles from aircraft turbofan buffer.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09981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[DECISION]  </a:t>
            </a:r>
            <a:r>
              <a:rPr sz="1600" b="1">
                <a:solidFill>
                  <a:srgbClr val="2563EB"/>
                </a:solidFill>
                <a:latin typeface="Calibri"/>
              </a:rPr>
              <a:t>Data Quality Check: </a:t>
            </a:r>
            <a:r>
              <a:rPr sz="1600" b="0">
                <a:solidFill>
                  <a:srgbClr val="334155"/>
                </a:solidFill>
                <a:latin typeface="Calibri"/>
              </a:rPr>
              <a:t>Validates zero missing values and correct sensor channel counts.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7822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[ACTION 2]  </a:t>
            </a:r>
            <a:r>
              <a:rPr sz="1600" b="1">
                <a:solidFill>
                  <a:srgbClr val="2563EB"/>
                </a:solidFill>
                <a:latin typeface="Calibri"/>
              </a:rPr>
              <a:t>Predictive Inference: </a:t>
            </a:r>
            <a:r>
              <a:rPr sz="1600" b="0">
                <a:solidFill>
                  <a:srgbClr val="334155"/>
                </a:solidFill>
                <a:latin typeface="Calibri"/>
              </a:rPr>
              <a:t>Executes Random Forest RUL and 30d binary classifier.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5663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[END]  </a:t>
            </a:r>
            <a:r>
              <a:rPr sz="1600" b="1">
                <a:solidFill>
                  <a:srgbClr val="2563EB"/>
                </a:solidFill>
                <a:latin typeface="Calibri"/>
              </a:rPr>
              <a:t>Dispatch Action: </a:t>
            </a:r>
            <a:r>
              <a:rPr sz="1600" b="0">
                <a:solidFill>
                  <a:srgbClr val="334155"/>
                </a:solidFill>
                <a:latin typeface="Calibri"/>
              </a:rPr>
              <a:t>Queues maintenance or permits flight based on risk tier.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Use Case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23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4300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[ACTOR 1]  </a:t>
            </a:r>
            <a:r>
              <a:rPr sz="1600" b="1">
                <a:solidFill>
                  <a:srgbClr val="2563EB"/>
                </a:solidFill>
                <a:latin typeface="Calibri"/>
              </a:rPr>
              <a:t>Fleet Engineer: </a:t>
            </a:r>
            <a:r>
              <a:rPr sz="1600" b="0">
                <a:solidFill>
                  <a:srgbClr val="334155"/>
                </a:solidFill>
                <a:latin typeface="Calibri"/>
              </a:rPr>
              <a:t>Triggers live engine health checks via predict.py CLI.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2140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[ACTOR 2]  </a:t>
            </a:r>
            <a:r>
              <a:rPr sz="1600" b="1">
                <a:solidFill>
                  <a:srgbClr val="2563EB"/>
                </a:solidFill>
                <a:latin typeface="Calibri"/>
              </a:rPr>
              <a:t>Maintenance Planner: </a:t>
            </a:r>
            <a:r>
              <a:rPr sz="1600" b="0">
                <a:solidFill>
                  <a:srgbClr val="334155"/>
                </a:solidFill>
                <a:latin typeface="Calibri"/>
              </a:rPr>
              <a:t>Schedules preventive servicing based on yellow warning alerts.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09981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[ACTOR 3]  </a:t>
            </a:r>
            <a:r>
              <a:rPr sz="1600" b="1">
                <a:solidFill>
                  <a:srgbClr val="2563EB"/>
                </a:solidFill>
                <a:latin typeface="Calibri"/>
              </a:rPr>
              <a:t>Flight Controller: </a:t>
            </a:r>
            <a:r>
              <a:rPr sz="1600" b="0">
                <a:solidFill>
                  <a:srgbClr val="334155"/>
                </a:solidFill>
                <a:latin typeface="Calibri"/>
              </a:rPr>
              <a:t>Grounds aircraft immediately upon red critical hazard alerts.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7822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[SYSTEM]  </a:t>
            </a:r>
            <a:r>
              <a:rPr sz="1600" b="1">
                <a:solidFill>
                  <a:srgbClr val="2563EB"/>
                </a:solidFill>
                <a:latin typeface="Calibri"/>
              </a:rPr>
              <a:t>Predictive Engine: </a:t>
            </a:r>
            <a:r>
              <a:rPr sz="1600" b="0">
                <a:solidFill>
                  <a:srgbClr val="334155"/>
                </a:solidFill>
                <a:latin typeface="Calibri"/>
              </a:rPr>
              <a:t>Computes RUL forecasts, ROC scores, and cost optimization.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5663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[ADMIN]  </a:t>
            </a:r>
            <a:r>
              <a:rPr sz="1600" b="1">
                <a:solidFill>
                  <a:srgbClr val="2563EB"/>
                </a:solidFill>
                <a:latin typeface="Calibri"/>
              </a:rPr>
              <a:t>Data Scientist: </a:t>
            </a:r>
            <a:r>
              <a:rPr sz="1600" b="0">
                <a:solidFill>
                  <a:srgbClr val="334155"/>
                </a:solidFill>
                <a:latin typeface="Calibri"/>
              </a:rPr>
              <a:t>Retrains model pipelines using new engine run-to-failure logs.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Class Diagram &amp; Code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24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4300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[CLASS 1]  </a:t>
            </a:r>
            <a:r>
              <a:rPr sz="1600" b="1">
                <a:solidFill>
                  <a:srgbClr val="2563EB"/>
                </a:solidFill>
                <a:latin typeface="Calibri"/>
              </a:rPr>
              <a:t>TelemetryLoader: </a:t>
            </a:r>
            <a:r>
              <a:rPr sz="1600" b="0">
                <a:solidFill>
                  <a:srgbClr val="334155"/>
                </a:solidFill>
                <a:latin typeface="Calibri"/>
              </a:rPr>
              <a:t>Handles parsing and cleaning of NASA C-MAPSS text datasets.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2140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[CLASS 2]  </a:t>
            </a:r>
            <a:r>
              <a:rPr sz="1600" b="1">
                <a:solidFill>
                  <a:srgbClr val="2563EB"/>
                </a:solidFill>
                <a:latin typeface="Calibri"/>
              </a:rPr>
              <a:t>FeatureExtractor: </a:t>
            </a:r>
            <a:r>
              <a:rPr sz="1600" b="0">
                <a:solidFill>
                  <a:srgbClr val="334155"/>
                </a:solidFill>
                <a:latin typeface="Calibri"/>
              </a:rPr>
              <a:t>Calculates 5-cycle rolling mean (av) and rolling std (sd).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09981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[CLASS 3]  </a:t>
            </a:r>
            <a:r>
              <a:rPr sz="1600" b="1">
                <a:solidFill>
                  <a:srgbClr val="2563EB"/>
                </a:solidFill>
                <a:latin typeface="Calibri"/>
              </a:rPr>
              <a:t>ModelTrainer: </a:t>
            </a:r>
            <a:r>
              <a:rPr sz="1600" b="0">
                <a:solidFill>
                  <a:srgbClr val="334155"/>
                </a:solidFill>
                <a:latin typeface="Calibri"/>
              </a:rPr>
              <a:t>Fits Random Forest and MLP models; exports serialized pickle files.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7822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[CLASS 4]  </a:t>
            </a:r>
            <a:r>
              <a:rPr sz="1600" b="1">
                <a:solidFill>
                  <a:srgbClr val="2563EB"/>
                </a:solidFill>
                <a:latin typeface="Calibri"/>
              </a:rPr>
              <a:t>DiagnosticCLI: </a:t>
            </a:r>
            <a:r>
              <a:rPr sz="1600" b="0">
                <a:solidFill>
                  <a:srgbClr val="334155"/>
                </a:solidFill>
                <a:latin typeface="Calibri"/>
              </a:rPr>
              <a:t>Implements command-line interface for predict.py execution.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5663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[CLASS 5]  </a:t>
            </a:r>
            <a:r>
              <a:rPr sz="1600" b="1">
                <a:solidFill>
                  <a:srgbClr val="2563EB"/>
                </a:solidFill>
                <a:latin typeface="Calibri"/>
              </a:rPr>
              <a:t>MetricsEvaluator: </a:t>
            </a:r>
            <a:r>
              <a:rPr sz="1600" b="0">
                <a:solidFill>
                  <a:srgbClr val="334155"/>
                </a:solidFill>
                <a:latin typeface="Calibri"/>
              </a:rPr>
              <a:t>Generates ROC curves, confusion matrices, and RMSE stats.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ER Diagram &amp; Data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25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4300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[ENTITY 1]  </a:t>
            </a:r>
            <a:r>
              <a:rPr sz="1600" b="1">
                <a:solidFill>
                  <a:srgbClr val="2563EB"/>
                </a:solidFill>
                <a:latin typeface="Calibri"/>
              </a:rPr>
              <a:t>Engine Unit: </a:t>
            </a:r>
            <a:r>
              <a:rPr sz="1600" b="0">
                <a:solidFill>
                  <a:srgbClr val="334155"/>
                </a:solidFill>
                <a:latin typeface="Calibri"/>
              </a:rPr>
              <a:t>Attributes: engine_id, max_cycles, fleet_group, status.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2140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[ENTITY 2]  </a:t>
            </a:r>
            <a:r>
              <a:rPr sz="1600" b="1">
                <a:solidFill>
                  <a:srgbClr val="2563EB"/>
                </a:solidFill>
                <a:latin typeface="Calibri"/>
              </a:rPr>
              <a:t>Sensor Telemetry: </a:t>
            </a:r>
            <a:r>
              <a:rPr sz="1600" b="0">
                <a:solidFill>
                  <a:srgbClr val="334155"/>
                </a:solidFill>
                <a:latin typeface="Calibri"/>
              </a:rPr>
              <a:t>Attributes: engine_id, cycle, setting1-3, s1-s21.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09981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[ENTITY 3]  </a:t>
            </a:r>
            <a:r>
              <a:rPr sz="1600" b="1">
                <a:solidFill>
                  <a:srgbClr val="2563EB"/>
                </a:solidFill>
                <a:latin typeface="Calibri"/>
              </a:rPr>
              <a:t>Rolling Features: </a:t>
            </a:r>
            <a:r>
              <a:rPr sz="1600" b="0">
                <a:solidFill>
                  <a:srgbClr val="334155"/>
                </a:solidFill>
                <a:latin typeface="Calibri"/>
              </a:rPr>
              <a:t>Attributes: engine_id, cycle, av1-av21, sd1-sd21.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7822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[ENTITY 4]  </a:t>
            </a:r>
            <a:r>
              <a:rPr sz="1600" b="1">
                <a:solidFill>
                  <a:srgbClr val="2563EB"/>
                </a:solidFill>
                <a:latin typeface="Calibri"/>
              </a:rPr>
              <a:t>Model Prediction: </a:t>
            </a:r>
            <a:r>
              <a:rPr sz="1600" b="0">
                <a:solidFill>
                  <a:srgbClr val="334155"/>
                </a:solidFill>
                <a:latin typeface="Calibri"/>
              </a:rPr>
              <a:t>Attributes: engine_id, predicted_rul, prob_30d, risk_tier.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5663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[RELATION]  </a:t>
            </a:r>
            <a:r>
              <a:rPr sz="1600" b="1">
                <a:solidFill>
                  <a:srgbClr val="2563EB"/>
                </a:solidFill>
                <a:latin typeface="Calibri"/>
              </a:rPr>
              <a:t>Relationships: </a:t>
            </a:r>
            <a:r>
              <a:rPr sz="1600" b="0">
                <a:solidFill>
                  <a:srgbClr val="334155"/>
                </a:solidFill>
                <a:latin typeface="Calibri"/>
              </a:rPr>
              <a:t>Engine Unit (1) -- (N) Sensor Telemetry -- (1) Model Prediction.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Technology Stack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26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80467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286000"/>
                <a:gridCol w="2468880"/>
                <a:gridCol w="1645920"/>
              </a:tblGrid>
              <a:tr h="653142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Layer Component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Technology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Primary Function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Version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Language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Python 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Engine logic and predictive algorithms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3.11+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Machine Learning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Scikit-Learn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Random Forest, SVM, MLP Neural Net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v1.3.2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Data Wrangling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Pandas &amp; NumPy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5-cycle rolling aggregations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v2.2.0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Signal Analytics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SciPy Signal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Noise reduction and correlation filter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v1.11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CLI Diagnostic Tool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Argparse &amp; Pickle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Serialized model runner predict.py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314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Visualization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Matplotlib &amp; Seaborn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ROC and Precision-Recall curves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v3.8.0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Project Folder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27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4300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[FILE 1]  </a:t>
            </a:r>
            <a:r>
              <a:rPr sz="1600" b="1">
                <a:solidFill>
                  <a:srgbClr val="2563EB"/>
                </a:solidFill>
                <a:latin typeface="Calibri"/>
              </a:rPr>
              <a:t>run_pipeline.py: </a:t>
            </a:r>
            <a:r>
              <a:rPr sz="1600" b="0">
                <a:solidFill>
                  <a:srgbClr val="334155"/>
                </a:solidFill>
                <a:latin typeface="Calibri"/>
              </a:rPr>
              <a:t>Master training pipeline script executing data wrangling and fitting.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2140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[FILE 2]  </a:t>
            </a:r>
            <a:r>
              <a:rPr sz="1600" b="1">
                <a:solidFill>
                  <a:srgbClr val="2563EB"/>
                </a:solidFill>
                <a:latin typeface="Calibri"/>
              </a:rPr>
              <a:t>predict.py: </a:t>
            </a:r>
            <a:r>
              <a:rPr sz="1600" b="0">
                <a:solidFill>
                  <a:srgbClr val="334155"/>
                </a:solidFill>
                <a:latin typeface="Calibri"/>
              </a:rPr>
              <a:t>Interactive CLI diagnostic tool evaluating test engine IDs.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09981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[FILE 3]  </a:t>
            </a:r>
            <a:r>
              <a:rPr sz="1600" b="1">
                <a:solidFill>
                  <a:srgbClr val="2563EB"/>
                </a:solidFill>
                <a:latin typeface="Calibri"/>
              </a:rPr>
              <a:t>assets/: </a:t>
            </a:r>
            <a:r>
              <a:rPr sz="1600" b="0">
                <a:solidFill>
                  <a:srgbClr val="334155"/>
                </a:solidFill>
                <a:latin typeface="Calibri"/>
              </a:rPr>
              <a:t>Directory containing ROC curves, confusion matrices, and flowcharts.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7822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[FILE 4]  </a:t>
            </a:r>
            <a:r>
              <a:rPr sz="1600" b="1">
                <a:solidFill>
                  <a:srgbClr val="2563EB"/>
                </a:solidFill>
                <a:latin typeface="Calibri"/>
              </a:rPr>
              <a:t>Pickle Files: </a:t>
            </a:r>
            <a:r>
              <a:rPr sz="1600" b="0">
                <a:solidFill>
                  <a:srgbClr val="334155"/>
                </a:solidFill>
                <a:latin typeface="Calibri"/>
              </a:rPr>
              <a:t>rf_regressor.pkl, rf_binary.pkl, mlp_multiclass.pkl.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5663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[FILE 5]  </a:t>
            </a:r>
            <a:r>
              <a:rPr sz="1600" b="1">
                <a:solidFill>
                  <a:srgbClr val="2563EB"/>
                </a:solidFill>
                <a:latin typeface="Calibri"/>
              </a:rPr>
              <a:t>README.md &amp; PPTX: </a:t>
            </a:r>
            <a:r>
              <a:rPr sz="1600" b="0">
                <a:solidFill>
                  <a:srgbClr val="334155"/>
                </a:solidFill>
                <a:latin typeface="Calibri"/>
              </a:rPr>
              <a:t>Comprehensive project documentation and presentation deck.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Source Code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28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4300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[LAYER 1]  </a:t>
            </a:r>
            <a:r>
              <a:rPr sz="1600" b="1">
                <a:solidFill>
                  <a:srgbClr val="2563EB"/>
                </a:solidFill>
                <a:latin typeface="Calibri"/>
              </a:rPr>
              <a:t>Ingestion Engine: </a:t>
            </a:r>
            <a:r>
              <a:rPr sz="1600" b="0">
                <a:solidFill>
                  <a:srgbClr val="334155"/>
                </a:solidFill>
                <a:latin typeface="Calibri"/>
              </a:rPr>
              <a:t>PM_train.txt and PM_test.txt parsing functions.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2140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[LAYER 2]  </a:t>
            </a:r>
            <a:r>
              <a:rPr sz="1600" b="1">
                <a:solidFill>
                  <a:srgbClr val="2563EB"/>
                </a:solidFill>
                <a:latin typeface="Calibri"/>
              </a:rPr>
              <a:t>Signal Processor: </a:t>
            </a:r>
            <a:r>
              <a:rPr sz="1600" b="0">
                <a:solidFill>
                  <a:srgbClr val="334155"/>
                </a:solidFill>
                <a:latin typeface="Calibri"/>
              </a:rPr>
              <a:t>Rolling statistics calculation functions (av, sd).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09981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[LAYER 3]  </a:t>
            </a:r>
            <a:r>
              <a:rPr sz="1600" b="1">
                <a:solidFill>
                  <a:srgbClr val="2563EB"/>
                </a:solidFill>
                <a:latin typeface="Calibri"/>
              </a:rPr>
              <a:t>Model Pipeline: </a:t>
            </a:r>
            <a:r>
              <a:rPr sz="1600" b="0">
                <a:solidFill>
                  <a:srgbClr val="334155"/>
                </a:solidFill>
                <a:latin typeface="Calibri"/>
              </a:rPr>
              <a:t>Scikit-Learn Pipeline wrapping StandardScaler and Random Forest.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7822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[LAYER 4]  </a:t>
            </a:r>
            <a:r>
              <a:rPr sz="1600" b="1">
                <a:solidFill>
                  <a:srgbClr val="2563EB"/>
                </a:solidFill>
                <a:latin typeface="Calibri"/>
              </a:rPr>
              <a:t>CLI Wrapper: </a:t>
            </a:r>
            <a:r>
              <a:rPr sz="1600" b="0">
                <a:solidFill>
                  <a:srgbClr val="334155"/>
                </a:solidFill>
                <a:latin typeface="Calibri"/>
              </a:rPr>
              <a:t>Argparse parameter handling and colorized output formatting.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5663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[LAYER 5]  </a:t>
            </a:r>
            <a:r>
              <a:rPr sz="1600" b="1">
                <a:solidFill>
                  <a:srgbClr val="2563EB"/>
                </a:solidFill>
                <a:latin typeface="Calibri"/>
              </a:rPr>
              <a:t>Exporter: </a:t>
            </a:r>
            <a:r>
              <a:rPr sz="1600" b="0">
                <a:solidFill>
                  <a:srgbClr val="334155"/>
                </a:solidFill>
                <a:latin typeface="Calibri"/>
              </a:rPr>
              <a:t>Matplotlib chart generation and pickle serialization routines.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API &amp; CLI Interface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29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4300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[COMMAND]  </a:t>
            </a:r>
            <a:r>
              <a:rPr sz="1600" b="1">
                <a:solidFill>
                  <a:srgbClr val="2563EB"/>
                </a:solidFill>
                <a:latin typeface="Calibri"/>
              </a:rPr>
              <a:t>Execution Command: </a:t>
            </a:r>
            <a:r>
              <a:rPr sz="1600" b="0">
                <a:solidFill>
                  <a:srgbClr val="334155"/>
                </a:solidFill>
                <a:latin typeface="Calibri"/>
              </a:rPr>
              <a:t>python predict.py --engine_id 81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2140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[INPUT]  </a:t>
            </a:r>
            <a:r>
              <a:rPr sz="1600" b="1">
                <a:solidFill>
                  <a:srgbClr val="2563EB"/>
                </a:solidFill>
                <a:latin typeface="Calibri"/>
              </a:rPr>
              <a:t>Input Argument: </a:t>
            </a:r>
            <a:r>
              <a:rPr sz="1600" b="0">
                <a:solidFill>
                  <a:srgbClr val="334155"/>
                </a:solidFill>
                <a:latin typeface="Calibri"/>
              </a:rPr>
              <a:t>--engine_id: Integer (1-100) specifying test engine.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09981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[OUTPUT 1]  </a:t>
            </a:r>
            <a:r>
              <a:rPr sz="1600" b="1">
                <a:solidFill>
                  <a:srgbClr val="2563EB"/>
                </a:solidFill>
                <a:latin typeface="Calibri"/>
              </a:rPr>
              <a:t>RUL Output: </a:t>
            </a:r>
            <a:r>
              <a:rPr sz="1600" b="0">
                <a:solidFill>
                  <a:srgbClr val="334155"/>
                </a:solidFill>
                <a:latin typeface="Calibri"/>
              </a:rPr>
              <a:t>Displays predicted RUL in cycles (e.g. 6.8 cycles predicted).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7822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[OUTPUT 2]  </a:t>
            </a:r>
            <a:r>
              <a:rPr sz="1600" b="1">
                <a:solidFill>
                  <a:srgbClr val="2563EB"/>
                </a:solidFill>
                <a:latin typeface="Calibri"/>
              </a:rPr>
              <a:t>Alert Output: </a:t>
            </a:r>
            <a:r>
              <a:rPr sz="1600" b="0">
                <a:solidFill>
                  <a:srgbClr val="334155"/>
                </a:solidFill>
                <a:latin typeface="Calibri"/>
              </a:rPr>
              <a:t>Displays 30-day failure probability (e.g. 98.45% failure risk).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5663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[OUTPUT 3]  </a:t>
            </a:r>
            <a:r>
              <a:rPr sz="1600" b="1">
                <a:solidFill>
                  <a:srgbClr val="2563EB"/>
                </a:solidFill>
                <a:latin typeface="Calibri"/>
              </a:rPr>
              <a:t>Status Output: </a:t>
            </a:r>
            <a:r>
              <a:rPr sz="1600" b="0">
                <a:solidFill>
                  <a:srgbClr val="334155"/>
                </a:solidFill>
                <a:latin typeface="Calibri"/>
              </a:rPr>
              <a:t>Displays colorized hazard rating: GREEN, YELLOW, or RED.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Implementation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30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4300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[LANG]  </a:t>
            </a:r>
            <a:r>
              <a:rPr sz="1600" b="1">
                <a:solidFill>
                  <a:srgbClr val="2563EB"/>
                </a:solidFill>
                <a:latin typeface="Calibri"/>
              </a:rPr>
              <a:t>Python 3.11: </a:t>
            </a:r>
            <a:r>
              <a:rPr sz="1600" b="0">
                <a:solidFill>
                  <a:srgbClr val="334155"/>
                </a:solidFill>
                <a:latin typeface="Calibri"/>
              </a:rPr>
              <a:t>Developed using 100% native Python code and libraries.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2140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[IDE]  </a:t>
            </a:r>
            <a:r>
              <a:rPr sz="1600" b="1">
                <a:solidFill>
                  <a:srgbClr val="2563EB"/>
                </a:solidFill>
                <a:latin typeface="Calibri"/>
              </a:rPr>
              <a:t>VS Code &amp; Jupyter: </a:t>
            </a:r>
            <a:r>
              <a:rPr sz="1600" b="0">
                <a:solidFill>
                  <a:srgbClr val="334155"/>
                </a:solidFill>
                <a:latin typeface="Calibri"/>
              </a:rPr>
              <a:t>Validated across Jupyter Notebooks and VS Code environment.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09981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[SERIAL]  </a:t>
            </a:r>
            <a:r>
              <a:rPr sz="1600" b="1">
                <a:solidFill>
                  <a:srgbClr val="2563EB"/>
                </a:solidFill>
                <a:latin typeface="Calibri"/>
              </a:rPr>
              <a:t>Pickle Protocol: </a:t>
            </a:r>
            <a:r>
              <a:rPr sz="1600" b="0">
                <a:solidFill>
                  <a:srgbClr val="334155"/>
                </a:solidFill>
                <a:latin typeface="Calibri"/>
              </a:rPr>
              <a:t>Serialized model objects allowing instant sub-30ms loading.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7822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[ERROR]  </a:t>
            </a:r>
            <a:r>
              <a:rPr sz="1600" b="1">
                <a:solidFill>
                  <a:srgbClr val="2563EB"/>
                </a:solidFill>
                <a:latin typeface="Calibri"/>
              </a:rPr>
              <a:t>Exception Handling: </a:t>
            </a:r>
            <a:r>
              <a:rPr sz="1600" b="0">
                <a:solidFill>
                  <a:srgbClr val="334155"/>
                </a:solidFill>
                <a:latin typeface="Calibri"/>
              </a:rPr>
              <a:t>Validates invalid engine IDs and missing file paths cleanly.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5663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[REPRO]  </a:t>
            </a:r>
            <a:r>
              <a:rPr sz="1600" b="1">
                <a:solidFill>
                  <a:srgbClr val="2563EB"/>
                </a:solidFill>
                <a:latin typeface="Calibri"/>
              </a:rPr>
              <a:t>Reproducibility: </a:t>
            </a:r>
            <a:r>
              <a:rPr sz="1600" b="0">
                <a:solidFill>
                  <a:srgbClr val="334155"/>
                </a:solidFill>
                <a:latin typeface="Calibri"/>
              </a:rPr>
              <a:t>Fixed random seed (random_state=42) across all model trainers.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GUI &amp; Terminal Diagnostic 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31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4300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[SCREEN 1]  </a:t>
            </a:r>
            <a:r>
              <a:rPr sz="1600" b="1">
                <a:solidFill>
                  <a:srgbClr val="2563EB"/>
                </a:solidFill>
                <a:latin typeface="Calibri"/>
              </a:rPr>
              <a:t>CLI Terminal View: </a:t>
            </a:r>
            <a:r>
              <a:rPr sz="1600" b="0">
                <a:solidFill>
                  <a:srgbClr val="334155"/>
                </a:solidFill>
                <a:latin typeface="Calibri"/>
              </a:rPr>
              <a:t>Clean command-line output showing live test engine evaluation.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2140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[COLOR 1]  </a:t>
            </a:r>
            <a:r>
              <a:rPr sz="1600" b="1">
                <a:solidFill>
                  <a:srgbClr val="2563EB"/>
                </a:solidFill>
                <a:latin typeface="Calibri"/>
              </a:rPr>
              <a:t>GREEN Rating: </a:t>
            </a:r>
            <a:r>
              <a:rPr sz="1600" b="0">
                <a:solidFill>
                  <a:srgbClr val="334155"/>
                </a:solidFill>
                <a:latin typeface="Calibri"/>
              </a:rPr>
              <a:t>RUL &gt; 30 cycles; engine safe for continued operational flight.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09981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[COLOR 2]  </a:t>
            </a:r>
            <a:r>
              <a:rPr sz="1600" b="1">
                <a:solidFill>
                  <a:srgbClr val="2563EB"/>
                </a:solidFill>
                <a:latin typeface="Calibri"/>
              </a:rPr>
              <a:t>YELLOW Rating: </a:t>
            </a:r>
            <a:r>
              <a:rPr sz="1600" b="0">
                <a:solidFill>
                  <a:srgbClr val="334155"/>
                </a:solidFill>
                <a:latin typeface="Calibri"/>
              </a:rPr>
              <a:t>15 &lt; RUL &lt;= 30 cycles; schedule preventive maintenance soon.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7822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[COLOR 3]  </a:t>
            </a:r>
            <a:r>
              <a:rPr sz="1600" b="1">
                <a:solidFill>
                  <a:srgbClr val="2563EB"/>
                </a:solidFill>
                <a:latin typeface="Calibri"/>
              </a:rPr>
              <a:t>RED Rating: </a:t>
            </a:r>
            <a:r>
              <a:rPr sz="1600" b="0">
                <a:solidFill>
                  <a:srgbClr val="334155"/>
                </a:solidFill>
                <a:latin typeface="Calibri"/>
              </a:rPr>
              <a:t>RUL &lt;= 15 cycles; ground aircraft immediately for overhaul.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5663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[SPEED]  </a:t>
            </a:r>
            <a:r>
              <a:rPr sz="1600" b="1">
                <a:solidFill>
                  <a:srgbClr val="2563EB"/>
                </a:solidFill>
                <a:latin typeface="Calibri"/>
              </a:rPr>
              <a:t>Execution Speed: </a:t>
            </a:r>
            <a:r>
              <a:rPr sz="1600" b="0">
                <a:solidFill>
                  <a:srgbClr val="334155"/>
                </a:solidFill>
                <a:latin typeface="Calibri"/>
              </a:rPr>
              <a:t>Diagnostic report generated in under 30ms total runtime.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Module Screenshots &amp; Artifacts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32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4300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[ASSET 1]  </a:t>
            </a:r>
            <a:r>
              <a:rPr sz="1600" b="1">
                <a:solidFill>
                  <a:srgbClr val="2563EB"/>
                </a:solidFill>
                <a:latin typeface="Calibri"/>
              </a:rPr>
              <a:t>hero_banner.svg: </a:t>
            </a:r>
            <a:r>
              <a:rPr sz="1600" b="0">
                <a:solidFill>
                  <a:srgbClr val="334155"/>
                </a:solidFill>
                <a:latin typeface="Calibri"/>
              </a:rPr>
              <a:t>Modern dark-mode project banner illustration.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2140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[ASSET 2]  </a:t>
            </a:r>
            <a:r>
              <a:rPr sz="1600" b="1">
                <a:solidFill>
                  <a:srgbClr val="2563EB"/>
                </a:solidFill>
                <a:latin typeface="Calibri"/>
              </a:rPr>
              <a:t>pipeline_architecture.svg: </a:t>
            </a:r>
            <a:r>
              <a:rPr sz="1600" b="0">
                <a:solidFill>
                  <a:srgbClr val="334155"/>
                </a:solidFill>
                <a:latin typeface="Calibri"/>
              </a:rPr>
              <a:t>Clean SVG pipeline workflow diagram.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09981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[ASSET 3]  </a:t>
            </a:r>
            <a:r>
              <a:rPr sz="1600" b="1">
                <a:solidFill>
                  <a:srgbClr val="2563EB"/>
                </a:solidFill>
                <a:latin typeface="Calibri"/>
              </a:rPr>
              <a:t>sensor_degradation.png: </a:t>
            </a:r>
            <a:r>
              <a:rPr sz="1600" b="0">
                <a:solidFill>
                  <a:srgbClr val="334155"/>
                </a:solidFill>
                <a:latin typeface="Calibri"/>
              </a:rPr>
              <a:t>Telemetry sensor decay curves plot.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7822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[ASSET 4]  </a:t>
            </a:r>
            <a:r>
              <a:rPr sz="1600" b="1">
                <a:solidFill>
                  <a:srgbClr val="2563EB"/>
                </a:solidFill>
                <a:latin typeface="Calibri"/>
              </a:rPr>
              <a:t>correlation_heatmap.png: </a:t>
            </a:r>
            <a:r>
              <a:rPr sz="1600" b="0">
                <a:solidFill>
                  <a:srgbClr val="334155"/>
                </a:solidFill>
                <a:latin typeface="Calibri"/>
              </a:rPr>
              <a:t>Pearson correlation matrix heatmap.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5663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[ASSET 5]  </a:t>
            </a:r>
            <a:r>
              <a:rPr sz="1600" b="1">
                <a:solidFill>
                  <a:srgbClr val="2563EB"/>
                </a:solidFill>
                <a:latin typeface="Calibri"/>
              </a:rPr>
              <a:t>feature_importance.png: </a:t>
            </a:r>
            <a:r>
              <a:rPr sz="1600" b="0">
                <a:solidFill>
                  <a:srgbClr val="334155"/>
                </a:solidFill>
                <a:latin typeface="Calibri"/>
              </a:rPr>
              <a:t>Top 15 rolling feature importance chart.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Testing &amp; Validation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33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4300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[STRATEGY 1]  </a:t>
            </a:r>
            <a:r>
              <a:rPr sz="1600" b="1">
                <a:solidFill>
                  <a:srgbClr val="2563EB"/>
                </a:solidFill>
                <a:latin typeface="Calibri"/>
              </a:rPr>
              <a:t>Train-Test Split: </a:t>
            </a:r>
            <a:r>
              <a:rPr sz="1600" b="0">
                <a:solidFill>
                  <a:srgbClr val="334155"/>
                </a:solidFill>
                <a:latin typeface="Calibri"/>
              </a:rPr>
              <a:t>Trained on 100 run-to-failure engines; tested on 100 separate engines.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2140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[STRATEGY 2]  </a:t>
            </a:r>
            <a:r>
              <a:rPr sz="1600" b="1">
                <a:solidFill>
                  <a:srgbClr val="2563EB"/>
                </a:solidFill>
                <a:latin typeface="Calibri"/>
              </a:rPr>
              <a:t>Ground Truth Labels: </a:t>
            </a:r>
            <a:r>
              <a:rPr sz="1600" b="0">
                <a:solidFill>
                  <a:srgbClr val="334155"/>
                </a:solidFill>
                <a:latin typeface="Calibri"/>
              </a:rPr>
              <a:t>Evaluated against NASA true RUL labels (PM_truth.txt).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09981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[STRATEGY 3]  </a:t>
            </a:r>
            <a:r>
              <a:rPr sz="1600" b="1">
                <a:solidFill>
                  <a:srgbClr val="2563EB"/>
                </a:solidFill>
                <a:latin typeface="Calibri"/>
              </a:rPr>
              <a:t>Cross-Validation: </a:t>
            </a:r>
            <a:r>
              <a:rPr sz="1600" b="0">
                <a:solidFill>
                  <a:srgbClr val="334155"/>
                </a:solidFill>
                <a:latin typeface="Calibri"/>
              </a:rPr>
              <a:t>Executed 5-fold cross-validation during Random Forest tuning.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7822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[STRATEGY 4]  </a:t>
            </a:r>
            <a:r>
              <a:rPr sz="1600" b="1">
                <a:solidFill>
                  <a:srgbClr val="2563EB"/>
                </a:solidFill>
                <a:latin typeface="Calibri"/>
              </a:rPr>
              <a:t>Unit Test Checks: </a:t>
            </a:r>
            <a:r>
              <a:rPr sz="1600" b="0">
                <a:solidFill>
                  <a:srgbClr val="334155"/>
                </a:solidFill>
                <a:latin typeface="Calibri"/>
              </a:rPr>
              <a:t>Verified feature shape alignment (45 features) across pipelines.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5663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[STRATEGY 5]  </a:t>
            </a:r>
            <a:r>
              <a:rPr sz="1600" b="1">
                <a:solidFill>
                  <a:srgbClr val="2563EB"/>
                </a:solidFill>
                <a:latin typeface="Calibri"/>
              </a:rPr>
              <a:t>Edge Case Testing: </a:t>
            </a:r>
            <a:r>
              <a:rPr sz="1600" b="0">
                <a:solidFill>
                  <a:srgbClr val="334155"/>
                </a:solidFill>
                <a:latin typeface="Calibri"/>
              </a:rPr>
              <a:t>Tested engine boundaries (cycle 1 start vs failure cycle end).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Results &amp; Key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34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4300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[METRIC 1]  </a:t>
            </a:r>
            <a:r>
              <a:rPr sz="1600" b="1">
                <a:solidFill>
                  <a:srgbClr val="2563EB"/>
                </a:solidFill>
                <a:latin typeface="Calibri"/>
              </a:rPr>
              <a:t>Binary Warning AUC: </a:t>
            </a:r>
            <a:r>
              <a:rPr sz="1600" b="0">
                <a:solidFill>
                  <a:srgbClr val="334155"/>
                </a:solidFill>
                <a:latin typeface="Calibri"/>
              </a:rPr>
              <a:t>Achieved 98.45% (0.9845) AUC-ROC score on test set.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2140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[METRIC 2]  </a:t>
            </a:r>
            <a:r>
              <a:rPr sz="1600" b="1">
                <a:solidFill>
                  <a:srgbClr val="2563EB"/>
                </a:solidFill>
                <a:latin typeface="Calibri"/>
              </a:rPr>
              <a:t>Binary Precision: </a:t>
            </a:r>
            <a:r>
              <a:rPr sz="1600" b="0">
                <a:solidFill>
                  <a:srgbClr val="334155"/>
                </a:solidFill>
                <a:latin typeface="Calibri"/>
              </a:rPr>
              <a:t>Achieved 94.44% precision on positive 30d failure warnings.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09981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[METRIC 3]  </a:t>
            </a:r>
            <a:r>
              <a:rPr sz="1600" b="1">
                <a:solidFill>
                  <a:srgbClr val="2563EB"/>
                </a:solidFill>
                <a:latin typeface="Calibri"/>
              </a:rPr>
              <a:t>RUL Regression RMSE: </a:t>
            </a:r>
            <a:r>
              <a:rPr sz="1600" b="0">
                <a:solidFill>
                  <a:srgbClr val="334155"/>
                </a:solidFill>
                <a:latin typeface="Calibri"/>
              </a:rPr>
              <a:t>Achieved 33.39 cycles Root Mean Squared Error (MAE: 22.90).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7822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[METRIC 4]  </a:t>
            </a:r>
            <a:r>
              <a:rPr sz="1600" b="1">
                <a:solidFill>
                  <a:srgbClr val="2563EB"/>
                </a:solidFill>
                <a:latin typeface="Calibri"/>
              </a:rPr>
              <a:t>Neural MLP Accuracy: </a:t>
            </a:r>
            <a:r>
              <a:rPr sz="1600" b="0">
                <a:solidFill>
                  <a:srgbClr val="334155"/>
                </a:solidFill>
                <a:latin typeface="Calibri"/>
              </a:rPr>
              <a:t>Achieved 75.00% exact multi-class hazard rating accuracy.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5663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[METRIC 5]  </a:t>
            </a:r>
            <a:r>
              <a:rPr sz="1600" b="1">
                <a:solidFill>
                  <a:srgbClr val="2563EB"/>
                </a:solidFill>
                <a:latin typeface="Calibri"/>
              </a:rPr>
              <a:t>Inference Speed: </a:t>
            </a:r>
            <a:r>
              <a:rPr sz="1600" b="0">
                <a:solidFill>
                  <a:srgbClr val="334155"/>
                </a:solidFill>
                <a:latin typeface="Calibri"/>
              </a:rPr>
              <a:t>Average diagnostic computation time under 30ms per engine.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Performance Metrics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35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4300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[REGRESSION]  </a:t>
            </a:r>
            <a:r>
              <a:rPr sz="1600" b="1">
                <a:solidFill>
                  <a:srgbClr val="2563EB"/>
                </a:solidFill>
                <a:latin typeface="Calibri"/>
              </a:rPr>
              <a:t>Random Forest RMSE: </a:t>
            </a:r>
            <a:r>
              <a:rPr sz="1600" b="0">
                <a:solidFill>
                  <a:srgbClr val="334155"/>
                </a:solidFill>
                <a:latin typeface="Calibri"/>
              </a:rPr>
              <a:t>33.39 cycles RMSE (Outperformed Linear Reg MAE 39.15).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2140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[CLASSIFIER]  </a:t>
            </a:r>
            <a:r>
              <a:rPr sz="1600" b="1">
                <a:solidFill>
                  <a:srgbClr val="2563EB"/>
                </a:solidFill>
                <a:latin typeface="Calibri"/>
              </a:rPr>
              <a:t>Random Forest AUC: </a:t>
            </a:r>
            <a:r>
              <a:rPr sz="1600" b="0">
                <a:solidFill>
                  <a:srgbClr val="334155"/>
                </a:solidFill>
                <a:latin typeface="Calibri"/>
              </a:rPr>
              <a:t>0.9845 AUC-ROC score (Outperformed Naive Bayes 0.88).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09981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[NEURAL NET]  </a:t>
            </a:r>
            <a:r>
              <a:rPr sz="1600" b="1">
                <a:solidFill>
                  <a:srgbClr val="2563EB"/>
                </a:solidFill>
                <a:latin typeface="Calibri"/>
              </a:rPr>
              <a:t>Multi-Layer Perceptron: </a:t>
            </a:r>
            <a:r>
              <a:rPr sz="1600" b="0">
                <a:solidFill>
                  <a:srgbClr val="334155"/>
                </a:solidFill>
                <a:latin typeface="Calibri"/>
              </a:rPr>
              <a:t>75.00% exact 3-tier hazard classification accuracy.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7822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[LATENCY]  </a:t>
            </a:r>
            <a:r>
              <a:rPr sz="1600" b="1">
                <a:solidFill>
                  <a:srgbClr val="2563EB"/>
                </a:solidFill>
                <a:latin typeface="Calibri"/>
              </a:rPr>
              <a:t>Diagnostic Latency: </a:t>
            </a:r>
            <a:r>
              <a:rPr sz="1600" b="0">
                <a:solidFill>
                  <a:srgbClr val="334155"/>
                </a:solidFill>
                <a:latin typeface="Calibri"/>
              </a:rPr>
              <a:t>&lt; 30ms runtime per test engine evaluation.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5663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[MEMORY]  </a:t>
            </a:r>
            <a:r>
              <a:rPr sz="1600" b="1">
                <a:solidFill>
                  <a:srgbClr val="2563EB"/>
                </a:solidFill>
                <a:latin typeface="Calibri"/>
              </a:rPr>
              <a:t>RAM Footprint: </a:t>
            </a:r>
            <a:r>
              <a:rPr sz="1600" b="0">
                <a:solidFill>
                  <a:srgbClr val="334155"/>
                </a:solidFill>
                <a:latin typeface="Calibri"/>
              </a:rPr>
              <a:t>&lt; 150MB total RAM memory consumption during execution.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Per-Model Benchmark Evaluation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36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804672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9344"/>
                <a:gridCol w="1609344"/>
                <a:gridCol w="1609344"/>
                <a:gridCol w="1609344"/>
                <a:gridCol w="1609344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 Paradigm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Algorithm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Primary Metric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Random Forest Regressor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33.39 Cycles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Best RUL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Polynomial Reg (d=2)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36.12 Cycles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Benchmark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Decision Tree Regressor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38.20 Cycles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Linear / Ridge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39.15 Cycles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Linear Baseline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Random Forest Classifier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AUC-ROC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98.45%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Best Classifier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Naive Bayes (Gaussian)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88.00%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High Recall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Linear SVC (Features)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89.00%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High 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Support Vector (RBF)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100.00%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Zero FP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Neural Network MLP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75.00%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Best Hazard 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Random Forest MC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71.00%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Tree Ensemble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Decision Tree MC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64.00%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Decision Tree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Naive Bayes MC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58.00%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Bayesian Baseline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Advantages &amp; Business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37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4300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[ADV 1]  </a:t>
            </a:r>
            <a:r>
              <a:rPr sz="1600" b="1">
                <a:solidFill>
                  <a:srgbClr val="2563EB"/>
                </a:solidFill>
                <a:latin typeface="Calibri"/>
              </a:rPr>
              <a:t>Catastrophic Failure Prevention: </a:t>
            </a:r>
            <a:r>
              <a:rPr sz="1600" b="0">
                <a:solidFill>
                  <a:srgbClr val="334155"/>
                </a:solidFill>
                <a:latin typeface="Calibri"/>
              </a:rPr>
              <a:t>Prevents severe in-flight engine breakdowns.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2140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[ADV 2]  </a:t>
            </a:r>
            <a:r>
              <a:rPr sz="1600" b="1">
                <a:solidFill>
                  <a:srgbClr val="2563EB"/>
                </a:solidFill>
                <a:latin typeface="Calibri"/>
              </a:rPr>
              <a:t>Massive Cost Savings: </a:t>
            </a:r>
            <a:r>
              <a:rPr sz="1600" b="0">
                <a:solidFill>
                  <a:srgbClr val="334155"/>
                </a:solidFill>
                <a:latin typeface="Calibri"/>
              </a:rPr>
              <a:t>Replaces $250k emergency diversions with $15k planned repairs.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09981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[ADV 3]  </a:t>
            </a:r>
            <a:r>
              <a:rPr sz="1600" b="1">
                <a:solidFill>
                  <a:srgbClr val="2563EB"/>
                </a:solidFill>
                <a:latin typeface="Calibri"/>
              </a:rPr>
              <a:t>Extended Component Life: </a:t>
            </a:r>
            <a:r>
              <a:rPr sz="1600" b="0">
                <a:solidFill>
                  <a:srgbClr val="334155"/>
                </a:solidFill>
                <a:latin typeface="Calibri"/>
              </a:rPr>
              <a:t>Eliminates premature disposal of functional turbine parts.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7822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[ADV 4]  </a:t>
            </a:r>
            <a:r>
              <a:rPr sz="1600" b="1">
                <a:solidFill>
                  <a:srgbClr val="2563EB"/>
                </a:solidFill>
                <a:latin typeface="Calibri"/>
              </a:rPr>
              <a:t>Real-Time Field Execution: </a:t>
            </a:r>
            <a:r>
              <a:rPr sz="1600" b="0">
                <a:solidFill>
                  <a:srgbClr val="334155"/>
                </a:solidFill>
                <a:latin typeface="Calibri"/>
              </a:rPr>
              <a:t>Sub-30ms CLI runner provides instant diagnostic reports.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5663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[ADV 5]  </a:t>
            </a:r>
            <a:r>
              <a:rPr sz="1600" b="1">
                <a:solidFill>
                  <a:srgbClr val="2563EB"/>
                </a:solidFill>
                <a:latin typeface="Calibri"/>
              </a:rPr>
              <a:t>Scalable Architecture: </a:t>
            </a:r>
            <a:r>
              <a:rPr sz="1600" b="0">
                <a:solidFill>
                  <a:srgbClr val="334155"/>
                </a:solidFill>
                <a:latin typeface="Calibri"/>
              </a:rPr>
              <a:t>Supports additional sensor channels and engine fleets easily.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System Limitations &amp; Operational Risks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38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4300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[LIMIT 1]  </a:t>
            </a:r>
            <a:r>
              <a:rPr sz="1600" b="1">
                <a:solidFill>
                  <a:srgbClr val="2563EB"/>
                </a:solidFill>
                <a:latin typeface="Calibri"/>
              </a:rPr>
              <a:t>Single Fleet Profile: </a:t>
            </a:r>
            <a:r>
              <a:rPr sz="1600" b="0">
                <a:solidFill>
                  <a:srgbClr val="334155"/>
                </a:solidFill>
                <a:latin typeface="Calibri"/>
              </a:rPr>
              <a:t>C-MAPSS dataset represents steady-state flight conditions.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2140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[LIMIT 2]  </a:t>
            </a:r>
            <a:r>
              <a:rPr sz="1600" b="1">
                <a:solidFill>
                  <a:srgbClr val="2563EB"/>
                </a:solidFill>
                <a:latin typeface="Calibri"/>
              </a:rPr>
              <a:t>Fixed Sensor Set: </a:t>
            </a:r>
            <a:r>
              <a:rPr sz="1600" b="0">
                <a:solidFill>
                  <a:srgbClr val="334155"/>
                </a:solidFill>
                <a:latin typeface="Calibri"/>
              </a:rPr>
              <a:t>Requires all 21 sensor channels present in telemetry stream.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09981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[LIMIT 3]  </a:t>
            </a:r>
            <a:r>
              <a:rPr sz="1600" b="1">
                <a:solidFill>
                  <a:srgbClr val="2563EB"/>
                </a:solidFill>
                <a:latin typeface="Calibri"/>
              </a:rPr>
              <a:t>Simulated Data Domain: </a:t>
            </a:r>
            <a:r>
              <a:rPr sz="1600" b="0">
                <a:solidFill>
                  <a:srgbClr val="334155"/>
                </a:solidFill>
                <a:latin typeface="Calibri"/>
              </a:rPr>
              <a:t>Trained on simulated turbofan wear rather than real flight logs.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7822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[RISK 1]  </a:t>
            </a:r>
            <a:r>
              <a:rPr sz="1600" b="1">
                <a:solidFill>
                  <a:srgbClr val="2563EB"/>
                </a:solidFill>
                <a:latin typeface="Calibri"/>
              </a:rPr>
              <a:t>Sensor Malfunction: </a:t>
            </a:r>
            <a:r>
              <a:rPr sz="1600" b="0">
                <a:solidFill>
                  <a:srgbClr val="334155"/>
                </a:solidFill>
                <a:latin typeface="Calibri"/>
              </a:rPr>
              <a:t>Faulty physical sensor hardware could inject noisy data.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5663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[MITIGATION]  </a:t>
            </a:r>
            <a:r>
              <a:rPr sz="1600" b="1">
                <a:solidFill>
                  <a:srgbClr val="2563EB"/>
                </a:solidFill>
                <a:latin typeface="Calibri"/>
              </a:rPr>
              <a:t>Mitigation Strategy: </a:t>
            </a:r>
            <a:r>
              <a:rPr sz="1600" b="0">
                <a:solidFill>
                  <a:srgbClr val="334155"/>
                </a:solidFill>
                <a:latin typeface="Calibri"/>
              </a:rPr>
              <a:t>Apply median filtering and sensor sanity checking in Phase 2.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Future Scope &amp; Strategic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4300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[PHASE 1]  </a:t>
            </a:r>
            <a:r>
              <a:rPr sz="1600" b="1">
                <a:solidFill>
                  <a:srgbClr val="2563EB"/>
                </a:solidFill>
                <a:latin typeface="Calibri"/>
              </a:rPr>
              <a:t>Deep Time-Series Architecture: </a:t>
            </a:r>
            <a:r>
              <a:rPr sz="1600" b="0">
                <a:solidFill>
                  <a:srgbClr val="334155"/>
                </a:solidFill>
                <a:latin typeface="Calibri"/>
              </a:rPr>
              <a:t>Integrate Recurrent LSTM and Transformer networks.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2140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[PHASE 2]  </a:t>
            </a:r>
            <a:r>
              <a:rPr sz="1600" b="1">
                <a:solidFill>
                  <a:srgbClr val="2563EB"/>
                </a:solidFill>
                <a:latin typeface="Calibri"/>
              </a:rPr>
              <a:t>Multi-Profile Regimes: </a:t>
            </a:r>
            <a:r>
              <a:rPr sz="1600" b="0">
                <a:solidFill>
                  <a:srgbClr val="334155"/>
                </a:solidFill>
                <a:latin typeface="Calibri"/>
              </a:rPr>
              <a:t>Extend model to variable altitude and speed flight regimes.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09981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[PHASE 3]  </a:t>
            </a:r>
            <a:r>
              <a:rPr sz="1600" b="1">
                <a:solidFill>
                  <a:srgbClr val="2563EB"/>
                </a:solidFill>
                <a:latin typeface="Calibri"/>
              </a:rPr>
              <a:t>Edge Avionics Deployment: </a:t>
            </a:r>
            <a:r>
              <a:rPr sz="1600" b="0">
                <a:solidFill>
                  <a:srgbClr val="334155"/>
                </a:solidFill>
                <a:latin typeface="Calibri"/>
              </a:rPr>
              <a:t>Export TFLite models for onboard aircraft hardware.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7822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[PHASE 4]  </a:t>
            </a:r>
            <a:r>
              <a:rPr sz="1600" b="1">
                <a:solidFill>
                  <a:srgbClr val="2563EB"/>
                </a:solidFill>
                <a:latin typeface="Calibri"/>
              </a:rPr>
              <a:t>Cloud Streaming API: </a:t>
            </a:r>
            <a:r>
              <a:rPr sz="1600" b="0">
                <a:solidFill>
                  <a:srgbClr val="334155"/>
                </a:solidFill>
                <a:latin typeface="Calibri"/>
              </a:rPr>
              <a:t>Deploy REST API endpoints for live IoT stream ingestion.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5663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[PHASE 5]  </a:t>
            </a:r>
            <a:r>
              <a:rPr sz="1600" b="1">
                <a:solidFill>
                  <a:srgbClr val="2563EB"/>
                </a:solidFill>
                <a:latin typeface="Calibri"/>
              </a:rPr>
              <a:t>Synthetic Data Augmentation: </a:t>
            </a:r>
            <a:r>
              <a:rPr sz="1600" b="0">
                <a:solidFill>
                  <a:srgbClr val="334155"/>
                </a:solidFill>
                <a:latin typeface="Calibri"/>
              </a:rPr>
              <a:t>Incorporate GAN-based degradation data for rare failures.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Conclusion &amp; Project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40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4300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[DELIVERY]  </a:t>
            </a:r>
            <a:r>
              <a:rPr sz="1600" b="1">
                <a:solidFill>
                  <a:srgbClr val="2563EB"/>
                </a:solidFill>
                <a:latin typeface="Calibri"/>
              </a:rPr>
              <a:t>System Delivery: </a:t>
            </a:r>
            <a:r>
              <a:rPr sz="1600" b="0">
                <a:solidFill>
                  <a:srgbClr val="334155"/>
                </a:solidFill>
                <a:latin typeface="Calibri"/>
              </a:rPr>
              <a:t>Delivered complete predictive health management pipeline.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2140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[ACCURACY]  </a:t>
            </a:r>
            <a:r>
              <a:rPr sz="1600" b="1">
                <a:solidFill>
                  <a:srgbClr val="2563EB"/>
                </a:solidFill>
                <a:latin typeface="Calibri"/>
              </a:rPr>
              <a:t>High Predictive Accuracy: </a:t>
            </a:r>
            <a:r>
              <a:rPr sz="1600" b="0">
                <a:solidFill>
                  <a:srgbClr val="334155"/>
                </a:solidFill>
                <a:latin typeface="Calibri"/>
              </a:rPr>
              <a:t>Achieved 98.45% AUC-ROC failure detection and 33.39 RMSE.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09981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[CLI TOOL]  </a:t>
            </a:r>
            <a:r>
              <a:rPr sz="1600" b="1">
                <a:solidFill>
                  <a:srgbClr val="2563EB"/>
                </a:solidFill>
                <a:latin typeface="Calibri"/>
              </a:rPr>
              <a:t>Interactive CLI Integration: </a:t>
            </a:r>
            <a:r>
              <a:rPr sz="1600" b="0">
                <a:solidFill>
                  <a:srgbClr val="334155"/>
                </a:solidFill>
                <a:latin typeface="Calibri"/>
              </a:rPr>
              <a:t>Integrated interactive predict.py CLI diagnostic tool.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7822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[CODE]  </a:t>
            </a:r>
            <a:r>
              <a:rPr sz="1600" b="1">
                <a:solidFill>
                  <a:srgbClr val="2563EB"/>
                </a:solidFill>
                <a:latin typeface="Calibri"/>
              </a:rPr>
              <a:t>Clean Implementation: </a:t>
            </a:r>
            <a:r>
              <a:rPr sz="1600" b="0">
                <a:solidFill>
                  <a:srgbClr val="334155"/>
                </a:solidFill>
                <a:latin typeface="Calibri"/>
              </a:rPr>
              <a:t>Developed 100% native Python code and serialized models.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5663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[VALUE]  </a:t>
            </a:r>
            <a:r>
              <a:rPr sz="1600" b="1">
                <a:solidFill>
                  <a:srgbClr val="2563EB"/>
                </a:solidFill>
                <a:latin typeface="Calibri"/>
              </a:rPr>
              <a:t>Fleet Cost Minimization: </a:t>
            </a:r>
            <a:r>
              <a:rPr sz="1600" b="0">
                <a:solidFill>
                  <a:srgbClr val="334155"/>
                </a:solidFill>
                <a:latin typeface="Calibri"/>
              </a:rPr>
              <a:t>Optimizes maintenance capacity and eliminates flight delays.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References &amp; Bibliography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41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4300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[REF 1]  </a:t>
            </a:r>
            <a:r>
              <a:rPr sz="1600" b="1">
                <a:solidFill>
                  <a:srgbClr val="2563EB"/>
                </a:solidFill>
                <a:latin typeface="Calibri"/>
              </a:rPr>
              <a:t>NASA C-MAPSS Dataset: </a:t>
            </a:r>
            <a:r>
              <a:rPr sz="1600" b="0">
                <a:solidFill>
                  <a:srgbClr val="334155"/>
                </a:solidFill>
                <a:latin typeface="Calibri"/>
              </a:rPr>
              <a:t>Ames Prognostics Center of Excellence, 2024.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2140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[REF 2]  </a:t>
            </a:r>
            <a:r>
              <a:rPr sz="1600" b="1">
                <a:solidFill>
                  <a:srgbClr val="2563EB"/>
                </a:solidFill>
                <a:latin typeface="Calibri"/>
              </a:rPr>
              <a:t>Damage Modeling Paper: </a:t>
            </a:r>
            <a:r>
              <a:rPr sz="1600" b="0">
                <a:solidFill>
                  <a:srgbClr val="334155"/>
                </a:solidFill>
                <a:latin typeface="Calibri"/>
              </a:rPr>
              <a:t>Saxena et al., IEEE Prognostics, 2008.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09981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[REF 3]  </a:t>
            </a:r>
            <a:r>
              <a:rPr sz="1600" b="1">
                <a:solidFill>
                  <a:srgbClr val="2563EB"/>
                </a:solidFill>
                <a:latin typeface="Calibri"/>
              </a:rPr>
              <a:t>Springboard Curriculum: </a:t>
            </a:r>
            <a:r>
              <a:rPr sz="1600" b="0">
                <a:solidFill>
                  <a:srgbClr val="334155"/>
                </a:solidFill>
                <a:latin typeface="Calibri"/>
              </a:rPr>
              <a:t>Data Science Career Track Bootcamp, 2026.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7822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[REF 4]  </a:t>
            </a:r>
            <a:r>
              <a:rPr sz="1600" b="1">
                <a:solidFill>
                  <a:srgbClr val="2563EB"/>
                </a:solidFill>
                <a:latin typeface="Calibri"/>
              </a:rPr>
              <a:t>Scikit-Learn Documentation: </a:t>
            </a:r>
            <a:r>
              <a:rPr sz="1600" b="0">
                <a:solidFill>
                  <a:srgbClr val="334155"/>
                </a:solidFill>
                <a:latin typeface="Calibri"/>
              </a:rPr>
              <a:t>Machine Learning Library API Reference, 2026.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5663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[REF 5]  </a:t>
            </a:r>
            <a:r>
              <a:rPr sz="1600" b="1">
                <a:solidFill>
                  <a:srgbClr val="2563EB"/>
                </a:solidFill>
                <a:latin typeface="Calibri"/>
              </a:rPr>
              <a:t>GitHub Repository: </a:t>
            </a:r>
            <a:r>
              <a:rPr sz="1600" b="0">
                <a:solidFill>
                  <a:srgbClr val="334155"/>
                </a:solidFill>
                <a:latin typeface="Calibri"/>
              </a:rPr>
              <a:t>https://github.com/PiyushTiwari2051/Predictive-Master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7315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0"/>
              </a:spcAft>
              <a:defRPr sz="3600" b="1">
                <a:solidFill>
                  <a:srgbClr val="0F172A"/>
                </a:solidFill>
                <a:latin typeface="Calibri"/>
              </a:defRPr>
            </a:pPr>
            <a:r>
              <a:t>Thank You! Questions &amp; Discussion</a:t>
            </a:r>
          </a:p>
          <a:p>
            <a:pPr algn="ctr">
              <a:defRPr sz="2000">
                <a:solidFill>
                  <a:srgbClr val="334155"/>
                </a:solidFill>
                <a:latin typeface="Calibri"/>
              </a:defRPr>
            </a:pPr>
            <a:r>
              <a:t>Presented By: Piyush Tiwari  |  Roll No: 2301430100162  |  7th Sem, CSE-1</a:t>
            </a:r>
            <a:br/>
            <a:r>
              <a:t>IMS Engineering College, Ghaziabad, India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