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0"/>
  </p:notesMasterIdLst>
  <p:sldIdLst>
    <p:sldId id="273" r:id="rId2"/>
    <p:sldId id="274" r:id="rId8"/>
    <p:sldId id="275" r:id="rId9"/>
    <p:sldId id="276" r:id="rId7"/>
    <p:sldId id="277" r:id="rId6"/>
    <p:sldId id="278" r:id="rId5"/>
    <p:sldId id="279" r:id="rId4"/>
    <p:sldId id="280" r:id="rId3"/>
    <p:sldId id="281" r:id="rId15"/>
    <p:sldId id="282" r:id="rId16"/>
    <p:sldId id="283" r:id="rId17"/>
    <p:sldId id="284" r:id="rId18"/>
    <p:sldId id="285" r:id="rId19"/>
    <p:sldId id="286" r:id="rId20"/>
    <p:sldId id="287" r:id="rId21"/>
    <p:sldId id="288" r:id="rId22"/>
    <p:sldId id="289" r:id="rId23"/>
    <p:sldId id="290" r:id="rId24"/>
  </p:sldIdLst>
  <p:sldSz cx="9144000" cy="6858000" type="screen4x3"/>
  <p:notesSz cx="6858000" cy="9144000"/>
  <p:defaultTextStyle>
    <a:defPPr>
      <a:defRPr lang="en-GB"/>
    </a:defPPr>
    <a:lvl1pPr marL="0" lvl="0" indent="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1pPr>
    <a:lvl2pPr marL="742950" lvl="1" indent="-28575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2pPr>
    <a:lvl3pPr marL="1143000" lvl="2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3pPr>
    <a:lvl4pPr marL="1600200" lvl="3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4pPr>
    <a:lvl5pPr marL="2057400" lvl="4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5pPr>
    <a:lvl6pPr marL="2286000" lvl="5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6pPr>
    <a:lvl7pPr marL="2743200" lvl="6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7pPr>
    <a:lvl8pPr marL="3200400" lvl="7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8pPr>
    <a:lvl9pPr marL="3657600" lvl="8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2FDB2607-1784-4EEB-B798-7EB5836EED8A}">
        <p14:showMediaCtrls xmlns:p14="http://schemas.microsoft.com/office/powerpoint/2010/main" xmlns="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/>
    <p:restoredTop sz="94660"/>
  </p:normalViewPr>
  <p:slideViewPr>
    <p:cSldViewPr showGuides="1">
      <p:cViewPr>
        <p:scale>
          <a:sx n="100" d="100"/>
          <a:sy n="100" d="100"/>
        </p:scale>
        <p:origin x="-516" y="498"/>
      </p:cViewPr>
      <p:guideLst>
        <p:guide orient="horz" pos="2160"/>
        <p:guide pos="2880"/>
      </p:guideLst>
    </p:cSldViewPr>
  </p:slideViewPr>
  <p:outlineViewPr>
    <p:cViewPr varScale="1">
      <p:scale>
        <a:sx n="170" d="200"/>
        <a:sy n="170" d="200"/>
      </p:scale>
      <p:origin x="-780" y="-84"/>
    </p:cViewPr>
  </p:outlin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5.xml"/><Relationship Id="rId7" Type="http://schemas.openxmlformats.org/officeDocument/2006/relationships/slide" Target="slides/slide4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AutoShape 1"/>
          <p:cNvSpPr>
            <a:spLocks noChangeArrowheads="1"/>
          </p:cNvSpPr>
          <p:nvPr/>
        </p:nvSpPr>
        <p:spPr bwMode="auto">
          <a:xfrm>
            <a:off x="0" y="0"/>
            <a:ext cx="6858000" cy="9144000"/>
          </a:xfrm>
          <a:prstGeom prst="roundRect">
            <a:avLst>
              <a:gd name="adj" fmla="val 23"/>
            </a:avLst>
          </a:prstGeom>
          <a:solidFill>
            <a:srgbClr val="FFFFFF"/>
          </a:solidFill>
          <a:ln w="9525">
            <a:noFill/>
            <a:round/>
          </a:ln>
        </p:spPr>
        <p:txBody>
          <a:bodyPr wrap="none" anchor="ctr"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Times New Roman" panose="02020603050405020304" pitchFamily="18" charset="0"/>
              <a:buNone/>
              <a:defRPr/>
            </a:pPr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 pitchFamily="34" charset="0"/>
              <a:ea typeface="Noto Sans CJK SC Regular" charset="0"/>
              <a:cs typeface="Arial" panose="020B0604020202020204" pitchFamily="34" charset="0"/>
            </a:endParaRPr>
          </a:p>
        </p:txBody>
      </p:sp>
      <p:sp>
        <p:nvSpPr>
          <p:cNvPr id="2051" name="Text Box 2"/>
          <p:cNvSpPr txBox="1">
            <a:spLocks noChangeArrowheads="1"/>
          </p:cNvSpPr>
          <p:nvPr/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 anchor="ctr"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Times New Roman" panose="02020603050405020304" pitchFamily="18" charset="0"/>
              <a:buNone/>
              <a:defRPr/>
            </a:pPr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 pitchFamily="34" charset="0"/>
              <a:ea typeface="Noto Sans CJK SC Regular" charset="0"/>
              <a:cs typeface="Arial" panose="020B0604020202020204" pitchFamily="34" charset="0"/>
            </a:endParaRPr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/>
          </p:nvPr>
        </p:nvSpPr>
        <p:spPr bwMode="auto">
          <a:xfrm>
            <a:off x="3884613" y="0"/>
            <a:ext cx="2970213" cy="455613"/>
          </a:xfrm>
          <a:prstGeom prst="rect">
            <a:avLst/>
          </a:prstGeom>
          <a:noFill/>
          <a:ln w="9525" cap="flat">
            <a:noFill/>
            <a:round/>
          </a:ln>
          <a:effectLst/>
        </p:spPr>
        <p:txBody>
          <a:bodyPr vert="horz" wrap="square" lIns="90000" tIns="46800" rIns="90000" bIns="46800" numCol="1" anchor="t" anchorCtr="0" compatLnSpc="1"/>
          <a:lstStyle/>
          <a:p>
            <a:pPr lvl="0" algn="r" defTabSz="449580" eaLnBrk="1" hangingPunct="1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altLang="zh-CN" sz="1200" dirty="0">
              <a:solidFill>
                <a:srgbClr val="000000"/>
              </a:solidFill>
              <a:latin typeface="Calibri" panose="020F0502020204030204" pitchFamily="34" charset="0"/>
              <a:ea typeface="SimSun" panose="02010600030101010101" pitchFamily="2" charset="-122"/>
            </a:endParaRPr>
          </a:p>
        </p:txBody>
      </p:sp>
      <p:sp>
        <p:nvSpPr>
          <p:cNvPr id="5125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0413" cy="3427413"/>
          </a:xfrm>
          <a:prstGeom prst="rect">
            <a:avLst/>
          </a:prstGeom>
          <a:noFill/>
          <a:ln w="12600" cap="sq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3077" name="Rectangle 5"/>
          <p:cNvSpPr>
            <a:spLocks noGrp="1" noChangeArrowheads="1"/>
          </p:cNvSpPr>
          <p:nvPr>
            <p:ph type="body"/>
          </p:nvPr>
        </p:nvSpPr>
        <p:spPr bwMode="auto">
          <a:xfrm>
            <a:off x="685800" y="4343400"/>
            <a:ext cx="5484813" cy="4113213"/>
          </a:xfrm>
          <a:prstGeom prst="rect">
            <a:avLst/>
          </a:prstGeom>
          <a:noFill/>
          <a:ln w="9525" cap="flat">
            <a:noFill/>
            <a:round/>
          </a:ln>
          <a:effectLst/>
        </p:spPr>
        <p:txBody>
          <a:bodyPr vert="horz" wrap="square" lIns="90000" tIns="46800" rIns="90000" bIns="46800" numCol="1" anchor="t" anchorCtr="0" compatLnSpc="1"/>
          <a:lstStyle/>
          <a:p>
            <a:pPr marL="0" marR="0" lvl="0" indent="0" algn="l" defTabSz="44958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Pct val="100000"/>
              <a:buFont typeface="Times New Roman" panose="02020603050405020304" pitchFamily="18" charset="0"/>
              <a:buNone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+mn-cs"/>
            </a:endParaRPr>
          </a:p>
        </p:txBody>
      </p:sp>
      <p:sp>
        <p:nvSpPr>
          <p:cNvPr id="2055" name="Text Box 6"/>
          <p:cNvSpPr txBox="1">
            <a:spLocks noChangeArrowheads="1"/>
          </p:cNvSpPr>
          <p:nvPr/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 anchor="ctr"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Times New Roman" panose="02020603050405020304" pitchFamily="18" charset="0"/>
              <a:buNone/>
              <a:defRPr/>
            </a:pPr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 pitchFamily="34" charset="0"/>
              <a:ea typeface="Noto Sans CJK SC Regular" charset="0"/>
              <a:cs typeface="Arial" panose="020B0604020202020204" pitchFamily="34" charset="0"/>
            </a:endParaRPr>
          </a:p>
        </p:txBody>
      </p:sp>
      <p:sp>
        <p:nvSpPr>
          <p:cNvPr id="3079" name="Rectangle 7"/>
          <p:cNvSpPr>
            <a:spLocks noGrp="1" noChangeArrowheads="1"/>
          </p:cNvSpPr>
          <p:nvPr>
            <p:ph type="sldNum"/>
          </p:nvPr>
        </p:nvSpPr>
        <p:spPr bwMode="auto">
          <a:xfrm>
            <a:off x="3884613" y="8685213"/>
            <a:ext cx="2970213" cy="455613"/>
          </a:xfrm>
          <a:prstGeom prst="rect">
            <a:avLst/>
          </a:prstGeom>
          <a:noFill/>
          <a:ln w="9525" cap="flat">
            <a:noFill/>
            <a:round/>
          </a:ln>
          <a:effectLst/>
        </p:spPr>
        <p:txBody>
          <a:bodyPr vert="horz" wrap="square" lIns="90000" tIns="46800" rIns="90000" bIns="46800" numCol="1" anchor="b" anchorCtr="0" compatLnSpc="1"/>
          <a:lstStyle/>
          <a:p>
            <a:pPr lvl="0" algn="r" defTabSz="449580" eaLnBrk="1" hangingPunct="1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9A0DB2DC-4C9A-4742-B13C-FB6460FD3503}" type="slidenum">
              <a:rPr lang="en-US" altLang="en-US" sz="1200" dirty="0">
                <a:solidFill>
                  <a:srgbClr val="000000"/>
                </a:solidFill>
                <a:latin typeface="Calibri" panose="020F0502020204030204" pitchFamily="34" charset="0"/>
              </a:rPr>
              <a:pPr lvl="0" algn="r" defTabSz="449580" eaLnBrk="1" hangingPunct="1">
                <a:buNone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t>‹#›</a:t>
            </a:fld>
            <a:endParaRPr lang="en-US" alt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defTabSz="449580" rtl="0" eaLnBrk="0" fontAlgn="base" hangingPunct="0">
      <a:spcBef>
        <a:spcPct val="30000"/>
      </a:spcBef>
      <a:spcAft>
        <a:spcPct val="0"/>
      </a:spcAft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anose="02020603050405020304" pitchFamily="18" charset="0"/>
        <a:ea typeface="+mn-ea"/>
        <a:cs typeface="+mn-cs"/>
      </a:defRPr>
    </a:lvl1pPr>
    <a:lvl2pPr marL="742950" indent="-285750" algn="l" defTabSz="449580" rtl="0" eaLnBrk="0" fontAlgn="base" hangingPunct="0">
      <a:spcBef>
        <a:spcPct val="30000"/>
      </a:spcBef>
      <a:spcAft>
        <a:spcPct val="0"/>
      </a:spcAft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anose="02020603050405020304" pitchFamily="18" charset="0"/>
        <a:ea typeface="+mn-ea"/>
        <a:cs typeface="+mn-cs"/>
      </a:defRPr>
    </a:lvl2pPr>
    <a:lvl3pPr marL="1143000" indent="-228600" algn="l" defTabSz="449580" rtl="0" eaLnBrk="0" fontAlgn="base" hangingPunct="0">
      <a:spcBef>
        <a:spcPct val="30000"/>
      </a:spcBef>
      <a:spcAft>
        <a:spcPct val="0"/>
      </a:spcAft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anose="02020603050405020304" pitchFamily="18" charset="0"/>
        <a:ea typeface="+mn-ea"/>
        <a:cs typeface="+mn-cs"/>
      </a:defRPr>
    </a:lvl3pPr>
    <a:lvl4pPr marL="1600200" indent="-228600" algn="l" defTabSz="449580" rtl="0" eaLnBrk="0" fontAlgn="base" hangingPunct="0">
      <a:spcBef>
        <a:spcPct val="30000"/>
      </a:spcBef>
      <a:spcAft>
        <a:spcPct val="0"/>
      </a:spcAft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anose="02020603050405020304" pitchFamily="18" charset="0"/>
        <a:ea typeface="+mn-ea"/>
        <a:cs typeface="+mn-cs"/>
      </a:defRPr>
    </a:lvl4pPr>
    <a:lvl5pPr marL="2057400" indent="-228600" algn="l" defTabSz="449580" rtl="0" eaLnBrk="0" fontAlgn="base" hangingPunct="0">
      <a:spcBef>
        <a:spcPct val="30000"/>
      </a:spcBef>
      <a:spcAft>
        <a:spcPct val="0"/>
      </a:spcAft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/>
          <p:cNvSpPr txBox="1">
            <a:spLocks noGrp="1"/>
          </p:cNvSpPr>
          <p:nvPr>
            <p:ph type="sldNum" sz="quarter"/>
          </p:nvPr>
        </p:nvSpPr>
        <p:spPr>
          <a:xfrm>
            <a:off x="3884613" y="8685213"/>
            <a:ext cx="2970212" cy="455612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 anchor="b" anchorCtr="0"/>
          <a:lstStyle/>
          <a:p>
            <a:pPr lvl="0" algn="r" defTabSz="449580" eaLnBrk="1" hangingPunct="1"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9A0DB2DC-4C9A-4742-B13C-FB6460FD3503}" type="slidenum">
              <a:rPr lang="en-US" altLang="en-US" dirty="0">
                <a:latin typeface="Calibri" panose="020F0502020204030204" pitchFamily="34" charset="0"/>
              </a:rPr>
              <a:pPr lvl="0" algn="r" defTabSz="449580" eaLnBrk="1" hangingPunct="1">
                <a:buChar char="•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t>1</a:t>
            </a:fld>
            <a:endParaRPr lang="en-US" altLang="en-US" dirty="0">
              <a:latin typeface="Calibri" panose="020F0502020204030204" pitchFamily="34" charset="0"/>
            </a:endParaRPr>
          </a:p>
        </p:txBody>
      </p:sp>
      <p:sp>
        <p:nvSpPr>
          <p:cNvPr id="6147" name="Rectangle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FFFFFF">
              <a:alpha val="100000"/>
            </a:srgbClr>
          </a:solidFill>
        </p:spPr>
      </p:sp>
      <p:sp>
        <p:nvSpPr>
          <p:cNvPr id="6148" name="Text Box 2"/>
          <p:cNvSpPr txBox="1"/>
          <p:nvPr/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</a:ln>
        </p:spPr>
        <p:txBody>
          <a:bodyPr wrap="none" anchor="ctr" anchorCtr="0"/>
          <a:lstStyle/>
          <a:p>
            <a:pPr lvl="0" eaLnBrk="1" hangingPunct="1">
              <a:buFont typeface="Times New Roman" panose="02020603050405020304" pitchFamily="18" charset="0"/>
            </a:pPr>
            <a:endParaRPr lang="en-US" altLang="en-US" dirty="0"/>
          </a:p>
        </p:txBody>
      </p:sp>
      <p:sp>
        <p:nvSpPr>
          <p:cNvPr id="6149" name="Text Box 3"/>
          <p:cNvSpPr txBox="1"/>
          <p:nvPr/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 anchor="b" anchorCtr="0"/>
          <a:lstStyle/>
          <a:p>
            <a:pPr lvl="0" algn="r" defTabSz="449580" eaLnBrk="1" hangingPunct="1"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9A0DB2DC-4C9A-4742-B13C-FB6460FD3503}" type="slidenum">
              <a:rPr lang="en-US" altLang="en-US" dirty="0">
                <a:latin typeface="Calibri" panose="020F0502020204030204" pitchFamily="34" charset="0"/>
              </a:rPr>
              <a:pPr lvl="0" algn="r" defTabSz="449580" eaLnBrk="1" hangingPunct="1">
                <a:buChar char="•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t>1</a:t>
            </a:fld>
            <a:endParaRPr lang="en-US" altLang="en-US" dirty="0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 noProof="1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noProof="1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7013" cy="452437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6613" y="1600200"/>
            <a:ext cx="4038600" cy="452437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1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noProof="1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noProof="1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vert="horz" wrap="square" lIns="90000" tIns="46800" rIns="90000" bIns="4680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449580" rtl="0" eaLnBrk="0" fontAlgn="base" latinLnBrk="0" hangingPunct="0">
              <a:lnSpc>
                <a:spcPct val="100000"/>
              </a:lnSpc>
              <a:spcBef>
                <a:spcPts val="800"/>
              </a:spcBef>
              <a:spcAft>
                <a:spcPct val="0"/>
              </a:spcAft>
              <a:buClrTx/>
              <a:buSzPct val="100000"/>
              <a:buFont typeface="Times New Roman" panose="02020603050405020304" pitchFamily="18" charset="0"/>
              <a:buNone/>
              <a:defRPr/>
            </a:pPr>
            <a:endParaRPr kumimoji="0" lang="en-US" sz="3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5813" cy="5849937"/>
          </a:xfrm>
        </p:spPr>
        <p:txBody>
          <a:bodyPr vert="eaVert"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49937"/>
          </a:xfrm>
        </p:spPr>
        <p:txBody>
          <a:bodyPr vert="eaVert"/>
          <a:lstStyle/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8013" cy="1141412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 anchor="ctr" anchorCtr="0"/>
          <a:lstStyle/>
          <a:p>
            <a:pPr lvl="0"/>
            <a:r>
              <a:rPr lang="en-GB" altLang="en-US" dirty="0"/>
              <a:t>Click to edit the title text format</a:t>
            </a:r>
          </a:p>
        </p:txBody>
      </p:sp>
      <p:sp>
        <p:nvSpPr>
          <p:cNvPr id="1027" name="Rectangle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013" cy="4524375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/>
          <a:lstStyle/>
          <a:p>
            <a:pPr lvl="0"/>
            <a:r>
              <a:rPr lang="en-GB" altLang="en-US" dirty="0"/>
              <a:t>Click to edit the outline text format</a:t>
            </a:r>
          </a:p>
          <a:p>
            <a:pPr lvl="1"/>
            <a:r>
              <a:rPr lang="en-GB" altLang="en-US" dirty="0"/>
              <a:t>Second Outline Level</a:t>
            </a:r>
          </a:p>
          <a:p>
            <a:pPr lvl="2"/>
            <a:r>
              <a:rPr lang="en-GB" altLang="en-US" dirty="0"/>
              <a:t>Third Outline Level</a:t>
            </a:r>
          </a:p>
          <a:p>
            <a:pPr lvl="3"/>
            <a:r>
              <a:rPr lang="en-GB" altLang="en-US" dirty="0"/>
              <a:t>Fourth Outline Level</a:t>
            </a:r>
          </a:p>
          <a:p>
            <a:pPr lvl="4"/>
            <a:r>
              <a:rPr lang="en-GB" altLang="en-US" dirty="0"/>
              <a:t>Fifth Outline Level</a:t>
            </a:r>
          </a:p>
          <a:p>
            <a:pPr lvl="4"/>
            <a:r>
              <a:rPr lang="en-GB" altLang="en-US" dirty="0"/>
              <a:t>Sixth Outline Level</a:t>
            </a:r>
          </a:p>
          <a:p>
            <a:pPr lvl="4"/>
            <a:r>
              <a:rPr lang="en-GB" altLang="en-US" dirty="0"/>
              <a:t>Seventh Outline Level</a:t>
            </a:r>
          </a:p>
        </p:txBody>
      </p:sp>
      <p:sp>
        <p:nvSpPr>
          <p:cNvPr id="2" name="Rectangle 3"/>
          <p:cNvSpPr>
            <a:spLocks noGrp="1" noChangeArrowheads="1"/>
          </p:cNvSpPr>
          <p:nvPr>
            <p:ph type="dt"/>
          </p:nvPr>
        </p:nvSpPr>
        <p:spPr bwMode="auto">
          <a:xfrm>
            <a:off x="457200" y="6356350"/>
            <a:ext cx="2132013" cy="363538"/>
          </a:xfrm>
          <a:prstGeom prst="rect">
            <a:avLst/>
          </a:prstGeom>
          <a:noFill/>
          <a:ln w="9525" cap="flat">
            <a:noFill/>
            <a:round/>
          </a:ln>
          <a:effectLst/>
        </p:spPr>
        <p:txBody>
          <a:bodyPr vert="horz" wrap="square" lIns="90000" tIns="46800" rIns="90000" bIns="46800" numCol="1" anchor="ctr" anchorCtr="0" compatLnSpc="1"/>
          <a:lstStyle>
            <a:lvl1pPr defTabSz="449580" eaLnBrk="1" hangingPunct="1"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1029" name="Text Box 4"/>
          <p:cNvSpPr txBox="1">
            <a:spLocks noChangeArrowheads="1"/>
          </p:cNvSpPr>
          <p:nvPr/>
        </p:nvSpPr>
        <p:spPr bwMode="auto">
          <a:xfrm>
            <a:off x="3124200" y="6356350"/>
            <a:ext cx="2895600" cy="36512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 anchor="ctr"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Times New Roman" panose="02020603050405020304" pitchFamily="18" charset="0"/>
              <a:buNone/>
              <a:defRPr/>
            </a:pPr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 pitchFamily="34" charset="0"/>
              <a:ea typeface="Noto Sans CJK SC Regular" charset="0"/>
              <a:cs typeface="Arial" panose="020B0604020202020204" pitchFamily="34" charset="0"/>
            </a:endParaRPr>
          </a:p>
        </p:txBody>
      </p:sp>
      <p:sp>
        <p:nvSpPr>
          <p:cNvPr id="3" name="Rectangle 5"/>
          <p:cNvSpPr>
            <a:spLocks noGrp="1" noChangeArrowheads="1"/>
          </p:cNvSpPr>
          <p:nvPr>
            <p:ph type="sldNum"/>
          </p:nvPr>
        </p:nvSpPr>
        <p:spPr bwMode="auto">
          <a:xfrm>
            <a:off x="6553200" y="6356350"/>
            <a:ext cx="2132013" cy="363538"/>
          </a:xfrm>
          <a:prstGeom prst="rect">
            <a:avLst/>
          </a:prstGeom>
          <a:noFill/>
          <a:ln w="9525" cap="flat">
            <a:noFill/>
            <a:round/>
          </a:ln>
          <a:effectLst/>
        </p:spPr>
        <p:txBody>
          <a:bodyPr vert="horz" wrap="square" lIns="90000" tIns="46800" rIns="90000" bIns="46800" numCol="1" anchor="ctr" anchorCtr="0" compatLnSpc="1"/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/>
  <p:txStyles>
    <p:titleStyle>
      <a:lvl1pPr algn="ctr" defTabSz="449580" rtl="0" eaLnBrk="0" fontAlgn="base" hangingPunct="0">
        <a:spcBef>
          <a:spcPct val="0"/>
        </a:spcBef>
        <a:spcAft>
          <a:spcPct val="0"/>
        </a:spcAft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+mj-lt"/>
          <a:ea typeface="+mj-ea"/>
          <a:cs typeface="+mj-cs"/>
        </a:defRPr>
      </a:lvl1pPr>
      <a:lvl2pPr algn="ctr" defTabSz="449580" rtl="0" eaLnBrk="0" fontAlgn="base" hangingPunct="0">
        <a:spcBef>
          <a:spcPct val="0"/>
        </a:spcBef>
        <a:spcAft>
          <a:spcPct val="0"/>
        </a:spcAft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2pPr>
      <a:lvl3pPr algn="ctr" defTabSz="449580" rtl="0" eaLnBrk="0" fontAlgn="base" hangingPunct="0">
        <a:spcBef>
          <a:spcPct val="0"/>
        </a:spcBef>
        <a:spcAft>
          <a:spcPct val="0"/>
        </a:spcAft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3pPr>
      <a:lvl4pPr algn="ctr" defTabSz="449580" rtl="0" eaLnBrk="0" fontAlgn="base" hangingPunct="0">
        <a:spcBef>
          <a:spcPct val="0"/>
        </a:spcBef>
        <a:spcAft>
          <a:spcPct val="0"/>
        </a:spcAft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4pPr>
      <a:lvl5pPr algn="ctr" defTabSz="449580" rtl="0" eaLnBrk="0" fontAlgn="base" hangingPunct="0">
        <a:spcBef>
          <a:spcPct val="0"/>
        </a:spcBef>
        <a:spcAft>
          <a:spcPct val="0"/>
        </a:spcAft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5pPr>
      <a:lvl6pPr marL="2514600" indent="-228600" algn="ctr" defTabSz="44958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6pPr>
      <a:lvl7pPr marL="2971800" indent="-228600" algn="ctr" defTabSz="44958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7pPr>
      <a:lvl8pPr marL="3429000" indent="-228600" algn="ctr" defTabSz="44958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8pPr>
      <a:lvl9pPr marL="3886200" indent="-228600" algn="ctr" defTabSz="44958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9pPr>
    </p:titleStyle>
    <p:bodyStyle>
      <a:lvl1pPr marL="342900" indent="-342900" algn="l" defTabSz="449580" rtl="0" eaLnBrk="0" fontAlgn="base" hangingPunct="0">
        <a:spcBef>
          <a:spcPts val="800"/>
        </a:spcBef>
        <a:spcAft>
          <a:spcPct val="0"/>
        </a:spcAft>
        <a:buSzPct val="100000"/>
        <a:buFont typeface="Times New Roman" panose="02020603050405020304" pitchFamily="18" charset="0"/>
        <a:buChar char="•"/>
        <a:defRPr sz="3200">
          <a:solidFill>
            <a:srgbClr val="000000"/>
          </a:solidFill>
          <a:latin typeface="+mn-lt"/>
          <a:ea typeface="+mn-ea"/>
          <a:cs typeface="+mn-cs"/>
        </a:defRPr>
      </a:lvl1pPr>
      <a:lvl2pPr marL="742950" indent="-285750" algn="l" defTabSz="449580" rtl="0" eaLnBrk="0" fontAlgn="base" hangingPunct="0">
        <a:spcBef>
          <a:spcPts val="700"/>
        </a:spcBef>
        <a:spcAft>
          <a:spcPct val="0"/>
        </a:spcAft>
        <a:buSzPct val="100000"/>
        <a:buFont typeface="Times New Roman" panose="02020603050405020304" pitchFamily="18" charset="0"/>
        <a:buChar char="–"/>
        <a:defRPr sz="2800">
          <a:solidFill>
            <a:srgbClr val="000000"/>
          </a:solidFill>
          <a:latin typeface="+mn-lt"/>
          <a:ea typeface="+mn-ea"/>
          <a:cs typeface="+mn-cs"/>
        </a:defRPr>
      </a:lvl2pPr>
      <a:lvl3pPr marL="1143000" indent="-228600" algn="l" defTabSz="449580" rtl="0" eaLnBrk="0" fontAlgn="base" hangingPunct="0">
        <a:spcBef>
          <a:spcPts val="600"/>
        </a:spcBef>
        <a:spcAft>
          <a:spcPct val="0"/>
        </a:spcAft>
        <a:buSzPct val="100000"/>
        <a:buFont typeface="Times New Roman" panose="02020603050405020304" pitchFamily="18" charset="0"/>
        <a:buChar char="•"/>
        <a:defRPr sz="2400">
          <a:solidFill>
            <a:srgbClr val="000000"/>
          </a:solidFill>
          <a:latin typeface="+mn-lt"/>
          <a:ea typeface="+mn-ea"/>
          <a:cs typeface="+mn-cs"/>
        </a:defRPr>
      </a:lvl3pPr>
      <a:lvl4pPr marL="1600200" indent="-228600" algn="l" defTabSz="449580" rtl="0" eaLnBrk="0" fontAlgn="base" hangingPunct="0">
        <a:spcBef>
          <a:spcPts val="500"/>
        </a:spcBef>
        <a:spcAft>
          <a:spcPct val="0"/>
        </a:spcAft>
        <a:buSzPct val="100000"/>
        <a:buFont typeface="Times New Roman" panose="02020603050405020304" pitchFamily="18" charset="0"/>
        <a:buChar char="–"/>
        <a:defRPr sz="2000">
          <a:solidFill>
            <a:srgbClr val="000000"/>
          </a:solidFill>
          <a:latin typeface="+mn-lt"/>
          <a:ea typeface="+mn-ea"/>
          <a:cs typeface="+mn-cs"/>
        </a:defRPr>
      </a:lvl4pPr>
      <a:lvl5pPr marL="2057400" indent="-228600" algn="l" defTabSz="449580" rtl="0" eaLnBrk="0" fontAlgn="base" hangingPunct="0">
        <a:spcBef>
          <a:spcPts val="500"/>
        </a:spcBef>
        <a:spcAft>
          <a:spcPct val="0"/>
        </a:spcAft>
        <a:buSzPct val="100000"/>
        <a:buFont typeface="Times New Roman" panose="02020603050405020304" pitchFamily="18" charset="0"/>
        <a:buChar char="»"/>
        <a:defRPr sz="2000">
          <a:solidFill>
            <a:srgbClr val="000000"/>
          </a:solidFill>
          <a:latin typeface="+mn-lt"/>
          <a:ea typeface="+mn-ea"/>
          <a:cs typeface="+mn-cs"/>
        </a:defRPr>
      </a:lvl5pPr>
      <a:lvl6pPr marL="2514600" indent="-228600" algn="l" defTabSz="44958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000">
          <a:solidFill>
            <a:srgbClr val="000000"/>
          </a:solidFill>
          <a:latin typeface="+mn-lt"/>
          <a:ea typeface="+mn-ea"/>
          <a:cs typeface="+mn-cs"/>
        </a:defRPr>
      </a:lvl6pPr>
      <a:lvl7pPr marL="2971800" indent="-228600" algn="l" defTabSz="44958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000">
          <a:solidFill>
            <a:srgbClr val="000000"/>
          </a:solidFill>
          <a:latin typeface="+mn-lt"/>
          <a:ea typeface="+mn-ea"/>
          <a:cs typeface="+mn-cs"/>
        </a:defRPr>
      </a:lvl7pPr>
      <a:lvl8pPr marL="3429000" indent="-228600" algn="l" defTabSz="44958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000">
          <a:solidFill>
            <a:srgbClr val="000000"/>
          </a:solidFill>
          <a:latin typeface="+mn-lt"/>
          <a:ea typeface="+mn-ea"/>
          <a:cs typeface="+mn-cs"/>
        </a:defRPr>
      </a:lvl8pPr>
      <a:lvl9pPr marL="3886200" indent="-228600" algn="l" defTabSz="44958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000">
          <a:solidFill>
            <a:srgbClr val="000000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ext Box 1"/>
          <p:cNvSpPr txBox="1"/>
          <p:nvPr/>
        </p:nvSpPr>
        <p:spPr>
          <a:xfrm>
            <a:off x="228600" y="304800"/>
            <a:ext cx="8610600" cy="1066800"/>
          </a:xfrm>
          <a:prstGeom prst="rect">
            <a:avLst/>
          </a:prstGeom>
          <a:noFill/>
          <a:ln w="9525">
            <a:noFill/>
          </a:ln>
        </p:spPr>
        <p:txBody>
          <a:bodyPr anchor="ctr" anchorCtr="0"/>
          <a:lstStyle/>
          <a:p>
            <a:pPr algn="ctr" defTabSz="44958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IN" altLang="en-US" sz="3200" b="1" dirty="0">
                <a:solidFill>
                  <a:srgbClr val="000000"/>
                </a:solidFill>
                <a:latin typeface="Calibri" panose="020F0502020204030204" pitchFamily="34" charset="0"/>
              </a:rPr>
              <a:t>   </a:t>
            </a:r>
            <a:r>
              <a:rPr lang="en-IN" altLang="en-US" sz="32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Internship Assessment </a:t>
            </a:r>
          </a:p>
          <a:p>
            <a:pPr algn="ctr" defTabSz="44958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IN" altLang="en-US" sz="32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(Summer Internship</a:t>
            </a:r>
            <a:r>
              <a:rPr lang="en-IN" altLang="en-US" sz="3200" b="1" dirty="0">
                <a:solidFill>
                  <a:srgbClr val="000000"/>
                </a:solidFill>
                <a:latin typeface="Calibri" panose="020F0502020204030204" pitchFamily="34" charset="0"/>
              </a:rPr>
              <a:t>)</a:t>
            </a:r>
          </a:p>
        </p:txBody>
      </p:sp>
      <p:sp>
        <p:nvSpPr>
          <p:cNvPr id="2051" name="Text Box 2"/>
          <p:cNvSpPr txBox="1"/>
          <p:nvPr/>
        </p:nvSpPr>
        <p:spPr>
          <a:xfrm>
            <a:off x="3505200" y="3429000"/>
            <a:ext cx="5486400" cy="1371600"/>
          </a:xfrm>
          <a:prstGeom prst="rect">
            <a:avLst/>
          </a:prstGeom>
          <a:noFill/>
          <a:ln w="9525">
            <a:noFill/>
          </a:ln>
        </p:spPr>
        <p:txBody>
          <a:bodyPr/>
          <a:lstStyle/>
          <a:p>
            <a:pPr>
              <a:defRPr sz="1400">
                <a:solidFill>
                  <a:srgbClr val="0F172A"/>
                </a:solidFill>
                <a:latin typeface="Calibri"/>
              </a:defRPr>
            </a:pPr>
            <a:r>
              <a:t>       Submitted By                    Supervised By</a:t>
            </a:r>
          </a:p>
          <a:p>
            <a:pPr>
              <a:defRPr sz="1400">
                <a:solidFill>
                  <a:srgbClr val="0F172A"/>
                </a:solidFill>
                <a:latin typeface="Calibri"/>
              </a:defRPr>
            </a:pPr>
            <a:r>
              <a:t>   Piyush Tiwari        	Name of Supervisor</a:t>
            </a:r>
          </a:p>
          <a:p>
            <a:pPr>
              <a:defRPr sz="1400">
                <a:solidFill>
                  <a:srgbClr val="0F172A"/>
                </a:solidFill>
                <a:latin typeface="Calibri"/>
              </a:defRPr>
            </a:pPr>
            <a:r>
              <a:t>   2100270100000		Designation</a:t>
            </a:r>
          </a:p>
          <a:p>
            <a:pPr>
              <a:defRPr sz="1400">
                <a:solidFill>
                  <a:srgbClr val="0F172A"/>
                </a:solidFill>
                <a:latin typeface="Calibri"/>
              </a:defRPr>
            </a:pPr>
            <a:r>
              <a:t>   7th Sem, CSE-1                     Department: CSE</a:t>
            </a:r>
          </a:p>
        </p:txBody>
      </p:sp>
      <p:sp>
        <p:nvSpPr>
          <p:cNvPr id="2052" name="Text Box 3"/>
          <p:cNvSpPr txBox="1"/>
          <p:nvPr/>
        </p:nvSpPr>
        <p:spPr>
          <a:xfrm>
            <a:off x="228600" y="3429000"/>
            <a:ext cx="3429000" cy="1295400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/>
          <a:lstStyle/>
          <a:p>
            <a:pPr algn="ctr" defTabSz="44958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 b="1" dirty="0">
                <a:solidFill>
                  <a:srgbClr val="000000"/>
                </a:solidFill>
                <a:latin typeface="Times New Roman" panose="02020603050405020304" pitchFamily="18" charset="0"/>
              </a:rPr>
              <a:t>Submitted To</a:t>
            </a:r>
          </a:p>
          <a:p>
            <a:pPr algn="just" defTabSz="44958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IN" altLang="en-US" dirty="0">
                <a:solidFill>
                  <a:srgbClr val="000000"/>
                </a:solidFill>
                <a:latin typeface="Times New Roman" panose="02020603050405020304" pitchFamily="18" charset="0"/>
              </a:rPr>
              <a:t>	      Mr. Basudeo Singh Roohani</a:t>
            </a:r>
          </a:p>
          <a:p>
            <a:pPr algn="just" defTabSz="44958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IN" altLang="en-US" dirty="0">
                <a:solidFill>
                  <a:srgbClr val="000000"/>
                </a:solidFill>
                <a:latin typeface="Times New Roman" panose="02020603050405020304" pitchFamily="18" charset="0"/>
              </a:rPr>
              <a:t>      </a:t>
            </a:r>
            <a:r>
              <a:rPr lang="en-IN" altLang="en-US" dirty="0" smtClean="0">
                <a:solidFill>
                  <a:srgbClr val="000000"/>
                </a:solidFill>
                <a:latin typeface="Times New Roman" panose="02020603050405020304" pitchFamily="18" charset="0"/>
              </a:rPr>
              <a:t>Ms. Swati Singh</a:t>
            </a:r>
            <a:endParaRPr lang="en-IN" altLang="en-US" dirty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algn="just" defTabSz="44958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IN" altLang="en-US" dirty="0">
                <a:solidFill>
                  <a:srgbClr val="000000"/>
                </a:solidFill>
                <a:latin typeface="Times New Roman" panose="02020603050405020304" pitchFamily="18" charset="0"/>
              </a:rPr>
              <a:t>      (Internship Coordinators)</a:t>
            </a:r>
          </a:p>
          <a:p>
            <a:pPr algn="ctr" defTabSz="44958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altLang="en-US" sz="2200" dirty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algn="ctr" defTabSz="44958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altLang="en-US" sz="2200" dirty="0">
              <a:solidFill>
                <a:srgbClr val="000000"/>
              </a:solidFill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053" name="Text Box 4"/>
          <p:cNvSpPr txBox="1"/>
          <p:nvPr/>
        </p:nvSpPr>
        <p:spPr>
          <a:xfrm>
            <a:off x="609600" y="5334000"/>
            <a:ext cx="7772400" cy="1295400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/>
          <a:lstStyle/>
          <a:p>
            <a:pPr algn="ctr" defTabSz="449580">
              <a:lnSpc>
                <a:spcPct val="9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 sz="24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Department of Computer Science &amp; Engineering</a:t>
            </a:r>
          </a:p>
          <a:p>
            <a:pPr algn="ctr" defTabSz="449580">
              <a:lnSpc>
                <a:spcPct val="90000"/>
              </a:lnSpc>
              <a:spcBef>
                <a:spcPts val="6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 sz="24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IMS Engineering College, Ghaziabad, India</a:t>
            </a:r>
          </a:p>
          <a:p>
            <a:pPr algn="ctr" defTabSz="449580">
              <a:lnSpc>
                <a:spcPct val="90000"/>
              </a:lnSpc>
              <a:spcBef>
                <a:spcPts val="6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 sz="24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altLang="en-US" sz="2400" b="1" dirty="0" smtClean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2026-27)</a:t>
            </a:r>
            <a:endParaRPr lang="en-US" altLang="en-US" sz="2400" b="1" dirty="0">
              <a:solidFill>
                <a:srgbClr val="000000"/>
              </a:solidFill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054" name="Text Box 6"/>
          <p:cNvSpPr txBox="1"/>
          <p:nvPr/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 anchor="ctr" anchorCtr="0"/>
          <a:lstStyle/>
          <a:p>
            <a:pPr algn="r" defTabSz="44958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9A0DB2DC-4C9A-4742-B13C-FB6460FD3503}" type="slidenum">
              <a:rPr lang="en-IN" altLang="en-US" sz="1200" dirty="0">
                <a:solidFill>
                  <a:srgbClr val="898989"/>
                </a:solidFill>
                <a:latin typeface="Arial" panose="020B0604020202020204" pitchFamily="34" charset="0"/>
              </a:rPr>
              <a:pPr algn="r" defTabSz="449580"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t>1</a:t>
            </a:fld>
            <a:endParaRPr lang="en-IN" altLang="en-US" sz="1200" dirty="0">
              <a:solidFill>
                <a:srgbClr val="898989"/>
              </a:solidFill>
              <a:latin typeface="Arial" panose="020B0604020202020204" pitchFamily="34" charset="0"/>
            </a:endParaRPr>
          </a:p>
        </p:txBody>
      </p:sp>
      <p:pic>
        <p:nvPicPr>
          <p:cNvPr id="2055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675" y="152400"/>
            <a:ext cx="1795463" cy="1846263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056" name="TextBox 1"/>
          <p:cNvSpPr txBox="1"/>
          <p:nvPr/>
        </p:nvSpPr>
        <p:spPr>
          <a:xfrm>
            <a:off x="3238500" y="1143000"/>
            <a:ext cx="2667000" cy="738188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algn="ctr" eaLnBrk="0" hangingPunct="0"/>
            <a:r>
              <a:rPr lang="en-IN" altLang="en-US" b="1" dirty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</a:p>
          <a:p>
            <a:pPr algn="ctr" eaLnBrk="0" hangingPunct="0"/>
            <a:r>
              <a:rPr lang="en-IN" alt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Presentation</a:t>
            </a:r>
            <a:endParaRPr lang="en-IN" altLang="en-US" sz="2400" b="1" dirty="0">
              <a:solidFill>
                <a:schemeClr val="tx1"/>
              </a:solidFill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057" name="TextBox 8"/>
          <p:cNvSpPr txBox="1"/>
          <p:nvPr/>
        </p:nvSpPr>
        <p:spPr>
          <a:xfrm>
            <a:off x="2286000" y="1691640"/>
            <a:ext cx="4389120" cy="822960"/>
          </a:xfrm>
          <a:prstGeom prst="rect">
            <a:avLst/>
          </a:prstGeom>
          <a:noFill/>
          <a:ln w="9525">
            <a:noFill/>
          </a:ln>
        </p:spPr>
        <p:txBody>
          <a:bodyPr wrap="square" tIns="0" bIns="0" lIns="0" rIns="0">
            <a:spAutoFit/>
          </a:bodyPr>
          <a:lstStyle/>
          <a:p>
            <a:pPr algn="ctr"/>
            <a:r>
              <a:rPr sz="2000" b="1">
                <a:solidFill>
                  <a:srgbClr val="0F172A"/>
                </a:solidFill>
                <a:latin typeface="Calibri"/>
              </a:rPr>
              <a:t>On Predictive Maintenance for Jet Engines Using Machine Learning</a:t>
            </a:r>
          </a:p>
          <a:p>
            <a:pPr algn="ctr">
              <a:defRPr sz="2200" b="1">
                <a:solidFill>
                  <a:srgbClr val="FF0000"/>
                </a:solidFill>
                <a:latin typeface="Calibri"/>
              </a:defRPr>
            </a:pPr>
            <a:r>
              <a:rPr sz="2000" b="1">
                <a:solidFill>
                  <a:srgbClr val="0F172A"/>
                </a:solidFill>
                <a:latin typeface="Calibri"/>
              </a:rPr>
              <a:t>On Predictive Maintenance for Jet Engines Using Machine Learning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Calibri"/>
              </a:defRPr>
            </a:pPr>
            <a:r>
              <a:t>Executive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2000" b="1">
                <a:solidFill>
                  <a:srgbClr val="2563EB"/>
                </a:solidFill>
                <a:latin typeface="Calibri"/>
              </a:rPr>
              <a:t>• Problem Statement: </a:t>
            </a:r>
            <a:r>
              <a:rPr sz="2000" b="0">
                <a:solidFill>
                  <a:srgbClr val="334155"/>
                </a:solidFill>
                <a:latin typeface="Calibri"/>
              </a:rPr>
              <a:t>High costs of unplanned aircraft engine failures.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563EB"/>
                </a:solidFill>
                <a:latin typeface="Calibri"/>
              </a:rPr>
              <a:t>• Project Objectives: </a:t>
            </a:r>
            <a:r>
              <a:rPr sz="2000" b="0">
                <a:solidFill>
                  <a:srgbClr val="334155"/>
                </a:solidFill>
                <a:latin typeface="Calibri"/>
              </a:rPr>
              <a:t>Deliver tri-model AI engine for RUL forecasting.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563EB"/>
                </a:solidFill>
                <a:latin typeface="Calibri"/>
              </a:rPr>
              <a:t>• Technology Stack: </a:t>
            </a:r>
            <a:r>
              <a:rPr sz="2000" b="0">
                <a:solidFill>
                  <a:srgbClr val="334155"/>
                </a:solidFill>
                <a:latin typeface="Calibri"/>
              </a:rPr>
              <a:t>Python 3.11, Scikit-Learn, Pandas, and NumPy.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563EB"/>
                </a:solidFill>
                <a:latin typeface="Calibri"/>
              </a:rPr>
              <a:t>• System Methodology: </a:t>
            </a:r>
            <a:r>
              <a:rPr sz="2000" b="0">
                <a:solidFill>
                  <a:srgbClr val="334155"/>
                </a:solidFill>
                <a:latin typeface="Calibri"/>
              </a:rPr>
              <a:t>NASA C-MAPSS 21-sensor rolling feature pipeline.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563EB"/>
                </a:solidFill>
                <a:latin typeface="Calibri"/>
              </a:rPr>
              <a:t>• Benchmark Results: </a:t>
            </a:r>
            <a:r>
              <a:rPr sz="2000" b="0">
                <a:solidFill>
                  <a:srgbClr val="334155"/>
                </a:solidFill>
                <a:latin typeface="Calibri"/>
              </a:rPr>
              <a:t>98.45% AUC-ROC score and 33.39 cycles RMSE.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Calibri"/>
              </a:defRPr>
            </a:pPr>
            <a:r>
              <a:t>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2000" b="1">
                <a:solidFill>
                  <a:srgbClr val="2563EB"/>
                </a:solidFill>
                <a:latin typeface="Calibri"/>
              </a:rPr>
              <a:t>• Unscheduled Groundings: </a:t>
            </a:r>
            <a:r>
              <a:rPr sz="2000" b="0">
                <a:solidFill>
                  <a:srgbClr val="334155"/>
                </a:solidFill>
                <a:latin typeface="Calibri"/>
              </a:rPr>
              <a:t>Sudden turbofan breakdowns cause severe flight cancellations.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563EB"/>
                </a:solidFill>
                <a:latin typeface="Calibri"/>
              </a:rPr>
              <a:t>• High Operational Cost: </a:t>
            </a:r>
            <a:r>
              <a:rPr sz="2000" b="0">
                <a:solidFill>
                  <a:srgbClr val="334155"/>
                </a:solidFill>
                <a:latin typeface="Calibri"/>
              </a:rPr>
              <a:t>Unplanned engine diversions cost operators $250,000 each.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563EB"/>
                </a:solidFill>
                <a:latin typeface="Calibri"/>
              </a:rPr>
              <a:t>• Static Servicing Flaws: </a:t>
            </a:r>
            <a:r>
              <a:rPr sz="2000" b="0">
                <a:solidFill>
                  <a:srgbClr val="334155"/>
                </a:solidFill>
                <a:latin typeface="Calibri"/>
              </a:rPr>
              <a:t>Fixed schedules replace healthy parts or miss breakdown.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563EB"/>
                </a:solidFill>
                <a:latin typeface="Calibri"/>
              </a:rPr>
              <a:t>• Sensor Noise Challenge: </a:t>
            </a:r>
            <a:r>
              <a:rPr sz="2000" b="0">
                <a:solidFill>
                  <a:srgbClr val="334155"/>
                </a:solidFill>
                <a:latin typeface="Calibri"/>
              </a:rPr>
              <a:t>21 continuous sensor streams show non-linear wear.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563EB"/>
                </a:solidFill>
                <a:latin typeface="Calibri"/>
              </a:rPr>
              <a:t>• Prognostic Solution: </a:t>
            </a:r>
            <a:r>
              <a:rPr sz="2000" b="0">
                <a:solidFill>
                  <a:srgbClr val="334155"/>
                </a:solidFill>
                <a:latin typeface="Calibri"/>
              </a:rPr>
              <a:t>Requires real-time AI to forecast remaining life.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Calibri"/>
              </a:defRPr>
            </a:pPr>
            <a:r>
              <a:t>Project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2000" b="1">
                <a:solidFill>
                  <a:srgbClr val="2563EB"/>
                </a:solidFill>
                <a:latin typeface="Calibri"/>
              </a:rPr>
              <a:t>• RUL Forecasting: </a:t>
            </a:r>
            <a:r>
              <a:rPr sz="2000" b="0">
                <a:solidFill>
                  <a:srgbClr val="334155"/>
                </a:solidFill>
                <a:latin typeface="Calibri"/>
              </a:rPr>
              <a:t>Predict exact operational cycles remaining before failure.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563EB"/>
                </a:solidFill>
                <a:latin typeface="Calibri"/>
              </a:rPr>
              <a:t>• 30-Day Warning Alert: </a:t>
            </a:r>
            <a:r>
              <a:rPr sz="2000" b="0">
                <a:solidFill>
                  <a:srgbClr val="334155"/>
                </a:solidFill>
                <a:latin typeface="Calibri"/>
              </a:rPr>
              <a:t>Achieve 98.45% AUC-ROC on binary warning alerts.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563EB"/>
                </a:solidFill>
                <a:latin typeface="Calibri"/>
              </a:rPr>
              <a:t>• 3-Tier Hazard Net: </a:t>
            </a:r>
            <a:r>
              <a:rPr sz="2000" b="0">
                <a:solidFill>
                  <a:srgbClr val="334155"/>
                </a:solidFill>
                <a:latin typeface="Calibri"/>
              </a:rPr>
              <a:t>Classify fleet health into Healthy, Warning, Critical.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563EB"/>
                </a:solidFill>
                <a:latin typeface="Calibri"/>
              </a:rPr>
              <a:t>• Real-Time Diagnostics: </a:t>
            </a:r>
            <a:r>
              <a:rPr sz="2000" b="0">
                <a:solidFill>
                  <a:srgbClr val="334155"/>
                </a:solidFill>
                <a:latin typeface="Calibri"/>
              </a:rPr>
              <a:t>Deliver sub-30ms CLI runner for instant diagnostics.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563EB"/>
                </a:solidFill>
                <a:latin typeface="Calibri"/>
              </a:rPr>
              <a:t>• Cost Optimization: </a:t>
            </a:r>
            <a:r>
              <a:rPr sz="2000" b="0">
                <a:solidFill>
                  <a:srgbClr val="334155"/>
                </a:solidFill>
                <a:latin typeface="Calibri"/>
              </a:rPr>
              <a:t>Eliminate unscheduled engine overhauls and diversions.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Calibri"/>
              </a:defRPr>
            </a:pPr>
            <a:r>
              <a:t>Existing vs. Proposed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2000" b="1">
                <a:solidFill>
                  <a:srgbClr val="2563EB"/>
                </a:solidFill>
                <a:latin typeface="Calibri"/>
              </a:rPr>
              <a:t>• Traditional Servicing: </a:t>
            </a:r>
            <a:r>
              <a:rPr sz="2000" b="0">
                <a:solidFill>
                  <a:srgbClr val="334155"/>
                </a:solidFill>
                <a:latin typeface="Calibri"/>
              </a:rPr>
              <a:t>Fixed flight-hour intervals ignore actual engine wear.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563EB"/>
                </a:solidFill>
                <a:latin typeface="Calibri"/>
              </a:rPr>
              <a:t>• Reactive Maintenance: </a:t>
            </a:r>
            <a:r>
              <a:rPr sz="2000" b="0">
                <a:solidFill>
                  <a:srgbClr val="334155"/>
                </a:solidFill>
                <a:latin typeface="Calibri"/>
              </a:rPr>
              <a:t>Triggers repair only after catastrophic in-flight failure.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563EB"/>
                </a:solidFill>
                <a:latin typeface="Calibri"/>
              </a:rPr>
              <a:t>• Proposed AI System: </a:t>
            </a:r>
            <a:r>
              <a:rPr sz="2000" b="0">
                <a:solidFill>
                  <a:srgbClr val="334155"/>
                </a:solidFill>
                <a:latin typeface="Calibri"/>
              </a:rPr>
              <a:t>Monitors 21 live telemetry streams continuously.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563EB"/>
                </a:solidFill>
                <a:latin typeface="Calibri"/>
              </a:rPr>
              <a:t>• Proactive Scheduling: </a:t>
            </a:r>
            <a:r>
              <a:rPr sz="2000" b="0">
                <a:solidFill>
                  <a:srgbClr val="334155"/>
                </a:solidFill>
                <a:latin typeface="Calibri"/>
              </a:rPr>
              <a:t>Schedules minor $15k repairs before breakdown.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563EB"/>
                </a:solidFill>
                <a:latin typeface="Calibri"/>
              </a:rPr>
              <a:t>• Cost Savings: </a:t>
            </a:r>
            <a:r>
              <a:rPr sz="2000" b="0">
                <a:solidFill>
                  <a:srgbClr val="334155"/>
                </a:solidFill>
                <a:latin typeface="Calibri"/>
              </a:rPr>
              <a:t>Prevents $250k emergency diversions and flight delays.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Calibri"/>
              </a:defRPr>
            </a:pPr>
            <a:r>
              <a:t>System Methodology &amp; Data Flowchart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36576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1">
                <a:solidFill>
                  <a:srgbClr val="2563EB"/>
                </a:solidFill>
                <a:latin typeface="Calibri"/>
              </a:rPr>
              <a:t>• Stage 1 Ingestion: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NASA C-MAPSS telemetry dataset.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2563EB"/>
                </a:solidFill>
                <a:latin typeface="Calibri"/>
              </a:rPr>
              <a:t>• Stage 2 Preprocessing: </a:t>
            </a:r>
            <a:r>
              <a:rPr sz="1800" b="0">
                <a:solidFill>
                  <a:srgbClr val="334155"/>
                </a:solidFill>
                <a:latin typeface="Calibri"/>
              </a:rPr>
              <a:t>5-cycle rolling mean and std.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2563EB"/>
                </a:solidFill>
                <a:latin typeface="Calibri"/>
              </a:rPr>
              <a:t>• Stage 3 Filter: </a:t>
            </a:r>
            <a:r>
              <a:rPr sz="1800" b="0">
                <a:solidFill>
                  <a:srgbClr val="334155"/>
                </a:solidFill>
                <a:latin typeface="Calibri"/>
              </a:rPr>
              <a:t>Removes correlation pairs r &gt; 0.80.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2563EB"/>
                </a:solidFill>
                <a:latin typeface="Calibri"/>
              </a:rPr>
              <a:t>• Stage 4 AI Engine: </a:t>
            </a:r>
            <a:r>
              <a:rPr sz="1800" b="0">
                <a:solidFill>
                  <a:srgbClr val="334155"/>
                </a:solidFill>
                <a:latin typeface="Calibri"/>
              </a:rPr>
              <a:t>Tri-model regression and classifier.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2563EB"/>
                </a:solidFill>
                <a:latin typeface="Calibri"/>
              </a:rPr>
              <a:t>• Stage 5 Actionable Report: </a:t>
            </a:r>
            <a:r>
              <a:rPr sz="1800" b="0">
                <a:solidFill>
                  <a:srgbClr val="334155"/>
                </a:solidFill>
                <a:latin typeface="Calibri"/>
              </a:rPr>
              <a:t>Fleet health score and dispatch.</a:t>
            </a:r>
          </a:p>
        </p:txBody>
      </p:sp>
      <p:pic>
        <p:nvPicPr>
          <p:cNvPr id="5" name="Picture 4" descr="vertical_flowchart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1005840"/>
            <a:ext cx="438912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Calibri"/>
              </a:defRPr>
            </a:pPr>
            <a:r>
              <a:t>Technology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334155"/>
                </a:solidFill>
                <a:latin typeface="Calibri"/>
              </a:defRPr>
            </a:pPr>
            <a:r>
              <a:t>7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804672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286000"/>
                <a:gridCol w="2468880"/>
                <a:gridCol w="1645920"/>
              </a:tblGrid>
              <a:tr h="627017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Layer Component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Technology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Primary Function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Version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Language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Python 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Engine logic and predictive algorithms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3.11+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Machine Learning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Scikit-Learn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Random Forest, SVM, MLP Neural Net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v1.3.2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Data Wrangling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Pandas &amp; NumPy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5-cycle rolling aggregations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v2.2.0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Signal Analytics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SciPy Signal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Noise reduction and correlation filter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v1.11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CLI Diagnostic Tool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Argparse &amp; Pickle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Serialized model runner predict.py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Native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7018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Visualization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Matplotlib &amp; Seaborn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ROC and Precision-Recall curves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v3.8.0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Calibri"/>
              </a:defRPr>
            </a:pPr>
            <a:r>
              <a:t>Dataset Details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2000" b="1">
                <a:solidFill>
                  <a:srgbClr val="2563EB"/>
                </a:solidFill>
                <a:latin typeface="Calibri"/>
              </a:rPr>
              <a:t>• Data Provider: </a:t>
            </a:r>
            <a:r>
              <a:rPr sz="2000" b="0">
                <a:solidFill>
                  <a:srgbClr val="334155"/>
                </a:solidFill>
                <a:latin typeface="Calibri"/>
              </a:rPr>
              <a:t>NASA Ames Prognostics C-MAPSS dataset.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563EB"/>
                </a:solidFill>
                <a:latin typeface="Calibri"/>
              </a:rPr>
              <a:t>• Training Fleet: </a:t>
            </a:r>
            <a:r>
              <a:rPr sz="2000" b="0">
                <a:solidFill>
                  <a:srgbClr val="334155"/>
                </a:solidFill>
                <a:latin typeface="Calibri"/>
              </a:rPr>
              <a:t>100 turbofan engines run to failure.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563EB"/>
                </a:solidFill>
                <a:latin typeface="Calibri"/>
              </a:rPr>
              <a:t>• Testing Fleet: </a:t>
            </a:r>
            <a:r>
              <a:rPr sz="2000" b="0">
                <a:solidFill>
                  <a:srgbClr val="334155"/>
                </a:solidFill>
                <a:latin typeface="Calibri"/>
              </a:rPr>
              <a:t>100 test engines with ground truth labels.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563EB"/>
                </a:solidFill>
                <a:latin typeface="Calibri"/>
              </a:rPr>
              <a:t>• Failure Windows: </a:t>
            </a:r>
            <a:r>
              <a:rPr sz="2000" b="0">
                <a:solidFill>
                  <a:srgbClr val="334155"/>
                </a:solidFill>
                <a:latin typeface="Calibri"/>
              </a:rPr>
              <a:t>30-cycle warning and 15-cycle urgent window.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563EB"/>
                </a:solidFill>
                <a:latin typeface="Calibri"/>
              </a:rPr>
              <a:t>• Dataset Quality: </a:t>
            </a:r>
            <a:r>
              <a:rPr sz="2000" b="0">
                <a:solidFill>
                  <a:srgbClr val="334155"/>
                </a:solidFill>
                <a:latin typeface="Calibri"/>
              </a:rPr>
              <a:t>Zero missing values and clean numeric series.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Calibri"/>
              </a:defRPr>
            </a:pPr>
            <a:r>
              <a:t>Tri-Model AI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2000" b="1">
                <a:solidFill>
                  <a:srgbClr val="2563EB"/>
                </a:solidFill>
                <a:latin typeface="Calibri"/>
              </a:rPr>
              <a:t>• RUL Regression: </a:t>
            </a:r>
            <a:r>
              <a:rPr sz="2000" b="0">
                <a:solidFill>
                  <a:srgbClr val="334155"/>
                </a:solidFill>
                <a:latin typeface="Calibri"/>
              </a:rPr>
              <a:t>Random Forest predicting exact remaining cycles.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563EB"/>
                </a:solidFill>
                <a:latin typeface="Calibri"/>
              </a:rPr>
              <a:t>• Binary Classifier: </a:t>
            </a:r>
            <a:r>
              <a:rPr sz="2000" b="0">
                <a:solidFill>
                  <a:srgbClr val="334155"/>
                </a:solidFill>
                <a:latin typeface="Calibri"/>
              </a:rPr>
              <a:t>Random Forest flagging 30-day failure warning.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563EB"/>
                </a:solidFill>
                <a:latin typeface="Calibri"/>
              </a:rPr>
              <a:t>• Neural MLP Net: </a:t>
            </a:r>
            <a:r>
              <a:rPr sz="2000" b="0">
                <a:solidFill>
                  <a:srgbClr val="334155"/>
                </a:solidFill>
                <a:latin typeface="Calibri"/>
              </a:rPr>
              <a:t>Multi-Layer Perceptron for 3-tier risk rating.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563EB"/>
                </a:solidFill>
                <a:latin typeface="Calibri"/>
              </a:rPr>
              <a:t>• Risk Classes: </a:t>
            </a:r>
            <a:r>
              <a:rPr sz="2000" b="0">
                <a:solidFill>
                  <a:srgbClr val="334155"/>
                </a:solidFill>
                <a:latin typeface="Calibri"/>
              </a:rPr>
              <a:t>Healthy (&gt;30d), Warning (15-30d), Critical (&lt;=15d).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563EB"/>
                </a:solidFill>
                <a:latin typeface="Calibri"/>
              </a:rPr>
              <a:t>• Softmax Output: </a:t>
            </a:r>
            <a:r>
              <a:rPr sz="2000" b="0">
                <a:solidFill>
                  <a:srgbClr val="334155"/>
                </a:solidFill>
                <a:latin typeface="Calibri"/>
              </a:rPr>
              <a:t>Produces normalized probability distributions.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Calibri"/>
              </a:defRPr>
            </a:pPr>
            <a:r>
              <a:t>Terminal Diagnostic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2000" b="1">
                <a:solidFill>
                  <a:srgbClr val="2563EB"/>
                </a:solidFill>
                <a:latin typeface="Calibri"/>
              </a:rPr>
              <a:t>• CLI Diagnostic Tool: </a:t>
            </a:r>
            <a:r>
              <a:rPr sz="2000" b="0">
                <a:solidFill>
                  <a:srgbClr val="334155"/>
                </a:solidFill>
                <a:latin typeface="Calibri"/>
              </a:rPr>
              <a:t>Built using argparse and serialized models.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563EB"/>
                </a:solidFill>
                <a:latin typeface="Calibri"/>
              </a:rPr>
              <a:t>• Execution Command: </a:t>
            </a:r>
            <a:r>
              <a:rPr sz="2000" b="0">
                <a:solidFill>
                  <a:srgbClr val="334155"/>
                </a:solidFill>
                <a:latin typeface="Calibri"/>
              </a:rPr>
              <a:t>python predict.py --engine_id 81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563EB"/>
                </a:solidFill>
                <a:latin typeface="Calibri"/>
              </a:rPr>
              <a:t>• Output Parameters: </a:t>
            </a:r>
            <a:r>
              <a:rPr sz="2000" b="0">
                <a:solidFill>
                  <a:srgbClr val="334155"/>
                </a:solidFill>
                <a:latin typeface="Calibri"/>
              </a:rPr>
              <a:t>Estimated RUL, failure probability, and rating.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563EB"/>
                </a:solidFill>
                <a:latin typeface="Calibri"/>
              </a:rPr>
              <a:t>• Status Formatting: </a:t>
            </a:r>
            <a:r>
              <a:rPr sz="2000" b="0">
                <a:solidFill>
                  <a:srgbClr val="334155"/>
                </a:solidFill>
                <a:latin typeface="Calibri"/>
              </a:rPr>
              <a:t>Displays GREEN, YELLOW, and RED indicators.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563EB"/>
                </a:solidFill>
                <a:latin typeface="Calibri"/>
              </a:rPr>
              <a:t>• Actionable Guidance: </a:t>
            </a:r>
            <a:r>
              <a:rPr sz="2000" b="0">
                <a:solidFill>
                  <a:srgbClr val="334155"/>
                </a:solidFill>
                <a:latin typeface="Calibri"/>
              </a:rPr>
              <a:t>Instructs managers to schedule service or ground.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Calibri"/>
              </a:defRPr>
            </a:pPr>
            <a:r>
              <a:t>Fleet Hazard Gating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2000" b="1">
                <a:solidFill>
                  <a:srgbClr val="2563EB"/>
                </a:solidFill>
                <a:latin typeface="Calibri"/>
              </a:rPr>
              <a:t>• Healthy State (Green): </a:t>
            </a:r>
            <a:r>
              <a:rPr sz="2000" b="0">
                <a:solidFill>
                  <a:srgbClr val="334155"/>
                </a:solidFill>
                <a:latin typeface="Calibri"/>
              </a:rPr>
              <a:t>RUL &gt; 30 cycles; normal flight service.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563EB"/>
                </a:solidFill>
                <a:latin typeface="Calibri"/>
              </a:rPr>
              <a:t>• Warning State (Yellow): </a:t>
            </a:r>
            <a:r>
              <a:rPr sz="2000" b="0">
                <a:solidFill>
                  <a:srgbClr val="334155"/>
                </a:solidFill>
                <a:latin typeface="Calibri"/>
              </a:rPr>
              <a:t>15 &lt; RUL &lt;= 30 cycles; schedule service.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563EB"/>
                </a:solidFill>
                <a:latin typeface="Calibri"/>
              </a:rPr>
              <a:t>• Critical Action (Red): </a:t>
            </a:r>
            <a:r>
              <a:rPr sz="2000" b="0">
                <a:solidFill>
                  <a:srgbClr val="334155"/>
                </a:solidFill>
                <a:latin typeface="Calibri"/>
              </a:rPr>
              <a:t>RUL &lt;= 15 cycles; ground engine within 24h.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563EB"/>
                </a:solidFill>
                <a:latin typeface="Calibri"/>
              </a:rPr>
              <a:t>• Low Latency: </a:t>
            </a:r>
            <a:r>
              <a:rPr sz="2000" b="0">
                <a:solidFill>
                  <a:srgbClr val="334155"/>
                </a:solidFill>
                <a:latin typeface="Calibri"/>
              </a:rPr>
              <a:t>Sub-30ms execution for live diagnostic reports.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563EB"/>
                </a:solidFill>
                <a:latin typeface="Calibri"/>
              </a:rPr>
              <a:t>• Queue Dispatch: </a:t>
            </a:r>
            <a:r>
              <a:rPr sz="2000" b="0">
                <a:solidFill>
                  <a:srgbClr val="334155"/>
                </a:solidFill>
                <a:latin typeface="Calibri"/>
              </a:rPr>
              <a:t>Prioritizes maintenance by urgency rank.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Calibri"/>
              </a:defRPr>
            </a:pPr>
            <a:r>
              <a:t>Benchmark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2000" b="1">
                <a:solidFill>
                  <a:srgbClr val="2563EB"/>
                </a:solidFill>
                <a:latin typeface="Calibri"/>
              </a:rPr>
              <a:t>• Binary Warning AUC: </a:t>
            </a:r>
            <a:r>
              <a:rPr sz="2000" b="0">
                <a:solidFill>
                  <a:srgbClr val="334155"/>
                </a:solidFill>
                <a:latin typeface="Calibri"/>
              </a:rPr>
              <a:t>Achieved 98.45% AUC-ROC score on test set.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563EB"/>
                </a:solidFill>
                <a:latin typeface="Calibri"/>
              </a:rPr>
              <a:t>• Binary Alert Precision: </a:t>
            </a:r>
            <a:r>
              <a:rPr sz="2000" b="0">
                <a:solidFill>
                  <a:srgbClr val="334155"/>
                </a:solidFill>
                <a:latin typeface="Calibri"/>
              </a:rPr>
              <a:t>Achieved 94.44% precision on failure alerts.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563EB"/>
                </a:solidFill>
                <a:latin typeface="Calibri"/>
              </a:rPr>
              <a:t>• RUL Regression RMSE: </a:t>
            </a:r>
            <a:r>
              <a:rPr sz="2000" b="0">
                <a:solidFill>
                  <a:srgbClr val="334155"/>
                </a:solidFill>
                <a:latin typeface="Calibri"/>
              </a:rPr>
              <a:t>Achieved 33.39 cycles Root Mean Squared Error.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563EB"/>
                </a:solidFill>
                <a:latin typeface="Calibri"/>
              </a:rPr>
              <a:t>• Neural MLP Accuracy: </a:t>
            </a:r>
            <a:r>
              <a:rPr sz="2000" b="0">
                <a:solidFill>
                  <a:srgbClr val="334155"/>
                </a:solidFill>
                <a:latin typeface="Calibri"/>
              </a:rPr>
              <a:t>Achieved 75.00% exact hazard rating accuracy.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563EB"/>
                </a:solidFill>
                <a:latin typeface="Calibri"/>
              </a:rPr>
              <a:t>• Inference Speed: </a:t>
            </a:r>
            <a:r>
              <a:rPr sz="2000" b="0">
                <a:solidFill>
                  <a:srgbClr val="334155"/>
                </a:solidFill>
                <a:latin typeface="Calibri"/>
              </a:rPr>
              <a:t>Average computation time under 30ms per engine.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Calibri"/>
              </a:defRPr>
            </a:pPr>
            <a:r>
              <a:t>Per-Model Evaluation Table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334155"/>
                </a:solidFill>
                <a:latin typeface="Calibri"/>
              </a:defRPr>
            </a:pPr>
            <a:r>
              <a:t>13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188720"/>
          <a:ext cx="804672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9344"/>
                <a:gridCol w="1609344"/>
                <a:gridCol w="1609344"/>
                <a:gridCol w="1609344"/>
                <a:gridCol w="1609344"/>
              </a:tblGrid>
              <a:tr h="33059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 Paradigm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Algorithm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Primary Metric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Score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Regression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Random Forest Regressor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RMSE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33.39 Cycles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Best RUL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Regression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Polynomial Reg (d=2)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RMSE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36.12 Cycles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Benchmark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Regression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Decision Tree Regressor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RMSE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38.20 Cycles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Regression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Linear / Ridge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RMSE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39.15 Cycles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Linear Baseline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Binary (30d)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Random Forest Classifier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AUC-ROC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98.45%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Best Classifier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Binary (30d)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Naive Bayes (Gaussian)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Recall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88.00%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High Recall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Binary (30d)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Linear SVC (Features)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Precision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89.00%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High Precision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Binary (30d)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Support Vector (RBF)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Precision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100.00%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Zero FP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Multi-Class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Neural Network MLP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75.00%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Best Hazard Net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Multi-Class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Random Forest MC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71.00%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Tree Ensemble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Multi-Class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Decision Tree MC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64.00%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Decision Tree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06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Multi-Class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Naive Bayes MC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58.00%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Bayesian Baseline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669280"/>
            <a:ext cx="8046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334155"/>
                </a:solidFill>
                <a:latin typeface="Calibri"/>
              </a:defRPr>
            </a:pPr>
            <a:r>
              <a:t>Table 1: Per-Class Precision, Recall, F1-Score, and Support Sample Counts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Calibri"/>
              </a:defRPr>
            </a:pPr>
            <a:r>
              <a:t>Key Observations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2000" b="1">
                <a:solidFill>
                  <a:srgbClr val="2563EB"/>
                </a:solidFill>
                <a:latin typeface="Calibri"/>
              </a:rPr>
              <a:t>• Rolling Feature Impact: </a:t>
            </a:r>
            <a:r>
              <a:rPr sz="2000" b="0">
                <a:solidFill>
                  <a:srgbClr val="334155"/>
                </a:solidFill>
                <a:latin typeface="Calibri"/>
              </a:rPr>
              <a:t>5-cycle rolling statistics outperform raw sensors.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563EB"/>
                </a:solidFill>
                <a:latin typeface="Calibri"/>
              </a:rPr>
              <a:t>• Optimal Thresholding: </a:t>
            </a:r>
            <a:r>
              <a:rPr sz="2000" b="0">
                <a:solidFill>
                  <a:srgbClr val="334155"/>
                </a:solidFill>
                <a:latin typeface="Calibri"/>
              </a:rPr>
              <a:t>Threshold tau = 0.17 yields 100% precision.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563EB"/>
                </a:solidFill>
                <a:latin typeface="Calibri"/>
              </a:rPr>
              <a:t>• Cost Matrix Savings: </a:t>
            </a:r>
            <a:r>
              <a:rPr sz="2000" b="0">
                <a:solidFill>
                  <a:srgbClr val="334155"/>
                </a:solidFill>
                <a:latin typeface="Calibri"/>
              </a:rPr>
              <a:t>Prevents $250k failures via $15k planned repairs.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563EB"/>
                </a:solidFill>
                <a:latin typeface="Calibri"/>
              </a:rPr>
              <a:t>• Neural Net Stability: </a:t>
            </a:r>
            <a:r>
              <a:rPr sz="2000" b="0">
                <a:solidFill>
                  <a:srgbClr val="334155"/>
                </a:solidFill>
                <a:latin typeface="Calibri"/>
              </a:rPr>
              <a:t>MLP provides high accuracy on critical windows.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563EB"/>
                </a:solidFill>
                <a:latin typeface="Calibri"/>
              </a:rPr>
              <a:t>• Capacity Dispatch: </a:t>
            </a:r>
            <a:r>
              <a:rPr sz="2000" b="0">
                <a:solidFill>
                  <a:srgbClr val="334155"/>
                </a:solidFill>
                <a:latin typeface="Calibri"/>
              </a:rPr>
              <a:t>Queues engines efficiently by RUL urgency rank.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Calibri"/>
              </a:defRPr>
            </a:pPr>
            <a:r>
              <a:t>Conclusion &amp;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2000" b="1">
                <a:solidFill>
                  <a:srgbClr val="2563EB"/>
                </a:solidFill>
                <a:latin typeface="Calibri"/>
              </a:rPr>
              <a:t>• System Delivery: </a:t>
            </a:r>
            <a:r>
              <a:rPr sz="2000" b="0">
                <a:solidFill>
                  <a:srgbClr val="334155"/>
                </a:solidFill>
                <a:latin typeface="Calibri"/>
              </a:rPr>
              <a:t>Delivered complete predictive health pipeline.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563EB"/>
                </a:solidFill>
                <a:latin typeface="Calibri"/>
              </a:rPr>
              <a:t>• High Performance: </a:t>
            </a:r>
            <a:r>
              <a:rPr sz="2000" b="0">
                <a:solidFill>
                  <a:srgbClr val="334155"/>
                </a:solidFill>
                <a:latin typeface="Calibri"/>
              </a:rPr>
              <a:t>Achieved 98.45% AUC-ROC and 33.39 RMSE.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563EB"/>
                </a:solidFill>
                <a:latin typeface="Calibri"/>
              </a:rPr>
              <a:t>• CLI Integration: </a:t>
            </a:r>
            <a:r>
              <a:rPr sz="2000" b="0">
                <a:solidFill>
                  <a:srgbClr val="334155"/>
                </a:solidFill>
                <a:latin typeface="Calibri"/>
              </a:rPr>
              <a:t>Integrated interactive predict.py diagnostic tool.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563EB"/>
                </a:solidFill>
                <a:latin typeface="Calibri"/>
              </a:rPr>
              <a:t>• Clean Implementation: </a:t>
            </a:r>
            <a:r>
              <a:rPr sz="2000" b="0">
                <a:solidFill>
                  <a:srgbClr val="334155"/>
                </a:solidFill>
                <a:latin typeface="Calibri"/>
              </a:rPr>
              <a:t>Developed 100% Python pipeline and models.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563EB"/>
                </a:solidFill>
                <a:latin typeface="Calibri"/>
              </a:rPr>
              <a:t>• Cost Minimization: </a:t>
            </a:r>
            <a:r>
              <a:rPr sz="2000" b="0">
                <a:solidFill>
                  <a:srgbClr val="334155"/>
                </a:solidFill>
                <a:latin typeface="Calibri"/>
              </a:rPr>
              <a:t>Optimizes maintenance and eliminates flight delays.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Calibri"/>
              </a:defRPr>
            </a:pPr>
            <a:r>
              <a:t>Future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2000" b="1">
                <a:solidFill>
                  <a:srgbClr val="2563EB"/>
                </a:solidFill>
                <a:latin typeface="Calibri"/>
              </a:rPr>
              <a:t>• Deep Time-Series: </a:t>
            </a:r>
            <a:r>
              <a:rPr sz="2000" b="0">
                <a:solidFill>
                  <a:srgbClr val="334155"/>
                </a:solidFill>
                <a:latin typeface="Calibri"/>
              </a:rPr>
              <a:t>Integrate Recurrent LSTM and Transformer models.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563EB"/>
                </a:solidFill>
                <a:latin typeface="Calibri"/>
              </a:rPr>
              <a:t>• Flight Profiles: </a:t>
            </a:r>
            <a:r>
              <a:rPr sz="2000" b="0">
                <a:solidFill>
                  <a:srgbClr val="334155"/>
                </a:solidFill>
                <a:latin typeface="Calibri"/>
              </a:rPr>
              <a:t>Extend to variable altitude and speed profiles.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563EB"/>
                </a:solidFill>
                <a:latin typeface="Calibri"/>
              </a:rPr>
              <a:t>• Edge Deployment: </a:t>
            </a:r>
            <a:r>
              <a:rPr sz="2000" b="0">
                <a:solidFill>
                  <a:srgbClr val="334155"/>
                </a:solidFill>
                <a:latin typeface="Calibri"/>
              </a:rPr>
              <a:t>Export TFLite models for onboard avionics.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563EB"/>
                </a:solidFill>
                <a:latin typeface="Calibri"/>
              </a:rPr>
              <a:t>• Cloud Streaming API: </a:t>
            </a:r>
            <a:r>
              <a:rPr sz="2000" b="0">
                <a:solidFill>
                  <a:srgbClr val="334155"/>
                </a:solidFill>
                <a:latin typeface="Calibri"/>
              </a:rPr>
              <a:t>Deploy REST API endpoints for live IoT streams.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563EB"/>
                </a:solidFill>
                <a:latin typeface="Calibri"/>
              </a:rPr>
              <a:t>• Data Augmentation: </a:t>
            </a:r>
            <a:r>
              <a:rPr sz="2000" b="0">
                <a:solidFill>
                  <a:srgbClr val="334155"/>
                </a:solidFill>
                <a:latin typeface="Calibri"/>
              </a:rPr>
              <a:t>Add synthetic degradation data for rare failures.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Calibri"/>
              </a:defRPr>
            </a:pPr>
            <a:r>
              <a:t>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2000" b="0">
                <a:solidFill>
                  <a:srgbClr val="334155"/>
                </a:solidFill>
                <a:latin typeface="Calibri"/>
              </a:defRPr>
            </a:pPr>
            <a:r>
              <a:rPr sz="2000" b="1">
                <a:solidFill>
                  <a:srgbClr val="2563EB"/>
                </a:solidFill>
                <a:latin typeface="Calibri"/>
              </a:rPr>
              <a:t>• NASA C-MAPSS Dataset: </a:t>
            </a:r>
            <a:r>
              <a:rPr sz="2000" b="0">
                <a:solidFill>
                  <a:srgbClr val="334155"/>
                </a:solidFill>
                <a:latin typeface="Calibri"/>
              </a:rPr>
              <a:t>Ames Prognostics Center of Excellence, 2024.</a:t>
            </a:r>
          </a:p>
          <a:p>
            <a:pPr>
              <a:spcAft>
                <a:spcPts val="600"/>
              </a:spcAft>
              <a:defRPr sz="2000" b="0">
                <a:solidFill>
                  <a:srgbClr val="334155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0">
                <a:solidFill>
                  <a:srgbClr val="334155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0">
                <a:solidFill>
                  <a:srgbClr val="334155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0">
                <a:solidFill>
                  <a:srgbClr val="334155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0">
                <a:solidFill>
                  <a:srgbClr val="334155"/>
                </a:solidFill>
                <a:latin typeface="Calibri"/>
              </a:defRPr>
            </a:pP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563EB"/>
                </a:solidFill>
                <a:latin typeface="Calibri"/>
              </a:rPr>
              <a:t>• Damage Modeling Paper: </a:t>
            </a:r>
            <a:r>
              <a:rPr sz="2000" b="0">
                <a:solidFill>
                  <a:srgbClr val="334155"/>
                </a:solidFill>
                <a:latin typeface="Calibri"/>
              </a:rPr>
              <a:t>Saxena et al., IEEE Prognostics, 2008.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563EB"/>
                </a:solidFill>
                <a:latin typeface="Calibri"/>
              </a:rPr>
              <a:t>• Scikit-Learn Docs: </a:t>
            </a:r>
            <a:r>
              <a:rPr sz="2000" b="0">
                <a:solidFill>
                  <a:srgbClr val="334155"/>
                </a:solidFill>
                <a:latin typeface="Calibri"/>
              </a:rPr>
              <a:t>Machine Learning Library Documentation, 2026.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563EB"/>
                </a:solidFill>
                <a:latin typeface="Calibri"/>
              </a:rPr>
              <a:t>• Keras &amp; TensorFlow: </a:t>
            </a:r>
            <a:r>
              <a:rPr sz="2000" b="0">
                <a:solidFill>
                  <a:srgbClr val="334155"/>
                </a:solidFill>
                <a:latin typeface="Calibri"/>
              </a:rPr>
              <a:t>Official Deep Learning Framework API, 2026.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563EB"/>
                </a:solidFill>
                <a:latin typeface="Calibri"/>
              </a:rPr>
              <a:t>• GitHub Repository: </a:t>
            </a:r>
            <a:r>
              <a:rPr sz="2000" b="0">
                <a:solidFill>
                  <a:srgbClr val="334155"/>
                </a:solidFill>
                <a:latin typeface="Calibri"/>
              </a:rPr>
              <a:t>https://github.com/PiyushTiwari2051/Predictive-Master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371600"/>
            <a:ext cx="8046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0F172A"/>
                </a:solidFill>
                <a:latin typeface="Calibri"/>
              </a:defRPr>
            </a:pPr>
            <a:r>
              <a:t>Thank You!</a:t>
            </a:r>
          </a:p>
          <a:p>
            <a:pPr algn="ctr">
              <a:defRPr sz="2800" b="1">
                <a:solidFill>
                  <a:srgbClr val="0D6EFD"/>
                </a:solidFill>
                <a:latin typeface="Calibri"/>
              </a:defRPr>
            </a:pPr>
            <a:r>
              <a:t>Questions &amp; Discussion</a:t>
            </a:r>
          </a:p>
          <a:p>
            <a:br/>
            <a:pPr algn="ctr">
              <a:defRPr sz="2000" b="0">
                <a:solidFill>
                  <a:srgbClr val="334155"/>
                </a:solidFill>
                <a:latin typeface="Calibri"/>
              </a:defRPr>
            </a:pPr>
            <a:r>
              <a:t>Presented By: Piyush Tiwari</a:t>
            </a:r>
            <a:br/>
            <a:r>
              <a:t>Roll No: 2100270100000 | 7th Sem, CSE-1</a:t>
            </a:r>
            <a:br/>
            <a:r>
              <a:t>IMS Engineering College, Ghaziabad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 Theme">
      <a:majorFont>
        <a:latin typeface="Calibri"/>
        <a:ea typeface="Noto Sans CJK SC Regular"/>
        <a:cs typeface="Noto Sans CJK SC Regular"/>
      </a:majorFont>
      <a:minorFont>
        <a:latin typeface="Calibri"/>
        <a:ea typeface="Noto Sans CJK SC Regular"/>
        <a:cs typeface="Noto Sans CJK SC Regula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44958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panose="02020603050405020304" pitchFamily="18" charset="0"/>
          <a:buNone/>
          <a:defRPr kumimoji="0" lang="en-GB" sz="1800" b="0" i="0" u="none" strike="noStrike" cap="none" normalizeH="0" baseline="0" smtClean="0">
            <a:ln>
              <a:noFill/>
            </a:ln>
            <a:solidFill>
              <a:schemeClr val="bg1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44958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panose="02020603050405020304" pitchFamily="18" charset="0"/>
          <a:buNone/>
          <a:defRPr kumimoji="0" lang="en-GB" sz="1800" b="0" i="0" u="none" strike="noStrike" cap="none" normalizeH="0" baseline="0" smtClean="0">
            <a:ln>
              <a:noFill/>
            </a:ln>
            <a:solidFill>
              <a:schemeClr val="bg1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lnDef>
  </a:objectDefaults>
  <a:extraClrSchemeLst>
    <a:extraClrScheme>
      <a:clrScheme name="Office Them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</TotalTime>
  <Words>407</Words>
  <Application>WPS Presentation</Application>
  <PresentationFormat>On-screen Show (4:3)</PresentationFormat>
  <Paragraphs>64</Paragraphs>
  <Slides>8</Slides>
  <Notes>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9" baseType="lpstr">
      <vt:lpstr>Office Theme</vt:lpstr>
      <vt:lpstr>Slide 1</vt:lpstr>
      <vt:lpstr>Slide 2</vt:lpstr>
      <vt:lpstr>Objectives</vt:lpstr>
      <vt:lpstr>Methodology</vt:lpstr>
      <vt:lpstr>Results &amp; Analysis</vt:lpstr>
      <vt:lpstr>Conclusion &amp; Future Work</vt:lpstr>
      <vt:lpstr>Thank You</vt:lpstr>
      <vt:lpstr>Recommended Font Sizes for Internship PPTs Presentation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Performance Evaluation of Routing Protocol  Under Security Attacks</dc:title>
  <dc:creator>SAINATH</dc:creator>
  <cp:lastModifiedBy>Faculty</cp:lastModifiedBy>
  <cp:revision>368</cp:revision>
  <dcterms:created xsi:type="dcterms:W3CDTF">2012-05-24T06:22:00Z</dcterms:created>
  <dcterms:modified xsi:type="dcterms:W3CDTF">2026-07-14T09:29:41Z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FC636E2E2A264E20A1776DCA2C0207AF_13</vt:lpwstr>
  </property>
  <property fmtid="{D5CDD505-2E9C-101B-9397-08002B2CF9AE}" pid="3" name="KSOProductBuildVer">
    <vt:lpwstr>1033-12.2.0.22222</vt:lpwstr>
  </property>
</Properties>
</file>