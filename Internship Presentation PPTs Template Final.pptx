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73" r:id="rId2"/>
    <p:sldId id="274" r:id="rId8"/>
    <p:sldId id="275" r:id="rId9"/>
    <p:sldId id="276" r:id="rId7"/>
    <p:sldId id="277" r:id="rId6"/>
    <p:sldId id="278" r:id="rId5"/>
    <p:sldId id="279" r:id="rId4"/>
    <p:sldId id="280" r:id="rId3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</p:sldIdLst>
  <p:sldSz cx="9144000" cy="6858000" type="screen4x3"/>
  <p:notesSz cx="6858000" cy="9144000"/>
  <p:defaultTextStyle>
    <a:defPPr>
      <a:defRPr lang="en-GB"/>
    </a:defPPr>
    <a:lvl1pPr marL="0" lvl="0" indent="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742950" lvl="1" indent="-28575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1143000" lvl="2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1600200" lvl="3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2057400" lvl="4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5pPr>
    <a:lvl6pPr marL="2286000" lvl="5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6pPr>
    <a:lvl7pPr marL="2743200" lvl="6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7pPr>
    <a:lvl8pPr marL="3200400" lvl="7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8pPr>
    <a:lvl9pPr marL="3657600" lvl="8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xmlns="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>
        <p:scale>
          <a:sx n="100" d="100"/>
          <a:sy n="100" d="100"/>
        </p:scale>
        <p:origin x="-516" y="498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/>
          <p:cNvSpPr>
            <a:spLocks noChangeArrowheads="1"/>
          </p:cNvSpPr>
          <p:nvPr/>
        </p:nvSpPr>
        <p:spPr bwMode="auto">
          <a:xfrm>
            <a:off x="0" y="0"/>
            <a:ext cx="6858000" cy="9144000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2051" name="Text Box 2"/>
          <p:cNvSpPr txBox="1">
            <a:spLocks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84613" y="0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zh-CN" sz="1200" dirty="0">
              <a:solidFill>
                <a:srgbClr val="000000"/>
              </a:solidFill>
              <a:latin typeface="Calibri" panose="020F0502020204030204" pitchFamily="34" charset="0"/>
              <a:ea typeface="SimSun" panose="02010600030101010101" pitchFamily="2" charset="-122"/>
            </a:endParaRPr>
          </a:p>
        </p:txBody>
      </p:sp>
      <p:sp>
        <p:nvSpPr>
          <p:cNvPr id="5125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0413" cy="3427413"/>
          </a:xfrm>
          <a:prstGeom prst="rect">
            <a:avLst/>
          </a:prstGeom>
          <a:noFill/>
          <a:ln w="12600" cap="sq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85800" y="4343400"/>
            <a:ext cx="5484813" cy="41132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  <p:sp>
        <p:nvSpPr>
          <p:cNvPr id="2055" name="Text Box 6"/>
          <p:cNvSpPr txBox="1">
            <a:spLocks noChangeArrowheads="1"/>
          </p:cNvSpPr>
          <p:nvPr/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84613" y="8685213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b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pPr lvl="0" algn="r" defTabSz="449580" eaLnBrk="1" hangingPunct="1"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alt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1pPr>
    <a:lvl2pPr marL="742950" indent="-28575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 txBox="1">
            <a:spLocks noGrp="1"/>
          </p:cNvSpPr>
          <p:nvPr>
            <p:ph type="sldNum" sz="quarter"/>
          </p:nvPr>
        </p:nvSpPr>
        <p:spPr>
          <a:xfrm>
            <a:off x="3884613" y="8685213"/>
            <a:ext cx="2970212" cy="4556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  <p:sp>
        <p:nvSpPr>
          <p:cNvPr id="6147" name="Rectangle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>
              <a:alpha val="100000"/>
            </a:srgbClr>
          </a:solidFill>
        </p:spPr>
      </p:sp>
      <p:sp>
        <p:nvSpPr>
          <p:cNvPr id="6148" name="Text Box 2"/>
          <p:cNvSpPr txBox="1"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 eaLnBrk="1" hangingPunct="1">
              <a:buFont typeface="Times New Roman" panose="02020603050405020304" pitchFamily="18" charset="0"/>
            </a:pPr>
            <a:endParaRPr lang="en-US" altLang="en-US" dirty="0"/>
          </a:p>
        </p:txBody>
      </p:sp>
      <p:sp>
        <p:nvSpPr>
          <p:cNvPr id="6149" name="Text Box 3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noProof="1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7013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00200"/>
            <a:ext cx="4038600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wrap="square" lIns="90000" tIns="46800" rIns="90000" bIns="4680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5813" cy="5849937"/>
          </a:xfrm>
        </p:spPr>
        <p:txBody>
          <a:bodyPr vert="eaVert"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49937"/>
          </a:xfrm>
        </p:spPr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8013" cy="11414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lvl="0"/>
            <a:r>
              <a:rPr lang="en-GB" altLang="en-US" dirty="0"/>
              <a:t>Click to edit the title text format</a:t>
            </a:r>
          </a:p>
        </p:txBody>
      </p:sp>
      <p:sp>
        <p:nvSpPr>
          <p:cNvPr id="1027" name="Rectangle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013" cy="452437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lvl="0"/>
            <a:r>
              <a:rPr lang="en-GB" altLang="en-US" dirty="0"/>
              <a:t>Click to edit the outline text format</a:t>
            </a:r>
          </a:p>
          <a:p>
            <a:pPr lvl="1"/>
            <a:r>
              <a:rPr lang="en-GB" altLang="en-US" dirty="0"/>
              <a:t>Second Outline Level</a:t>
            </a:r>
          </a:p>
          <a:p>
            <a:pPr lvl="2"/>
            <a:r>
              <a:rPr lang="en-GB" altLang="en-US" dirty="0"/>
              <a:t>Third Outline Level</a:t>
            </a:r>
          </a:p>
          <a:p>
            <a:pPr lvl="3"/>
            <a:r>
              <a:rPr lang="en-GB" altLang="en-US" dirty="0"/>
              <a:t>Fourth Outline Level</a:t>
            </a:r>
          </a:p>
          <a:p>
            <a:pPr lvl="4"/>
            <a:r>
              <a:rPr lang="en-GB" altLang="en-US" dirty="0"/>
              <a:t>Fifth Outline Level</a:t>
            </a:r>
          </a:p>
          <a:p>
            <a:pPr lvl="4"/>
            <a:r>
              <a:rPr lang="en-GB" altLang="en-US" dirty="0"/>
              <a:t>Sixth Outline Level</a:t>
            </a:r>
          </a:p>
          <a:p>
            <a:pPr lvl="4"/>
            <a:r>
              <a:rPr lang="en-GB" altLang="en-US" dirty="0"/>
              <a:t>Seventh Outline Level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457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 defTabSz="449580" eaLnBrk="1" hangingPunct="1"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1029" name="Text Box 4"/>
          <p:cNvSpPr txBox="1">
            <a:spLocks noChangeArrowheads="1"/>
          </p:cNvSpPr>
          <p:nvPr/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/>
  <p:txStyles>
    <p:titleStyle>
      <a:lvl1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2pPr>
      <a:lvl3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3pPr>
      <a:lvl4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4pPr>
      <a:lvl5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5pPr>
      <a:lvl6pPr marL="25146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6pPr>
      <a:lvl7pPr marL="29718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7pPr>
      <a:lvl8pPr marL="34290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8pPr>
      <a:lvl9pPr marL="38862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9pPr>
    </p:titleStyle>
    <p:bodyStyle>
      <a:lvl1pPr marL="342900" indent="-342900" algn="l" defTabSz="449580" rtl="0" eaLnBrk="0" fontAlgn="base" hangingPunct="0">
        <a:spcBef>
          <a:spcPts val="8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580" rtl="0" eaLnBrk="0" fontAlgn="base" hangingPunct="0">
        <a:spcBef>
          <a:spcPts val="7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49580" rtl="0" eaLnBrk="0" fontAlgn="base" hangingPunct="0">
        <a:spcBef>
          <a:spcPts val="6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»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1"/>
          <p:cNvSpPr txBox="1"/>
          <p:nvPr/>
        </p:nvSpPr>
        <p:spPr>
          <a:xfrm>
            <a:off x="228600" y="304800"/>
            <a:ext cx="8610600" cy="10668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   </a:t>
            </a: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Assessment </a:t>
            </a:r>
          </a:p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(Summer Internship</a:t>
            </a: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)</a:t>
            </a:r>
          </a:p>
        </p:txBody>
      </p:sp>
      <p:sp>
        <p:nvSpPr>
          <p:cNvPr id="2051" name="Text Box 2"/>
          <p:cNvSpPr txBox="1"/>
          <p:nvPr/>
        </p:nvSpPr>
        <p:spPr>
          <a:xfrm>
            <a:off x="3505200" y="3429000"/>
            <a:ext cx="5486400" cy="13716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    Submitted By                    Supervised By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Piyush Tiwari        	Name of Supervisor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2100270100000		Designation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7th Sem, CSE-1                     Department: CSE</a:t>
            </a:r>
          </a:p>
        </p:txBody>
      </p:sp>
      <p:sp>
        <p:nvSpPr>
          <p:cNvPr id="2052" name="Text Box 3"/>
          <p:cNvSpPr txBox="1"/>
          <p:nvPr/>
        </p:nvSpPr>
        <p:spPr>
          <a:xfrm>
            <a:off x="228600" y="3429000"/>
            <a:ext cx="34290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Submitted To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	      Mr. Basudeo Singh Roohani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Ms. Swati Singh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(Internship Coordinators)</a:t>
            </a: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3" name="Text Box 4"/>
          <p:cNvSpPr txBox="1"/>
          <p:nvPr/>
        </p:nvSpPr>
        <p:spPr>
          <a:xfrm>
            <a:off x="609600" y="5334000"/>
            <a:ext cx="77724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lnSpc>
                <a:spcPct val="9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Department of Computer Science &amp; Engineering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IMS Engineering College, Ghaziabad, India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400" b="1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2026-27)</a:t>
            </a:r>
            <a:endParaRPr lang="en-US" altLang="en-US" sz="2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4" name="Text Box 6"/>
          <p:cNvSpPr txBox="1"/>
          <p:nvPr/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algn="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IN" altLang="en-US" sz="1200" dirty="0">
                <a:solidFill>
                  <a:srgbClr val="898989"/>
                </a:solidFill>
                <a:latin typeface="Arial" panose="020B0604020202020204" pitchFamily="34" charset="0"/>
              </a:rPr>
              <a:pPr algn="r" defTabSz="44958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IN" altLang="en-US" sz="1200" dirty="0">
              <a:solidFill>
                <a:srgbClr val="898989"/>
              </a:solidFill>
              <a:latin typeface="Arial" panose="020B0604020202020204" pitchFamily="34" charset="0"/>
            </a:endParaRPr>
          </a:p>
        </p:txBody>
      </p:sp>
      <p:pic>
        <p:nvPicPr>
          <p:cNvPr id="205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75" y="152400"/>
            <a:ext cx="1795463" cy="18462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6" name="TextBox 1"/>
          <p:cNvSpPr txBox="1"/>
          <p:nvPr/>
        </p:nvSpPr>
        <p:spPr>
          <a:xfrm>
            <a:off x="3238500" y="1143000"/>
            <a:ext cx="2667000" cy="7381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 eaLnBrk="0" hangingPunct="0"/>
            <a:r>
              <a:rPr lang="en-IN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</a:p>
          <a:p>
            <a:pPr algn="ctr" eaLnBrk="0" hangingPunct="0"/>
            <a:r>
              <a:rPr lang="en-IN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endParaRPr lang="en-IN" altLang="en-US" sz="2400" b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7" name="TextBox 8"/>
          <p:cNvSpPr txBox="1"/>
          <p:nvPr/>
        </p:nvSpPr>
        <p:spPr>
          <a:xfrm>
            <a:off x="2667000" y="2057400"/>
            <a:ext cx="3733800" cy="646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/>
            <a:r>
              <a:rPr lang="en-US" altLang="x-none" b="1" dirty="0">
                <a:solidFill>
                  <a:schemeClr val="tx1"/>
                </a:solidFill>
                <a:latin typeface="Arial" panose="020B0604020202020204" pitchFamily="34" charset="0"/>
              </a:rPr>
              <a:t>On</a:t>
            </a:r>
          </a:p>
          <a:p>
            <a:pPr algn="ctr">
              <a:defRPr sz="2200" b="1">
                <a:solidFill>
                  <a:srgbClr val="FF0000"/>
                </a:solidFill>
                <a:latin typeface="Calibri"/>
              </a:defRPr>
            </a:pPr>
            <a:r>
              <a:rPr sz="2000" b="1">
                <a:latin typeface="Times New Roman"/>
              </a:rPr>
              <a:t>Predictive Maintenance for Jet Engines Using Machine Learning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Outline &amp; 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1. Introduction &amp; Objectives: Industrial domain, PHM technology &amp; project goals.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2. Problem Statement: </a:t>
            </a:r>
            <a:r>
              <a:rPr sz="1800" b="0">
                <a:solidFill>
                  <a:srgbClr val="334155"/>
                </a:solidFill>
                <a:latin typeface="Calibri"/>
              </a:rPr>
              <a:t>Challenges in sign language translation &amp; pixel-level limitations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3. Requirement Analysis: </a:t>
            </a:r>
            <a:r>
              <a:rPr sz="1800" b="0">
                <a:solidFill>
                  <a:srgbClr val="334155"/>
                </a:solidFill>
                <a:latin typeface="Calibri"/>
              </a:rPr>
              <a:t>Hardware setup &amp; software stack (MediaPipe, TensorFlow, OpenCV)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4. System Architecture: </a:t>
            </a:r>
            <a:r>
              <a:rPr sz="1800" b="0">
                <a:solidFill>
                  <a:srgbClr val="334155"/>
                </a:solidFill>
                <a:latin typeface="Calibri"/>
              </a:rPr>
              <a:t>End-to-end data pipeline flow &amp; system module design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5. Keypoint Extraction &amp; Normalization: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Spatial landmark extraction (Hands &amp; Pose)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6. Dataset &amp; Feature Engineering: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Sliding window aggregation (18 statistical features)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7. Sequence LSTM Classifier: </a:t>
            </a:r>
            <a:r>
              <a:rPr sz="1800" b="0">
                <a:solidFill>
                  <a:srgbClr val="334155"/>
                </a:solidFill>
                <a:latin typeface="Calibri"/>
              </a:rPr>
              <a:t>Multi-layer LSTM model architecture &amp; loss optimization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8. Desktop GUI &amp; Audio Translation: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Native Python Tkinter application &amp; Pyttsx3 speech synthesis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9. Results &amp; Performance Analysis: </a:t>
            </a:r>
            <a:r>
              <a:rPr sz="1800" b="0">
                <a:solidFill>
                  <a:srgbClr val="334155"/>
                </a:solidFill>
                <a:latin typeface="Calibri"/>
              </a:rPr>
              <a:t>Accuracy (98.67%), F1-Score (0.99), &amp; per-class precision table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10. Conclusion &amp; References: </a:t>
            </a:r>
            <a:r>
              <a:rPr sz="1800" b="0">
                <a:solidFill>
                  <a:srgbClr val="334155"/>
                </a:solidFill>
                <a:latin typeface="Calibri"/>
              </a:rPr>
              <a:t>Summary of achievements, future scope &amp; academic references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2. Problem Statement &amp; Motivation: Unscheduled aircraft engine failures &amp; delayed maintenance.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3. Requirement Analysis: Hardware &amp; Software technology stack requirements.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4. Dataset &amp; Features: NASA C-MAPSS 21-sensor telemetry dataset &amp; rolling window aggregations.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5. System Methodology &amp; Flowchart: Multi-stage data ingestion, feature extraction &amp; tri-model inference.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6. Tri-Model AI Architecture: RUL Regression, Binary 30d Classifier &amp; Multi-Class Neural MLP.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7. Empirical Results &amp; Evaluation Table: 98.45% AUC-ROC score &amp; per-model benchmark analysis.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8. Real-Time Diagnostic Tool: CLI execution runner (predict.py) &amp; fleet capacity dispatch.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9. Conclusion &amp; Future Scope: Summary of achievements, business cost optimization &amp; future scope.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Introduction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Domain of Work: Industrial AI, Reliability Engineering &amp; Aviation Prognostics.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Social Relevance: </a:t>
            </a:r>
            <a:r>
              <a:rPr sz="1800" b="0">
                <a:solidFill>
                  <a:srgbClr val="334155"/>
                </a:solidFill>
                <a:latin typeface="Calibri"/>
              </a:rPr>
              <a:t>Over 70 million deaf individuals globally rely on sign language for daily communication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Primary Objective: </a:t>
            </a:r>
            <a:r>
              <a:rPr sz="1800" b="0">
                <a:solidFill>
                  <a:srgbClr val="334155"/>
                </a:solidFill>
                <a:latin typeface="Calibri"/>
              </a:rPr>
              <a:t>Develop a real-time, non-invasive translation system converting webcam gestures into text &amp; voice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Key Approach: </a:t>
            </a:r>
            <a:r>
              <a:rPr sz="1800" b="0">
                <a:solidFill>
                  <a:srgbClr val="334155"/>
                </a:solidFill>
                <a:latin typeface="Calibri"/>
              </a:rPr>
              <a:t>Extract compact 3D spatial keypoints per frame and classify keypoint sequences using an LSTM model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Sign-to-Speech Integration: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Integrate Text-to-Speech (TTS) audio output for seamless real-time communication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Industrial Context: Commercial Aircraft Turbofan Jet Engine Fleet Operations.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Core Shift: Transitioning from static time-servicing to AI predictive maintenance.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Primary Objective: Utilize 21 sensor streams to forecast Remaining Useful Life (RUL).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Supervision &amp; Mentorship: Mentored by Alex Chao during Data Science Career Track Bootcamp.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Problem Statement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Unscheduled Groundings: Sudden engine failures cause expensive flight delays and safety risks.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Limitations of Existing CNN Methods: </a:t>
            </a:r>
            <a:r>
              <a:rPr sz="1800" b="0">
                <a:solidFill>
                  <a:srgbClr val="334155"/>
                </a:solidFill>
                <a:latin typeface="Calibri"/>
              </a:rPr>
              <a:t>Direct frame-by-frame CNN classifiers fail on temporal gesture dynamics and suffer from high latency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Signer Position Dependency: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Raw pixel models degrade when signer distance, clothing, or background lighting changes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Our Proposed Solution: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Replace raw pixels with 3D pose/hand keypoint sequences, ensuring position scale invariance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Real-Time Constraint: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 fast sub-50ms inference latency suitable for continuous live webcam translation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Static Maintenance Inefficiency: Replaces functional turbofan parts prematurely or misses breakdown.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High Sensor Fluctuation: 21 continuous telemetry streams exhibit noisy non-linear degradation trends.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Multi-Model Solution: Deploy Regression for RUL, Binary 30d Alerts, and Multi-Class Hazard Rating.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Requirement Analysis (S/W &amp; H/W)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Hardware Requirements: Intel Core i5/i7 Processor, 16GB RAM, SSD Storage Environment.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Programming Language: </a:t>
            </a:r>
            <a:r>
              <a:rPr sz="1800" b="0">
                <a:solidFill>
                  <a:srgbClr val="334155"/>
                </a:solidFill>
                <a:latin typeface="Calibri"/>
              </a:rPr>
              <a:t>Python 3.11 (Core logic, OpenCV capture, &amp; deep learning execution)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Computer Vision Library: </a:t>
            </a:r>
            <a:r>
              <a:rPr sz="1800" b="0">
                <a:solidFill>
                  <a:srgbClr val="334155"/>
                </a:solidFill>
                <a:latin typeface="Calibri"/>
              </a:rPr>
              <a:t>Google MediaPipe 0.10.21 (Fingertip &amp; upper-body pose landmark extraction)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Deep Learning Framework: </a:t>
            </a:r>
            <a:r>
              <a:rPr sz="1800" b="0">
                <a:solidFill>
                  <a:srgbClr val="334155"/>
                </a:solidFill>
                <a:latin typeface="Calibri"/>
              </a:rPr>
              <a:t>TensorFlow 2.17 &amp; Keras 3.3 (Multi-layer LSTM model training &amp; inference)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User Interface &amp; Audio Engine: </a:t>
            </a:r>
            <a:r>
              <a:rPr sz="1800" b="0">
                <a:solidFill>
                  <a:srgbClr val="334155"/>
                </a:solidFill>
                <a:latin typeface="Calibri"/>
              </a:rPr>
              <a:t>Python Native Tkinter GUI framework &amp; Pyttsx3 Text-to-Speech audio engine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Software Stack &amp; Language: Python 3.11+ Core Language, VS Code / Jupyter Notebook IDE.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Machine Learning Frameworks: Scikit-Learn 1.3+ (Random Forest, SVM, MLP Neural Classifier).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Data &amp; Signal Libraries: Pandas, NumPy, SciPy for 5-cycle rolling window aggregations.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Visualization Frameworks: Matplotlib, Seaborn for publication-grade metric charts.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System Methodology &amp; Data 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8046720" cy="4846320"/>
          </a:xfrm>
          <a:prstGeom prst="roundRect">
            <a:avLst/>
          </a:prstGeom>
          <a:solidFill>
            <a:srgbClr val="E0F2FE"/>
          </a:solidFill>
          <a:ln w="31750">
            <a:solidFill>
              <a:srgbClr val="0D6E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STAGE 1: Sensor Telemetry Ingestion (NASA C-MAPSS 21 Sensors &amp; 3 Operational Settings).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Webcam Capture</a:t>
            </a:r>
            <a:br/>
            <a:r>
              <a:t>(640x480 @ 15 FPS)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STAGE 2: Signal Feature Engineering (5-Cycle Rolling Mean av1-av21 &amp; Rolling Std sd1-sd21).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STAGE 3: Multicollinearity Filtering (Removes redundant sensor pairs with r &gt; 0.80).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STAGE 4: Tri-Model AI Engine (Random Forest Regressor, Binary Classifier &amp; MLP Neural Net).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STAGE 5: Real-Time Diagnostic CLI Runner (predict.py &amp; 3-Tier Risk Hazard Dispatch).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88920" y="2057400"/>
            <a:ext cx="457200" cy="274320"/>
          </a:xfrm>
          <a:prstGeom prst="rightArrow">
            <a:avLst/>
          </a:prstGeom>
          <a:solidFill>
            <a:srgbClr val="0D6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1645920"/>
          </a:xfrm>
          <a:prstGeom prst="roundRect">
            <a:avLst/>
          </a:prstGeom>
          <a:solidFill>
            <a:srgbClr val="E0F2FE"/>
          </a:solidFill>
          <a:ln w="317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8B5CF6"/>
                </a:solidFill>
                <a:latin typeface="Calibri"/>
              </a:defRPr>
            </a:pPr>
            <a:r>
              <a:t>STAGE 2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MediaPipe Extraction</a:t>
            </a:r>
            <a:br/>
            <a:r>
              <a:t>(Hands &amp; Pose Joints)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532120" y="2057400"/>
            <a:ext cx="457200" cy="27432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35040" y="1371600"/>
            <a:ext cx="2194560" cy="1645920"/>
          </a:xfrm>
          <a:prstGeom prst="roundRect">
            <a:avLst/>
          </a:prstGeom>
          <a:solidFill>
            <a:srgbClr val="E0F2FE"/>
          </a:solidFill>
          <a:ln w="31750">
            <a:solidFill>
              <a:srgbClr val="0D6E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D6EFD"/>
                </a:solidFill>
                <a:latin typeface="Calibri"/>
              </a:defRPr>
            </a:pPr>
            <a:r>
              <a:t>STAGE 3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Sliding Window</a:t>
            </a:r>
            <a:br/>
            <a:r>
              <a:t>(0.5s Feature Aggregation)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566160"/>
            <a:ext cx="2194560" cy="1645920"/>
          </a:xfrm>
          <a:prstGeom prst="roundRect">
            <a:avLst/>
          </a:prstGeom>
          <a:solidFill>
            <a:srgbClr val="E0F2FE"/>
          </a:solidFill>
          <a:ln w="317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F172A"/>
                </a:solidFill>
                <a:latin typeface="Calibri"/>
              </a:defRPr>
            </a:pPr>
            <a:r>
              <a:t>STAGE 4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Normalization</a:t>
            </a:r>
            <a:br/>
            <a:r>
              <a:t>(StandardScaler Normalizer)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8920" y="4251959"/>
            <a:ext cx="45720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91840" y="3566160"/>
            <a:ext cx="2194560" cy="1645920"/>
          </a:xfrm>
          <a:prstGeom prst="roundRect">
            <a:avLst/>
          </a:prstGeom>
          <a:solidFill>
            <a:srgbClr val="E0F2FE"/>
          </a:solidFill>
          <a:ln w="317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8B5CF6"/>
                </a:solidFill>
                <a:latin typeface="Calibri"/>
              </a:defRPr>
            </a:pPr>
            <a:r>
              <a:t>STAGE 5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LSTM Sequence Net</a:t>
            </a:r>
            <a:br/>
            <a:r>
              <a:t>(5-Window Input Tensor)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532120" y="4251959"/>
            <a:ext cx="457200" cy="27432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3566160"/>
            <a:ext cx="2194560" cy="1645920"/>
          </a:xfrm>
          <a:prstGeom prst="roundRect">
            <a:avLst/>
          </a:prstGeom>
          <a:solidFill>
            <a:srgbClr val="E0F2FE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  <a:latin typeface="Calibri"/>
              </a:defRPr>
            </a:pPr>
            <a:r>
              <a:t>STAGE 6</a:t>
            </a:r>
          </a:p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GUI &amp; Audio Speech</a:t>
            </a:r>
            <a:br/>
            <a:r>
              <a:t>(Hero Box + Pyttsx3 TTS)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57784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34155"/>
                </a:solidFill>
                <a:latin typeface="Calibri"/>
              </a:defRPr>
            </a:pPr>
            <a:r>
              <a:t>Figure 1: End-to-End Real-Time Gesture Recognition Data Flow Pipeline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Sensor Preprocessing &amp; Rolling Statistics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Rolling Window Aggregations: Computes 5-cycle rolling mean (av) and rolling std (sd) per sensor.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Upper-Body Pose Landmarks: </a:t>
            </a:r>
            <a:r>
              <a:rPr sz="1800" b="0">
                <a:solidFill>
                  <a:srgbClr val="334155"/>
                </a:solidFill>
                <a:latin typeface="Calibri"/>
              </a:rPr>
              <a:t>Extracts 6 upper-body joints (shoulders, elbows, wrists) for posture tracking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Statistical Feature Aggregation: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Computes Mean and Standard Deviation per 0.5s sliding window (~7-8 frames)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Scale &amp; Position Invariance: </a:t>
            </a:r>
            <a:r>
              <a:rPr sz="1800" b="0">
                <a:solidFill>
                  <a:srgbClr val="334155"/>
                </a:solidFill>
                <a:latin typeface="Calibri"/>
              </a:rPr>
              <a:t>StandardScaler normalization ensures robustness regardless of signer camera distance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Compact Vector Dimension: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Reduces full video frame data into a compact 18-element feature vector per window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Noise Reduction: Smooths high-frequency sensor fluctuation to expose true degradation physics.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Multicollinearity Filtering: Eliminates highly correlated sensor pairs like (s14, s9) with r &gt; 0.80.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Expanded Feature Space: Generates 45 total input attributes for machine learning model training.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Dataset &amp; Feature Engineering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Data Provider: NASA Ames Prognostics Center of Excellence C-MAPSS Simulation Dataset.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Target Sign Vocabulary: </a:t>
            </a:r>
            <a:r>
              <a:rPr sz="1800" b="0">
                <a:solidFill>
                  <a:srgbClr val="334155"/>
                </a:solidFill>
                <a:latin typeface="Calibri"/>
              </a:rPr>
              <a:t>Afternoon, Age, Boy, Country, Day, Monday, Name, Night, People, Person, Time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Temporal Window Length: </a:t>
            </a:r>
            <a:r>
              <a:rPr sz="1800" b="0">
                <a:solidFill>
                  <a:srgbClr val="334155"/>
                </a:solidFill>
                <a:latin typeface="Calibri"/>
              </a:rPr>
              <a:t>Fixed 0.5-second sliding window duration (target sampling rate: 15 FPS)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Sequence Stacking: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5 consecutive feature windows stacked into an input matrix of shape (1, 5, 18)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Database Storage: </a:t>
            </a:r>
            <a:r>
              <a:rPr sz="1800" b="0">
                <a:solidFill>
                  <a:srgbClr val="334155"/>
                </a:solidFill>
                <a:latin typeface="Calibri"/>
              </a:rPr>
              <a:t>Stored using SQLite schema tracking video metadata, frame landmarks, and feature matrices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Training Fleet Size: 100 turbofan engines run-to-failure containing 20,631 operational cycles.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Testing Fleet Size: 100 engines with ground-truth Remaining Useful Life (TTF) validation labels.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Dataset Quality: Zero missing values, numeric sensor streams, preprocessed clean target series.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Tri-Model Predictive AI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1. RUL Regression Model: Random Forest Regressor predicting exact cycles left before failure.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LSTM Layer 1: </a:t>
            </a:r>
            <a:r>
              <a:rPr sz="1800" b="0">
                <a:solidFill>
                  <a:srgbClr val="334155"/>
                </a:solidFill>
                <a:latin typeface="Calibri"/>
              </a:rPr>
              <a:t>128 Recurrent LSTM Units with Dropout (0.3) &amp; Batch Normalization for regularization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LSTM Layer 2: </a:t>
            </a:r>
            <a:r>
              <a:rPr sz="1800" b="0">
                <a:solidFill>
                  <a:srgbClr val="334155"/>
                </a:solidFill>
                <a:latin typeface="Calibri"/>
              </a:rPr>
              <a:t>64 Recurrent LSTM Units capturing higher-level temporal gesture dynamics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Dense Classification Layer: </a:t>
            </a:r>
            <a:r>
              <a:rPr sz="1800" b="0">
                <a:solidFill>
                  <a:srgbClr val="334155"/>
                </a:solidFill>
                <a:latin typeface="Calibri"/>
              </a:rPr>
              <a:t>64 Dense Neurons with ReLU activation &amp; Dropout (0.3)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Output Softmax Layer: </a:t>
            </a:r>
            <a:r>
              <a:rPr sz="1800" b="0">
                <a:solidFill>
                  <a:srgbClr val="334155"/>
                </a:solidFill>
                <a:latin typeface="Calibri"/>
              </a:rPr>
              <a:t>11 Output Neurons producing Softmax confidence probabilities over sign vocabulary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2. Binary 30-Cycle Warning Classifier: Random Forest Classifier predicting 30d failure window.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3. Multi-Class Neural MLP: Multi-Layer Perceptron (100, 50 hidden neurons) for 3-tier hazard rating.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Multi-Tier Risk Classes: Healthy (&gt;30 cycles), Warning (15-30 cycles), Critical (&lt;=15 cycles).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Interactive Terminal Diagnostic Engine (predict.py)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Command-Line Diagnostic Tool: Built using Python argparse &amp; serialized model pickle files.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Live Video Viewport: </a:t>
            </a:r>
            <a:r>
              <a:rPr sz="1800" b="0">
                <a:solidFill>
                  <a:srgbClr val="334155"/>
                </a:solidFill>
                <a:latin typeface="Calibri"/>
              </a:rPr>
              <a:t>Displays real-time OpenCV camera feed with MediaPipe landmark skeleton overlays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Prediction Hero Display: </a:t>
            </a:r>
            <a:r>
              <a:rPr sz="1800" b="0">
                <a:solidFill>
                  <a:srgbClr val="334155"/>
                </a:solidFill>
                <a:latin typeface="Calibri"/>
              </a:rPr>
              <a:t>Prominently displays top predicted gesture text in a clear, bold hero card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Confidence Progress Meters: </a:t>
            </a:r>
            <a:r>
              <a:rPr sz="1800" b="0">
                <a:solidFill>
                  <a:srgbClr val="334155"/>
                </a:solidFill>
                <a:latin typeface="Calibri"/>
              </a:rPr>
              <a:t>Native ttk.Progressbar widgets detailing real-time top-3 gesture probabilities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Dataset Management Tabs: </a:t>
            </a:r>
            <a:r>
              <a:rPr sz="1800" b="0">
                <a:solidFill>
                  <a:srgbClr val="334155"/>
                </a:solidFill>
                <a:latin typeface="Calibri"/>
              </a:rPr>
              <a:t>Includes dedicated tabs for Recording Videos, Importing Files, and Dataset Video Gallery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Execution Command: python predict.py --engine_id 81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Diagnostic Output Parameters: Estimated Remaining RUL, 30-cycle failure probability, risk rating.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Actionable Maintenance Recommendation: Instructs fleet managers to ground aircraft or schedule service.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Fleet Hazard Gating &amp; Alert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Operational Thresholding: Categorizes engine hazard state into 3 distinct operational buckets.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Confidence Thresholding: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Requires a minimum 45% probability threshold before displaying sign gesture output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Text-to-Speech (TTS) Integration: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Asynchronous Pyttsx3 speech engine speaks recognized gesture words aloud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Audio Toggle Control: </a:t>
            </a:r>
            <a:r>
              <a:rPr sz="1800" b="0">
                <a:solidFill>
                  <a:srgbClr val="334155"/>
                </a:solidFill>
                <a:latin typeface="Calibri"/>
              </a:rPr>
              <a:t>Includes a GUI checkbox enabling/disabling voice output for user preference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Sub-30ms Inference Latency: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Ensures smooth live translation without lag or freezing during continuous signing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Healthy State (Green): RUL &gt; 30 cycles; engine remains in normal operational flight status.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Warning Window (Yellow): 15 &lt; RUL &lt;= 30 cycles; schedule preventive maintenance within 5 cycles.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Critical Action (Red): RUL &lt;= 15 cycles; ground aircraft for immediate engine overhaul within 24h.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Empirical Results &amp; Model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Binary Failure Warning AUC-ROC: Achieved 98.45% (0.9845) AUC-ROC score on test engines.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Overall Test Loss: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low cross-entropy loss of 0.0459 during test set evaluation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Macro Average F1-Score: </a:t>
            </a:r>
            <a:r>
              <a:rPr sz="1800" b="0">
                <a:solidFill>
                  <a:srgbClr val="334155"/>
                </a:solidFill>
                <a:latin typeface="Calibri"/>
              </a:rPr>
              <a:t>Macro F1-Score of 0.99 demonstrating balanced per-class model accuracy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Weighted Average F1-Score: </a:t>
            </a:r>
            <a:r>
              <a:rPr sz="1800" b="0">
                <a:solidFill>
                  <a:srgbClr val="334155"/>
                </a:solidFill>
                <a:latin typeface="Calibri"/>
              </a:rPr>
              <a:t>Weighted F1-Score of 0.99 confirming strong generalizability across all gesture classes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Inference Latency: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Average frame processing time under 30ms, operating smoothly at 15+ FPS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Binary Alert Precision: Achieved 94.44% Precision on positive failure window warnings.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RUL Regression RMSE: Achieved 33.39 cycles Root Mean Squared Error (MAE: 22.90 cycles).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Multi-Class Neural MLP Accuracy: Achieved 75.00% exact multi-class categorization accuracy.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Per-Class Evaluation Methodology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80467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33059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Paradigm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33.39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RUL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Polynomial Reg (d=2)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36.12 Cycles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Benchmark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38.20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/ Ridge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39.15 Cycles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Baseline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98.45%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(Gaussian)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88.00%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Recall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SVC (Features)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89.00%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Support Vector (RBF)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Zero FP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Neural Network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75.00%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Hazard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MC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Tree Ensemble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MC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64.00%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6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MC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58.00%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Bayesian Baseline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6928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34155"/>
                </a:solidFill>
                <a:latin typeface="Calibri"/>
              </a:defRPr>
            </a:pPr>
            <a:r>
              <a:t>Table 1: Per-Class Precision, Recall, F1-Score, and Support Sample Counts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Observations &amp; Result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Feature Engineering Impact: 5-cycle rolling statistics (av, sd) significantly outperform raw sensors.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Minor Gesture Overlap: </a:t>
            </a:r>
            <a:r>
              <a:rPr sz="1800" b="0">
                <a:solidFill>
                  <a:srgbClr val="334155"/>
                </a:solidFill>
                <a:latin typeface="Calibri"/>
              </a:rPr>
              <a:t>Slight overlap observed between 'Country' (0.96 F1) and 'Time' (0.95 F1) due to similar arm positions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Signer Position Independence: </a:t>
            </a:r>
            <a:r>
              <a:rPr sz="1800" b="0">
                <a:solidFill>
                  <a:srgbClr val="334155"/>
                </a:solidFill>
                <a:latin typeface="Calibri"/>
              </a:rPr>
              <a:t>Keypoint spatial normalization successfully eliminated distance &amp; clothing variations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Resting State Stability: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Hand gating prevented false random predictions when signer arms were at rest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Audio Responsiveness: </a:t>
            </a:r>
            <a:r>
              <a:rPr sz="1800" b="0">
                <a:solidFill>
                  <a:srgbClr val="334155"/>
                </a:solidFill>
                <a:latin typeface="Calibri"/>
              </a:rPr>
              <a:t>Text-to-speech audio feedback triggered smoothly within ~0.4s of gesture completion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Optimal Thresholding: Operating Random Forest at tau = 0.17 yields 100% precision &amp; 68% recall.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Cost Matrix Minimization: Prevents $250,000+ catastrophic in-flight failures via planned $15,000 repairs.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Neural Network Stability: Multi-layer Perceptron provides high accuracy on critical hazard windows.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Conclusion &amp;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Successful System Delivery: Built a complete predictive health management pipeline for jet engines.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High Model Performance: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98.67% overall test accuracy utilizing MediaPipe keypoints &amp; LSTM architecture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Sign-to-Speech Integration: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Successfully integrated live text display and Pyttsx3 speech audio output for accessibility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Native Desktop Application: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Developed a 100% native Python Tkinter GUI featuring Live View, Recording, &amp; Gallery tabs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Real-World Practicality: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Provides an effective, low-latency communication tool for deaf &amp; hard-of-hearing assistance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High Predictive Performance: Achieved 98.45% AUC-ROC failure detection and 33.39 cycles RUL RMSE.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CLI Diagnostic Tool: Delivered interactive predict.py tool for real-time fleet health diagnostic reports.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Fleet Cost Minimization: Optimizes maintenance capacity allocation and eliminates flight delays.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Future Scope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Deep Time-Series Architecture: Integrate Recurrent LSTM and Transformer networks for temporal dynamics.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Sentence-Level Translation: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Extend from word-level gestures to full continuous sentence translation using Transformer models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Mobile &amp; Edge Deployment: </a:t>
            </a:r>
            <a:r>
              <a:rPr sz="1800" b="0">
                <a:solidFill>
                  <a:srgbClr val="334155"/>
                </a:solidFill>
                <a:latin typeface="Calibri"/>
              </a:rPr>
              <a:t>Export model to TensorFlow Lite (TFLite) for deployment on mobile devices &amp; Raspberry Pi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Multi-Language Speech Output: </a:t>
            </a:r>
            <a:r>
              <a:rPr sz="1800" b="0">
                <a:solidFill>
                  <a:srgbClr val="334155"/>
                </a:solidFill>
                <a:latin typeface="Calibri"/>
              </a:rPr>
              <a:t>Add multi-language TTS translation options (e.g. Hindi, Spanish, French audio output)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t>• Dataset Mirror Augmentation: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Incorporate mirror data augmentation for left/right hand signer generalizability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Cloud Streaming Integration: Deploy REST API endpoints for real-time IoT stream data ingestion.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Multi-Mode Flight Profiles: Expand fleet training dataset to variable altitude and speed profiles.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Edge Device Deployment: Optimize model execution for lightweight onboard avionics hardware.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References &amp; 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1. NASA Ames Prognostics Center of Excellence - C-MAPSS Jet Engine Degradation Dataset.</a:t>
            </a: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  <a:r>
              <a:t>• 2. Hochreiter, S., &amp; Schmidhuber, J., 'Long Short-Term Memory', Neural Computation, 9(8), 1735-1780, 1997.</a:t>
            </a: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  <a:r>
              <a:t>• 3. Li, D., et al., 'Word-Level Deep Sign Language Recognition', IEEE/CVF Conference on Computer Vision (CVPR), 2020.</a:t>
            </a: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  <a:r>
              <a:t>• 4. Metehan Ozdeniz, 'Sign Language Recognition Dataset &amp; Benchmark', Kaggle Dataset Repository, 2024.</a:t>
            </a: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  <a:r>
              <a:t>• 5. Google Keras 3.3 &amp; TensorFlow 2.17 Official Documentation and API Reference, 2026.</a:t>
            </a: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  <a:r>
              <a:t>• 6. OpenCV Open Source Computer Vision Library Documentation, 2026.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2. Saxena, A., et al., 'Damage Propagation Modeling for Aircraft Engine Simulation', IEEE 2008.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3. Springboard Data Science Career Track Bootcamp Curriculum &amp; Mentorship.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4. Scikit-Learn Open Source Machine Learning &amp; Neural Network Library Documentation.</a:t>
            </a:r>
          </a:p>
          <a:p>
            <a:pPr>
              <a:spcAft>
                <a:spcPts val="1400"/>
              </a:spcAft>
              <a:defRPr sz="2000" b="1">
                <a:solidFill>
                  <a:srgbClr val="334155"/>
                </a:solidFill>
                <a:latin typeface="Calibri"/>
              </a:defRPr>
            </a:pPr>
            <a:r>
              <a:t>• 5. Microsoft Azure Machine Learning Predictive Maintenance Simulation Templates.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Thank You! Questions &amp; Discussion</a:t>
            </a:r>
          </a:p>
          <a:p>
            <a:pPr algn="ctr">
              <a:defRPr sz="2800" b="1">
                <a:solidFill>
                  <a:srgbClr val="0D6EFD"/>
                </a:solidFill>
                <a:latin typeface="Calibri"/>
              </a:defRPr>
            </a:pPr>
            <a:r>
              <a:t>Questions &amp; Discussion</a:t>
            </a:r>
          </a:p>
          <a:p>
            <a:pPr algn="ctr">
              <a:defRPr sz="2000" b="0">
                <a:solidFill>
                  <a:srgbClr val="334155"/>
                </a:solidFill>
                <a:latin typeface="Calibri"/>
              </a:defRPr>
            </a:pPr>
            <a:r>
              <a:t>Presented By: Piyush Tiwari | Roll No: 2100270100000 | 7th Sem, CSE-1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Noto Sans CJK SC Regular"/>
        <a:cs typeface="Noto Sans CJK SC Regular"/>
      </a:majorFont>
      <a:minorFont>
        <a:latin typeface="Calibri"/>
        <a:ea typeface="Noto Sans CJK SC Regular"/>
        <a:cs typeface="Noto Sans CJK SC Regula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407</Words>
  <Application>WPS Presentation</Application>
  <PresentationFormat>On-screen Show (4:3)</PresentationFormat>
  <Paragraphs>64</Paragraphs>
  <Slides>8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Objectives</vt:lpstr>
      <vt:lpstr>Methodology</vt:lpstr>
      <vt:lpstr>Results &amp; Analysis</vt:lpstr>
      <vt:lpstr>Conclusion &amp; Future Work</vt:lpstr>
      <vt:lpstr>Thank You</vt:lpstr>
      <vt:lpstr>Recommended Font Sizes for Internship PPTs Presentation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Evaluation of Routing Protocol  Under Security Attacks</dc:title>
  <dc:creator>SAINATH</dc:creator>
  <cp:lastModifiedBy>Faculty</cp:lastModifiedBy>
  <cp:revision>368</cp:revision>
  <dcterms:created xsi:type="dcterms:W3CDTF">2012-05-24T06:22:00Z</dcterms:created>
  <dcterms:modified xsi:type="dcterms:W3CDTF">2026-07-14T09:29:41Z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FC636E2E2A264E20A1776DCA2C0207AF_13</vt:lpwstr>
  </property>
  <property fmtid="{D5CDD505-2E9C-101B-9397-08002B2CF9AE}" pid="3" name="KSOProductBuildVer">
    <vt:lpwstr>1033-12.2.0.22222</vt:lpwstr>
  </property>
</Properties>
</file>