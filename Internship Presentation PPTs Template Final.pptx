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Executive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[AGENDA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Problem Statement: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High cost of unplanned aircraft engine breakdowns.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[AGENDA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Project Objectives: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Tri-model AI engine for RUL forecasting.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[AGENDA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Technology Stack: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3.11, Scikit-Learn, Pandas, and NumPy.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[AGENDA 4]  </a:t>
            </a:r>
            <a:r>
              <a:rPr sz="1800" b="1">
                <a:solidFill>
                  <a:srgbClr val="2563EB"/>
                </a:solidFill>
                <a:latin typeface="Calibri"/>
              </a:rPr>
              <a:t>System Methodology: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C-MAPSS 21-sensor rolling feature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[AGENDA 5]  </a:t>
            </a:r>
            <a:r>
              <a:rPr sz="1800" b="1">
                <a:solidFill>
                  <a:srgbClr val="2563EB"/>
                </a:solidFill>
                <a:latin typeface="Calibri"/>
              </a:rPr>
              <a:t>Benchmark Results: </a:t>
            </a:r>
            <a:r>
              <a:rPr sz="1800" b="0">
                <a:solidFill>
                  <a:srgbClr val="334155"/>
                </a:solidFill>
                <a:latin typeface="Calibri"/>
              </a:rPr>
              <a:t>98.45% AUC-ROC score and 33.39 RMSE.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[HAZARD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turbofan breakdowns cause severe cancellations.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[HAZARD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High Operational Cost: </a:t>
            </a:r>
            <a:r>
              <a:rPr sz="1800" b="0">
                <a:solidFill>
                  <a:srgbClr val="334155"/>
                </a:solidFill>
                <a:latin typeface="Calibri"/>
              </a:rPr>
              <a:t>Unplanned engine diversions cost $250,000 per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[HAZARD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Static Servicing Flaws: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 schedules replace healthy parts prematurely.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[HAZARD 4]  </a:t>
            </a:r>
            <a:r>
              <a:rPr sz="1800" b="1">
                <a:solidFill>
                  <a:srgbClr val="2563EB"/>
                </a:solidFill>
                <a:latin typeface="Calibri"/>
              </a:rPr>
              <a:t>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sensor streams exhibit noisy degradation.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[HAZARD 5]  </a:t>
            </a:r>
            <a:r>
              <a:rPr sz="1800" b="1">
                <a:solidFill>
                  <a:srgbClr val="2563EB"/>
                </a:solidFill>
                <a:latin typeface="Calibri"/>
              </a:rPr>
              <a:t>Prognostic Solution Need: </a:t>
            </a:r>
            <a:r>
              <a:rPr sz="1800" b="0">
                <a:solidFill>
                  <a:srgbClr val="334155"/>
                </a:solidFill>
                <a:latin typeface="Calibri"/>
              </a:rPr>
              <a:t>Requires real-time AI to forecast remaining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[GOAL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RUL Forecasting: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Predict exact remaining operational cycles before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[GOAL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30-Day Warning Alert: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98.45% AUC-ROC on failure warnings.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[GOAL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3-Tier Hazard Net: </a:t>
            </a:r>
            <a:r>
              <a:rPr sz="1800" b="0">
                <a:solidFill>
                  <a:srgbClr val="334155"/>
                </a:solidFill>
                <a:latin typeface="Calibri"/>
              </a:rPr>
              <a:t>Classify health into Healthy, Warning, Critical.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[GOAL 4]  </a:t>
            </a:r>
            <a:r>
              <a:rPr sz="1800" b="1">
                <a:solidFill>
                  <a:srgbClr val="2563EB"/>
                </a:solidFill>
                <a:latin typeface="Calibri"/>
              </a:rPr>
              <a:t>Real-Time Diagnostics: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Sub-30ms CLI runner for instant diagnostics.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[GOAL 5]  </a:t>
            </a:r>
            <a:r>
              <a:rPr sz="1800" b="1">
                <a:solidFill>
                  <a:srgbClr val="2563EB"/>
                </a:solidFill>
                <a:latin typeface="Calibri"/>
              </a:rPr>
              <a:t>Fleet Cost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 unscheduled engine overhauls and diversions.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Existing vs.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[LEGACY]  </a:t>
            </a:r>
            <a:r>
              <a:rPr sz="1800" b="1">
                <a:solidFill>
                  <a:srgbClr val="2563EB"/>
                </a:solidFill>
                <a:latin typeface="Calibri"/>
              </a:rPr>
              <a:t>Traditional Servicing: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 flight-hour intervals ignore actual wear.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[LEGACY]  </a:t>
            </a:r>
            <a:r>
              <a:rPr sz="1800" b="1">
                <a:solidFill>
                  <a:srgbClr val="2563EB"/>
                </a:solidFill>
                <a:latin typeface="Calibri"/>
              </a:rPr>
              <a:t>Reactive Maintenance: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Triggers repairs only after in-flight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[PROPOSED]  </a:t>
            </a:r>
            <a:r>
              <a:rPr sz="1800" b="1">
                <a:solidFill>
                  <a:srgbClr val="2563EB"/>
                </a:solidFill>
                <a:latin typeface="Calibri"/>
              </a:rPr>
              <a:t>Proposed AI Engine: </a:t>
            </a:r>
            <a:r>
              <a:rPr sz="1800" b="0">
                <a:solidFill>
                  <a:srgbClr val="334155"/>
                </a:solidFill>
                <a:latin typeface="Calibri"/>
              </a:rPr>
              <a:t>Monitors 21 live telemetry streams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[PROPOSED]  </a:t>
            </a:r>
            <a:r>
              <a:rPr sz="1800" b="1">
                <a:solidFill>
                  <a:srgbClr val="2563EB"/>
                </a:solidFill>
                <a:latin typeface="Calibri"/>
              </a:rPr>
              <a:t>Proactive Scheduling: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Schedules minor $15k repairs before breakdown.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[BENEFIT]  </a:t>
            </a:r>
            <a:r>
              <a:rPr sz="1800" b="1">
                <a:solidFill>
                  <a:srgbClr val="2563EB"/>
                </a:solidFill>
                <a:latin typeface="Calibri"/>
              </a:rPr>
              <a:t>Cost Optimization: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$250k emergency diversions and delays.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1]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1 Ingestion: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telemetry dataset.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2]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2 Preprocessing: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mean and std.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3]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3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Removes correlation pairs r &gt; 0.80.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4]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4 AI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Tri-model regression and classifier.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[STEP 5] </a:t>
            </a:r>
            <a:r>
              <a:rPr sz="1600" b="1">
                <a:solidFill>
                  <a:srgbClr val="2563EB"/>
                </a:solidFill>
                <a:latin typeface="Calibri"/>
              </a:rPr>
              <a:t>Stage 5 Actionable Report: </a:t>
            </a:r>
            <a:r>
              <a:rPr sz="1600" b="0">
                <a:solidFill>
                  <a:srgbClr val="334155"/>
                </a:solidFill>
                <a:latin typeface="Calibri"/>
              </a:rPr>
              <a:t>Fleet health score and dispatch.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80467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468880"/>
                <a:gridCol w="164592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Component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Engine logic and predictive algorithms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Machine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v1.3.2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&amp; NumPy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5-cycle rolling aggregations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v2.2.0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Signal Analytics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Signal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Noise reduction and correlation filter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CLI Diagnostic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Argparse &amp; Pickle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Serialized model runner predict.py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 &amp; Seaborn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ROC and Precision-Recall curves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v3.8.0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Dataset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[SOURCE]  </a:t>
            </a:r>
            <a:r>
              <a:rPr sz="1800" b="1">
                <a:solidFill>
                  <a:srgbClr val="2563EB"/>
                </a:solidFill>
                <a:latin typeface="Calibri"/>
              </a:rPr>
              <a:t>Data Provider: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C-MAPSS dataset.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[TRAIN]  </a:t>
            </a:r>
            <a:r>
              <a:rPr sz="1800" b="1">
                <a:solidFill>
                  <a:srgbClr val="2563EB"/>
                </a:solidFill>
                <a:latin typeface="Calibri"/>
              </a:rPr>
              <a:t>Training Fleet: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 to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[TEST]  </a:t>
            </a:r>
            <a:r>
              <a:rPr sz="1800" b="1">
                <a:solidFill>
                  <a:srgbClr val="2563EB"/>
                </a:solidFill>
                <a:latin typeface="Calibri"/>
              </a:rPr>
              <a:t>Testing Fleet: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test engines with ground truth labels.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[TARGET]  </a:t>
            </a:r>
            <a:r>
              <a:rPr sz="1800" b="1">
                <a:solidFill>
                  <a:srgbClr val="2563EB"/>
                </a:solidFill>
                <a:latin typeface="Calibri"/>
              </a:rPr>
              <a:t>Failure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warning and 15-cycle urgent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[QUALITY]  </a:t>
            </a:r>
            <a:r>
              <a:rPr sz="1800" b="1">
                <a:solidFill>
                  <a:srgbClr val="2563EB"/>
                </a:solidFill>
                <a:latin typeface="Calibri"/>
              </a:rPr>
              <a:t>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 and clean numeric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Tri-Model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[MODEL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RUL Regression: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predicting exact remaining cycles.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[MODEL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Binary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flagging 30-day failure warning.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[MODEL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Neural MLP Net: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for 3-tier risk rating.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[CLASSES]  </a:t>
            </a:r>
            <a:r>
              <a:rPr sz="1800" b="1">
                <a:solidFill>
                  <a:srgbClr val="2563EB"/>
                </a:solidFill>
                <a:latin typeface="Calibri"/>
              </a:rPr>
              <a:t>Risk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(&gt;30d), Warning (15-30d), Critical (&lt;=15d).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[OUTPUT]  </a:t>
            </a:r>
            <a:r>
              <a:rPr sz="1800" b="1">
                <a:solidFill>
                  <a:srgbClr val="2563EB"/>
                </a:solidFill>
                <a:latin typeface="Calibri"/>
              </a:rPr>
              <a:t>Softmax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Produces normalized probability distributions.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Terminal Diagnostic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[MODULE]  </a:t>
            </a:r>
            <a:r>
              <a:rPr sz="1800" b="1">
                <a:solidFill>
                  <a:srgbClr val="2563EB"/>
                </a:solidFill>
                <a:latin typeface="Calibri"/>
              </a:rPr>
              <a:t>CLI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argparse and serialized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[RUN]  </a:t>
            </a:r>
            <a:r>
              <a:rPr sz="1800" b="1">
                <a:solidFill>
                  <a:srgbClr val="2563EB"/>
                </a:solidFill>
                <a:latin typeface="Calibri"/>
              </a:rPr>
              <a:t>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[PARAMS]  </a:t>
            </a:r>
            <a:r>
              <a:rPr sz="1800" b="1">
                <a:solidFill>
                  <a:srgbClr val="2563EB"/>
                </a:solidFill>
                <a:latin typeface="Calibri"/>
              </a:rPr>
              <a:t>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RUL, failure probability, and rating.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[STATUS]  </a:t>
            </a:r>
            <a:r>
              <a:rPr sz="1800" b="1">
                <a:solidFill>
                  <a:srgbClr val="2563EB"/>
                </a:solidFill>
                <a:latin typeface="Calibri"/>
              </a:rPr>
              <a:t>Status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GREEN, YELLOW, and RED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[ACTION]  </a:t>
            </a:r>
            <a:r>
              <a:rPr sz="1800" b="1">
                <a:solidFill>
                  <a:srgbClr val="2563EB"/>
                </a:solidFill>
                <a:latin typeface="Calibri"/>
              </a:rPr>
              <a:t>Actionable Guidance: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managers to schedule service or ground.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Fleet Hazard Gating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[GREEN]  </a:t>
            </a:r>
            <a:r>
              <a:rPr sz="1800" b="1">
                <a:solidFill>
                  <a:srgbClr val="2563EB"/>
                </a:solidFill>
                <a:latin typeface="Calibri"/>
              </a:rPr>
              <a:t>Healthy State: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normal flight service.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[YELLOW]  </a:t>
            </a:r>
            <a:r>
              <a:rPr sz="1800" b="1">
                <a:solidFill>
                  <a:srgbClr val="2563EB"/>
                </a:solidFill>
                <a:latin typeface="Calibri"/>
              </a:rPr>
              <a:t>Warning State: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[RED]  </a:t>
            </a:r>
            <a:r>
              <a:rPr sz="1800" b="1">
                <a:solidFill>
                  <a:srgbClr val="2563EB"/>
                </a:solidFill>
                <a:latin typeface="Calibri"/>
              </a:rPr>
              <a:t>Critical Action: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engine within 24h.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[SPEED]  </a:t>
            </a:r>
            <a:r>
              <a:rPr sz="1800" b="1">
                <a:solidFill>
                  <a:srgbClr val="2563EB"/>
                </a:solidFill>
                <a:latin typeface="Calibri"/>
              </a:rPr>
              <a:t>Low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Sub-30ms execution for live diagnostic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[QUEUE]  </a:t>
            </a:r>
            <a:r>
              <a:rPr sz="1800" b="1">
                <a:solidFill>
                  <a:srgbClr val="2563EB"/>
                </a:solidFill>
                <a:latin typeface="Calibri"/>
              </a:rPr>
              <a:t>Queue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Prioritizes maintenance by urgency rank.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[AUC-ROC]  </a:t>
            </a:r>
            <a:r>
              <a:rPr sz="1800" b="1">
                <a:solidFill>
                  <a:srgbClr val="2563EB"/>
                </a:solidFill>
                <a:latin typeface="Calibri"/>
              </a:rPr>
              <a:t>Binary Warning AUC: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score on test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[PRECISION]  </a:t>
            </a:r>
            <a:r>
              <a:rPr sz="1800" b="1">
                <a:solidFill>
                  <a:srgbClr val="2563EB"/>
                </a:solidFill>
                <a:latin typeface="Calibri"/>
              </a:rPr>
              <a:t>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failure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[RMSE]  </a:t>
            </a:r>
            <a:r>
              <a:rPr sz="1800" b="1">
                <a:solidFill>
                  <a:srgbClr val="2563EB"/>
                </a:solidFill>
                <a:latin typeface="Calibri"/>
              </a:rPr>
              <a:t>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[ACCURACY]  </a:t>
            </a:r>
            <a:r>
              <a:rPr sz="1800" b="1">
                <a:solidFill>
                  <a:srgbClr val="2563EB"/>
                </a:solidFill>
                <a:latin typeface="Calibri"/>
              </a:rPr>
              <a:t>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hazard rating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[LATENCY]  </a:t>
            </a:r>
            <a:r>
              <a:rPr sz="1800" b="1">
                <a:solidFill>
                  <a:srgbClr val="2563EB"/>
                </a:solidFill>
                <a:latin typeface="Calibri"/>
              </a:rPr>
              <a:t>Inference Speed: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computation time under 30ms per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Per-Model Evaluation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[INSIGHT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Rolling Feature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outperform raw sensors.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[INSIGHT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Threshold tau = 0.17 yields 100% precision.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[INSIGHT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Cost Matrix Savings: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$250k failures via $15k planned repairs.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[INSIGHT 4]  </a:t>
            </a:r>
            <a:r>
              <a:rPr sz="1800" b="1">
                <a:solidFill>
                  <a:srgbClr val="2563EB"/>
                </a:solidFill>
                <a:latin typeface="Calibri"/>
              </a:rPr>
              <a:t>Neural Net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MLP provides high accuracy on critical windows.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[INSIGHT 5]  </a:t>
            </a:r>
            <a:r>
              <a:rPr sz="1800" b="1">
                <a:solidFill>
                  <a:srgbClr val="2563EB"/>
                </a:solidFill>
                <a:latin typeface="Calibri"/>
              </a:rPr>
              <a:t>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Queues engines efficiently by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[DELIVERY]  </a:t>
            </a:r>
            <a:r>
              <a:rPr sz="1800" b="1">
                <a:solidFill>
                  <a:srgbClr val="2563EB"/>
                </a:solidFill>
                <a:latin typeface="Calibri"/>
              </a:rPr>
              <a:t>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Delivered complete predictive health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[ACCURACY]  </a:t>
            </a:r>
            <a:r>
              <a:rPr sz="1800" b="1">
                <a:solidFill>
                  <a:srgbClr val="2563EB"/>
                </a:solidFill>
                <a:latin typeface="Calibri"/>
              </a:rPr>
              <a:t>High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and 33.39 RMSE.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[CLI TOOL]  </a:t>
            </a:r>
            <a:r>
              <a:rPr sz="1800" b="1">
                <a:solidFill>
                  <a:srgbClr val="2563EB"/>
                </a:solidFill>
                <a:latin typeface="Calibri"/>
              </a:rPr>
              <a:t>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Integrated interactive predict.py diagnostic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[CODE]  </a:t>
            </a:r>
            <a:r>
              <a:rPr sz="1800" b="1">
                <a:solidFill>
                  <a:srgbClr val="2563EB"/>
                </a:solidFill>
                <a:latin typeface="Calibri"/>
              </a:rPr>
              <a:t>Clean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100% Python pipeline and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[BUSINESS]  </a:t>
            </a:r>
            <a:r>
              <a:rPr sz="1800" b="1">
                <a:solidFill>
                  <a:srgbClr val="2563EB"/>
                </a:solidFill>
                <a:latin typeface="Calibri"/>
              </a:rPr>
              <a:t>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[PHASE 1]  </a:t>
            </a:r>
            <a:r>
              <a:rPr sz="1800" b="1">
                <a:solidFill>
                  <a:srgbClr val="2563EB"/>
                </a:solidFill>
                <a:latin typeface="Calibri"/>
              </a:rPr>
              <a:t>Deep Time-Series: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[PHASE 2]  </a:t>
            </a:r>
            <a:r>
              <a:rPr sz="1800" b="1">
                <a:solidFill>
                  <a:srgbClr val="2563EB"/>
                </a:solidFill>
                <a:latin typeface="Calibri"/>
              </a:rPr>
              <a:t>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to variable altitude and speed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[PHASE 3]  </a:t>
            </a:r>
            <a:r>
              <a:rPr sz="1800" b="1">
                <a:solidFill>
                  <a:srgbClr val="2563EB"/>
                </a:solidFill>
                <a:latin typeface="Calibri"/>
              </a:rPr>
              <a:t>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TFLite models for onboard avionics.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[PHASE 4]  </a:t>
            </a:r>
            <a:r>
              <a:rPr sz="1800" b="1">
                <a:solidFill>
                  <a:srgbClr val="2563EB"/>
                </a:solidFill>
                <a:latin typeface="Calibri"/>
              </a:rPr>
              <a:t>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live IoT streams.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[PHASE 5]  </a:t>
            </a:r>
            <a:r>
              <a:rPr sz="1800" b="1">
                <a:solidFill>
                  <a:srgbClr val="2563EB"/>
                </a:solidFill>
                <a:latin typeface="Calibri"/>
              </a:rPr>
              <a:t>Data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Add synthetic degradation data for rare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[DATASET]  </a:t>
            </a:r>
            <a:r>
              <a:rPr sz="1800" b="1">
                <a:solidFill>
                  <a:srgbClr val="2563EB"/>
                </a:solidFill>
                <a:latin typeface="Calibri"/>
              </a:rPr>
              <a:t>NASA C-MAPSS Dataset: </a:t>
            </a:r>
            <a:r>
              <a:rPr sz="1800" b="0">
                <a:solidFill>
                  <a:srgbClr val="334155"/>
                </a:solidFill>
                <a:latin typeface="Calibri"/>
              </a:rPr>
              <a:t>Ames Prognostics Center of Excellence, 2024.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[PAPER]  </a:t>
            </a:r>
            <a:r>
              <a:rPr sz="1800" b="1">
                <a:solidFill>
                  <a:srgbClr val="2563EB"/>
                </a:solidFill>
                <a:latin typeface="Calibri"/>
              </a:rPr>
              <a:t>Damage Modeling Paper: </a:t>
            </a:r>
            <a:r>
              <a:rPr sz="1800" b="0">
                <a:solidFill>
                  <a:srgbClr val="334155"/>
                </a:solidFill>
                <a:latin typeface="Calibri"/>
              </a:rPr>
              <a:t>Saxena et al., IEEE Prognostics, 2008.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[LIBRARY]  </a:t>
            </a:r>
            <a:r>
              <a:rPr sz="1800" b="1">
                <a:solidFill>
                  <a:srgbClr val="2563EB"/>
                </a:solidFill>
                <a:latin typeface="Calibri"/>
              </a:rPr>
              <a:t>Scikit-Learn Docs: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Machine Learning Library Documentation,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[FRAMEWORK]  </a:t>
            </a:r>
            <a:r>
              <a:rPr sz="1800" b="1">
                <a:solidFill>
                  <a:srgbClr val="2563EB"/>
                </a:solidFill>
                <a:latin typeface="Calibri"/>
              </a:rPr>
              <a:t>Keras &amp; TensorFlow: </a:t>
            </a:r>
            <a:r>
              <a:rPr sz="1800" b="0">
                <a:solidFill>
                  <a:srgbClr val="334155"/>
                </a:solidFill>
                <a:latin typeface="Calibri"/>
              </a:rPr>
              <a:t>Official Deep Learning Framework API,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600" b="1">
                <a:solidFill>
                  <a:srgbClr val="38BDF8"/>
                </a:solidFill>
                <a:latin typeface="Calibri"/>
              </a:rPr>
              <a:t>[CODE]  </a:t>
            </a:r>
            <a:r>
              <a:rPr sz="1800" b="1">
                <a:solidFill>
                  <a:srgbClr val="2563EB"/>
                </a:solidFill>
                <a:latin typeface="Calibri"/>
              </a:rPr>
              <a:t>GitHub Repository: </a:t>
            </a:r>
            <a:r>
              <a:rPr sz="1800" b="0">
                <a:solidFill>
                  <a:srgbClr val="334155"/>
                </a:solidFill>
                <a:latin typeface="Calibri"/>
              </a:rPr>
              <a:t>https://github.com/PiyushTiwari2051/Predictive-Master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br/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</a:t>
            </a:r>
            <a:br/>
            <a:r>
              <a:t>Roll No: 2100270100000 | 7th Sem, CSE-1</a:t>
            </a:r>
            <a:br/>
            <a:r>
              <a:t>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